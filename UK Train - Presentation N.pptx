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9"/>
  </p:notesMasterIdLst>
  <p:sldIdLst>
    <p:sldId id="256" r:id="rId2"/>
    <p:sldId id="281" r:id="rId3"/>
    <p:sldId id="282" r:id="rId4"/>
    <p:sldId id="284" r:id="rId5"/>
    <p:sldId id="377" r:id="rId6"/>
    <p:sldId id="328" r:id="rId7"/>
    <p:sldId id="329" r:id="rId8"/>
    <p:sldId id="330" r:id="rId9"/>
    <p:sldId id="331" r:id="rId10"/>
    <p:sldId id="332" r:id="rId11"/>
    <p:sldId id="333" r:id="rId12"/>
    <p:sldId id="334" r:id="rId13"/>
    <p:sldId id="257" r:id="rId14"/>
    <p:sldId id="287" r:id="rId15"/>
    <p:sldId id="280" r:id="rId16"/>
    <p:sldId id="264" r:id="rId17"/>
    <p:sldId id="307" r:id="rId18"/>
    <p:sldId id="378" r:id="rId19"/>
    <p:sldId id="265" r:id="rId20"/>
    <p:sldId id="289" r:id="rId21"/>
    <p:sldId id="290" r:id="rId22"/>
    <p:sldId id="291" r:id="rId23"/>
    <p:sldId id="292" r:id="rId24"/>
    <p:sldId id="293" r:id="rId25"/>
    <p:sldId id="267" r:id="rId26"/>
    <p:sldId id="269" r:id="rId27"/>
    <p:sldId id="270" r:id="rId28"/>
    <p:sldId id="271" r:id="rId29"/>
    <p:sldId id="272" r:id="rId30"/>
    <p:sldId id="275" r:id="rId31"/>
    <p:sldId id="277" r:id="rId32"/>
    <p:sldId id="279" r:id="rId33"/>
    <p:sldId id="305" r:id="rId34"/>
    <p:sldId id="296" r:id="rId35"/>
    <p:sldId id="298" r:id="rId36"/>
    <p:sldId id="299" r:id="rId37"/>
    <p:sldId id="301" r:id="rId38"/>
    <p:sldId id="309" r:id="rId39"/>
    <p:sldId id="312" r:id="rId40"/>
    <p:sldId id="314" r:id="rId41"/>
    <p:sldId id="318" r:id="rId42"/>
    <p:sldId id="326" r:id="rId43"/>
    <p:sldId id="316" r:id="rId44"/>
    <p:sldId id="317" r:id="rId45"/>
    <p:sldId id="335" r:id="rId46"/>
    <p:sldId id="320" r:id="rId47"/>
    <p:sldId id="337" r:id="rId48"/>
    <p:sldId id="338" r:id="rId49"/>
    <p:sldId id="339" r:id="rId50"/>
    <p:sldId id="340" r:id="rId51"/>
    <p:sldId id="341" r:id="rId52"/>
    <p:sldId id="342" r:id="rId53"/>
    <p:sldId id="343" r:id="rId54"/>
    <p:sldId id="321" r:id="rId55"/>
    <p:sldId id="304" r:id="rId56"/>
    <p:sldId id="324" r:id="rId57"/>
    <p:sldId id="325" r:id="rId58"/>
    <p:sldId id="336" r:id="rId59"/>
    <p:sldId id="351" r:id="rId60"/>
    <p:sldId id="352" r:id="rId61"/>
    <p:sldId id="353" r:id="rId62"/>
    <p:sldId id="354" r:id="rId63"/>
    <p:sldId id="355" r:id="rId64"/>
    <p:sldId id="356" r:id="rId65"/>
    <p:sldId id="344" r:id="rId66"/>
    <p:sldId id="345" r:id="rId67"/>
    <p:sldId id="346" r:id="rId68"/>
    <p:sldId id="347" r:id="rId69"/>
    <p:sldId id="348" r:id="rId70"/>
    <p:sldId id="349" r:id="rId71"/>
    <p:sldId id="350" r:id="rId72"/>
    <p:sldId id="357" r:id="rId73"/>
    <p:sldId id="365" r:id="rId74"/>
    <p:sldId id="367" r:id="rId75"/>
    <p:sldId id="368" r:id="rId76"/>
    <p:sldId id="369" r:id="rId77"/>
    <p:sldId id="370" r:id="rId78"/>
    <p:sldId id="371" r:id="rId79"/>
    <p:sldId id="372" r:id="rId80"/>
    <p:sldId id="373" r:id="rId81"/>
    <p:sldId id="374" r:id="rId82"/>
    <p:sldId id="375" r:id="rId83"/>
    <p:sldId id="359" r:id="rId84"/>
    <p:sldId id="360" r:id="rId85"/>
    <p:sldId id="379" r:id="rId86"/>
    <p:sldId id="380" r:id="rId87"/>
    <p:sldId id="376" r:id="rId88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90"/>
      <p:bold r:id="rId91"/>
      <p:italic r:id="rId92"/>
      <p:boldItalic r:id="rId93"/>
    </p:embeddedFont>
    <p:embeddedFont>
      <p:font typeface="Stencil" panose="040409050D0802020404" pitchFamily="82" charset="0"/>
      <p:regular r:id="rId94"/>
    </p:embeddedFont>
    <p:embeddedFont>
      <p:font typeface="Walbaum Display Heavy" panose="02070A03090703020303" pitchFamily="18" charset="0"/>
      <p:bold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D1"/>
    <a:srgbClr val="AC0000"/>
    <a:srgbClr val="6C0000"/>
    <a:srgbClr val="8A0000"/>
    <a:srgbClr val="FF4F4F"/>
    <a:srgbClr val="FF2525"/>
    <a:srgbClr val="CC0000"/>
    <a:srgbClr val="8FAEFF"/>
    <a:srgbClr val="3877F2"/>
    <a:srgbClr val="FF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7E9B69-8773-44D3-A545-A3965FEA232A}">
  <a:tblStyle styleId="{8C7E9B69-8773-44D3-A545-A3965FEA23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C2A19AA-2D7C-4014-96F2-3DECDB951E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2" d="100"/>
          <a:sy n="132" d="100"/>
        </p:scale>
        <p:origin x="408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1.fntdata"/><Relationship Id="rId95" Type="http://schemas.openxmlformats.org/officeDocument/2006/relationships/font" Target="fonts/font6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2.fntdata"/><Relationship Id="rId9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5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4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a572e67a6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a572e67a6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572e67a6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a572e67a6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a572e67a6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a572e67a6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572e67a6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572e67a6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b67899b3b_0_1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b67899b3b_0_1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b67899b3b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4b67899b3b_0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b67899b3b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b67899b3b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b9cebeff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b9cebeff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4b9cebeff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4b9cebeff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b9cebeff4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b9cebeff4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b9cebeff4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4b9cebeff4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✅ Why It Matters: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Duplicate rows can distort analysis and lead to incorrect conclusions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Ensures the dataset accurately reflects unique trips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Helps identify and address data quality issues early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AB2D352-F49A-C21A-4F6F-28574D45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d277a2357_0_15:notes">
            <a:extLst>
              <a:ext uri="{FF2B5EF4-FFF2-40B4-BE49-F238E27FC236}">
                <a16:creationId xmlns:a16="http://schemas.microsoft.com/office/drawing/2014/main" id="{A3B43D90-87B0-27D2-952A-5DF244E31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d277a2357_0_15:notes">
            <a:extLst>
              <a:ext uri="{FF2B5EF4-FFF2-40B4-BE49-F238E27FC236}">
                <a16:creationId xmlns:a16="http://schemas.microsoft.com/office/drawing/2014/main" id="{DA761D0E-6547-649A-27B3-C267341AB4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054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d277a2357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4d277a2357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✅ Why It Matters: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Ensures Data Integrity</a:t>
            </a:r>
            <a:r>
              <a:rPr lang="en-US" sz="1100" dirty="0">
                <a:solidFill>
                  <a:schemeClr val="dk1"/>
                </a:solidFill>
              </a:rPr>
              <a:t>: Removing duplicates ensures that each trip is represented by a single, unique record, preventing repetition and errors in further analysis.</a:t>
            </a:r>
            <a:br>
              <a:rPr lang="en-US" sz="1100" dirty="0">
                <a:solidFill>
                  <a:schemeClr val="dk1"/>
                </a:solidFill>
              </a:rPr>
            </a:br>
            <a:endParaRPr lang="en-US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Accurate Analysis</a:t>
            </a:r>
            <a:r>
              <a:rPr lang="en-US" sz="1100" dirty="0">
                <a:solidFill>
                  <a:schemeClr val="dk1"/>
                </a:solidFill>
              </a:rPr>
              <a:t>: Duplicates can lead to incorrect conclusions by counting the same trip multiple times, which would distort averages, trends, or predictions.</a:t>
            </a:r>
            <a:br>
              <a:rPr lang="en-US" sz="1100" dirty="0">
                <a:solidFill>
                  <a:schemeClr val="dk1"/>
                </a:solidFill>
              </a:rPr>
            </a:br>
            <a:endParaRPr lang="en-US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Prepares for Further Processing</a:t>
            </a:r>
            <a:r>
              <a:rPr lang="en-US" sz="1100" dirty="0">
                <a:solidFill>
                  <a:schemeClr val="dk1"/>
                </a:solidFill>
              </a:rPr>
              <a:t>: By eliminating redundant data, this step helps ensure that no unnecessary rows interfere with subsequent processes, like normalization or modeling.</a:t>
            </a:r>
            <a:br>
              <a:rPr lang="en-US" sz="1100" dirty="0">
                <a:solidFill>
                  <a:schemeClr val="dk1"/>
                </a:solidFill>
              </a:rPr>
            </a:br>
            <a:endParaRPr lang="en-US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Optimizes Performance</a:t>
            </a:r>
            <a:r>
              <a:rPr lang="en-US" sz="1100" dirty="0">
                <a:solidFill>
                  <a:schemeClr val="dk1"/>
                </a:solidFill>
              </a:rPr>
              <a:t>: Fewer records lead to faster processing and analysis, which is crucial as the dataset grows larger.</a:t>
            </a: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4d277a2357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4d277a2357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4d277a2357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4d277a2357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d277a2357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d277a2357_0_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>
          <a:extLst>
            <a:ext uri="{FF2B5EF4-FFF2-40B4-BE49-F238E27FC236}">
              <a16:creationId xmlns:a16="http://schemas.microsoft.com/office/drawing/2014/main" id="{29C3E021-1B02-DCDA-A8F0-8413401B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d277a2357_0_823:notes">
            <a:extLst>
              <a:ext uri="{FF2B5EF4-FFF2-40B4-BE49-F238E27FC236}">
                <a16:creationId xmlns:a16="http://schemas.microsoft.com/office/drawing/2014/main" id="{665B9E9E-0EB7-0933-F30C-922AA1729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d277a2357_0_823:notes">
            <a:extLst>
              <a:ext uri="{FF2B5EF4-FFF2-40B4-BE49-F238E27FC236}">
                <a16:creationId xmlns:a16="http://schemas.microsoft.com/office/drawing/2014/main" id="{34B74901-0437-BED9-7A41-B42489B13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016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4d277a2357_0_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4d277a2357_0_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d277a2357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d277a2357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4d277a2357_0_1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4d277a2357_0_1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>
          <a:extLst>
            <a:ext uri="{FF2B5EF4-FFF2-40B4-BE49-F238E27FC236}">
              <a16:creationId xmlns:a16="http://schemas.microsoft.com/office/drawing/2014/main" id="{245205A4-13C7-5CD5-8488-BFB0B83A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4d277a2357_0_973:notes">
            <a:extLst>
              <a:ext uri="{FF2B5EF4-FFF2-40B4-BE49-F238E27FC236}">
                <a16:creationId xmlns:a16="http://schemas.microsoft.com/office/drawing/2014/main" id="{C2930AA3-9C15-57D0-9B9A-19AFD418E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4d277a2357_0_973:notes">
            <a:extLst>
              <a:ext uri="{FF2B5EF4-FFF2-40B4-BE49-F238E27FC236}">
                <a16:creationId xmlns:a16="http://schemas.microsoft.com/office/drawing/2014/main" id="{50819CFC-0A2D-6AE3-0CFE-425D19243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780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4d277a2357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4d277a2357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4d277a2357_0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4d277a2357_0_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</a:rPr>
              <a:t>✅ Why It Matters: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Quantifying Discount Impact</a:t>
            </a:r>
            <a:r>
              <a:rPr lang="en-US" sz="1100" dirty="0">
                <a:solidFill>
                  <a:schemeClr val="dk1"/>
                </a:solidFill>
              </a:rPr>
              <a:t>: Allows us to see how much revenue is lost due to discounts, making the </a:t>
            </a:r>
            <a:r>
              <a:rPr lang="en-US" sz="1100" b="1" dirty="0">
                <a:solidFill>
                  <a:schemeClr val="dk1"/>
                </a:solidFill>
              </a:rPr>
              <a:t>savings explicit</a:t>
            </a:r>
            <a:r>
              <a:rPr lang="en-US" sz="1100" dirty="0">
                <a:solidFill>
                  <a:schemeClr val="dk1"/>
                </a:solidFill>
              </a:rPr>
              <a:t>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Financial Analysis</a:t>
            </a:r>
            <a:r>
              <a:rPr lang="en-US" sz="1100" dirty="0">
                <a:solidFill>
                  <a:schemeClr val="dk1"/>
                </a:solidFill>
              </a:rPr>
              <a:t>: Helps in measuring the </a:t>
            </a:r>
            <a:r>
              <a:rPr lang="en-US" sz="1100" b="1" dirty="0">
                <a:solidFill>
                  <a:schemeClr val="dk1"/>
                </a:solidFill>
              </a:rPr>
              <a:t>financial impact</a:t>
            </a:r>
            <a:r>
              <a:rPr lang="en-US" sz="1100" dirty="0">
                <a:solidFill>
                  <a:schemeClr val="dk1"/>
                </a:solidFill>
              </a:rPr>
              <a:t> of discounts across different ticket types and </a:t>
            </a:r>
            <a:r>
              <a:rPr lang="en-US" sz="1100" dirty="0" err="1">
                <a:solidFill>
                  <a:schemeClr val="dk1"/>
                </a:solidFill>
              </a:rPr>
              <a:t>railcards</a:t>
            </a:r>
            <a:r>
              <a:rPr lang="en-US" sz="1100" dirty="0">
                <a:solidFill>
                  <a:schemeClr val="dk1"/>
                </a:solidFill>
              </a:rPr>
              <a:t>, enabling better revenue forecasting.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b="1" dirty="0">
                <a:solidFill>
                  <a:schemeClr val="dk1"/>
                </a:solidFill>
              </a:rPr>
              <a:t>Detailed Insights</a:t>
            </a:r>
            <a:r>
              <a:rPr lang="en-US" sz="1100" dirty="0">
                <a:solidFill>
                  <a:schemeClr val="dk1"/>
                </a:solidFill>
              </a:rPr>
              <a:t>: Enables an in-depth understanding of how different discount types affect the overall revenue.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40DCA6CA-694C-68B3-B04F-F4870C3B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790DED87-9C5B-FA95-7FCF-01AD8AD10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32F25396-47AF-7A4E-70E9-65E50DA6A2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29094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FB73698B-9B9E-3E87-951C-6925A7BC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AF0A71E2-97D0-2C57-9FFA-28199CC17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83017A4F-533D-9E36-B168-3BD7FAD3B8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08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D5DDF1CA-CCC9-E90E-030F-6DA5CF6D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318AE725-D25F-BE94-595E-56B397E8D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F603B243-1AEE-876A-7846-4415F9BF2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1621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006BCA19-FEB2-EE62-D292-2569C48E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079C3730-03D7-C0AF-9CCA-2DDB8101D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57FA523E-1CDC-9C11-6307-2C34F7A57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0276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37310EA7-D87C-D6F7-F877-ED71D68F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EE00EFCD-1DA6-EEF9-FC11-36FCE9A14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4EA23C09-9011-E0E3-D41B-24A1A3C58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12213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4723B43F-672A-D132-0680-7908A424D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69CFB3C8-304A-94B4-78DE-3C9E9A7E2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86BE7D4C-1F73-1381-83CF-1A05FBE1D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4007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3DFEE80B-BFA2-8BBE-74FE-F6EBCC7BF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d277a2357_0_1096:notes">
            <a:extLst>
              <a:ext uri="{FF2B5EF4-FFF2-40B4-BE49-F238E27FC236}">
                <a16:creationId xmlns:a16="http://schemas.microsoft.com/office/drawing/2014/main" id="{2672A7C6-0895-78C6-4FB5-A515FD69C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d277a2357_0_1096:notes">
            <a:extLst>
              <a:ext uri="{FF2B5EF4-FFF2-40B4-BE49-F238E27FC236}">
                <a16:creationId xmlns:a16="http://schemas.microsoft.com/office/drawing/2014/main" id="{CBDD3954-A7AE-D386-C507-808751D80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00018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4d277a2357_0_1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4d277a2357_0_1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4d277a2357_0_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4d277a2357_0_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4d277a2357_0_1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4d277a2357_0_1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4d277a2357_0_1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4d277a2357_0_1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4d277a2357_0_1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4d277a2357_0_1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6F21-71A5-5565-AE95-DC9CF27F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431E8-7453-1983-9FB5-C9FBAA571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5F57A-D01F-BC92-108E-E4F6BBBD9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403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2481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6D114-1B24-650A-6101-09148398F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16AD76-EA9C-AD31-B6F3-4DA58DC54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C09BB-A017-FC8B-F662-4B29A74F9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8908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5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2.png"/><Relationship Id="rId5" Type="http://schemas.openxmlformats.org/officeDocument/2006/relationships/image" Target="../media/image27.svg"/><Relationship Id="rId10" Type="http://schemas.openxmlformats.org/officeDocument/2006/relationships/image" Target="../media/image1.png"/><Relationship Id="rId4" Type="http://schemas.openxmlformats.org/officeDocument/2006/relationships/image" Target="../media/image26.png"/><Relationship Id="rId9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14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2.jpeg"/><Relationship Id="rId4" Type="http://schemas.openxmlformats.org/officeDocument/2006/relationships/image" Target="../media/image12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2.png"/><Relationship Id="rId10" Type="http://schemas.openxmlformats.org/officeDocument/2006/relationships/image" Target="../media/image74.png"/><Relationship Id="rId4" Type="http://schemas.openxmlformats.org/officeDocument/2006/relationships/image" Target="../media/image71.png"/><Relationship Id="rId9" Type="http://schemas.openxmlformats.org/officeDocument/2006/relationships/image" Target="../media/image7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hyperlink" Target="https://public.tableau.com/views/trials-2/Dashboard1?:language=en-US&amp;publish=yes&amp;:sid=&amp;:redirect=auth&amp;:display_count=n&amp;:origin=viz_share_link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8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8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228600" y="830550"/>
            <a:ext cx="36120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📊 Railway Data Analytics Project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1363950"/>
            <a:ext cx="41223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Uncovering Insights from Train Operations &amp; Tickets Data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05650" y="2160950"/>
            <a:ext cx="37110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Presented by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0000"/>
                </a:solidFill>
              </a:rPr>
              <a:t>Abdelrahman Hassan &amp; Ahmed ElMaasrawi</a:t>
            </a:r>
            <a:endParaRPr sz="1900" dirty="0">
              <a:solidFill>
                <a:srgbClr val="FF0000"/>
              </a:solidFill>
            </a:endParaRPr>
          </a:p>
        </p:txBody>
      </p:sp>
      <p:pic>
        <p:nvPicPr>
          <p:cNvPr id="58" name="Google Shape;58;p13" title="pro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76200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 title="MC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98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78013" y="3041650"/>
            <a:ext cx="3883200" cy="7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Data Analysis Project </a:t>
            </a:r>
            <a:endParaRPr sz="1100" b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Under the supervision of </a:t>
            </a:r>
            <a:endParaRPr sz="1100" b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0000"/>
                </a:solidFill>
              </a:rPr>
              <a:t>Eng. Ahmed Samir</a:t>
            </a:r>
            <a:endParaRPr sz="11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train with red text on the side">
            <a:extLst>
              <a:ext uri="{FF2B5EF4-FFF2-40B4-BE49-F238E27FC236}">
                <a16:creationId xmlns:a16="http://schemas.microsoft.com/office/drawing/2014/main" id="{6D9B4A6B-2736-DF55-9696-50DD755C4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775" y="982950"/>
            <a:ext cx="5134424" cy="3422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rain at a station&#10;&#10;AI-generated content may be incorrect.">
            <a:extLst>
              <a:ext uri="{FF2B5EF4-FFF2-40B4-BE49-F238E27FC236}">
                <a16:creationId xmlns:a16="http://schemas.microsoft.com/office/drawing/2014/main" id="{12407A7C-ADAA-22F1-F98F-D8A9A1063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2060" y="-1085561"/>
            <a:ext cx="10850880" cy="610362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AA91D8D-D3B7-1883-2552-8B7D7AB63826}"/>
              </a:ext>
            </a:extLst>
          </p:cNvPr>
          <p:cNvSpPr/>
          <p:nvPr/>
        </p:nvSpPr>
        <p:spPr>
          <a:xfrm>
            <a:off x="0" y="-1085561"/>
            <a:ext cx="9144000" cy="6857421"/>
          </a:xfrm>
          <a:custGeom>
            <a:avLst/>
            <a:gdLst/>
            <a:ahLst/>
            <a:cxnLst/>
            <a:rect l="l" t="t" r="r" b="b"/>
            <a:pathLst>
              <a:path w="9144000" h="6857421">
                <a:moveTo>
                  <a:pt x="3427949" y="5398579"/>
                </a:moveTo>
                <a:cubicBezTo>
                  <a:pt x="3436880" y="5482419"/>
                  <a:pt x="3451762" y="5576181"/>
                  <a:pt x="3472598" y="5679865"/>
                </a:cubicBezTo>
                <a:lnTo>
                  <a:pt x="3377348" y="5679865"/>
                </a:lnTo>
                <a:cubicBezTo>
                  <a:pt x="3399672" y="5585111"/>
                  <a:pt x="3416539" y="5491349"/>
                  <a:pt x="3427949" y="5398579"/>
                </a:cubicBezTo>
                <a:close/>
                <a:moveTo>
                  <a:pt x="1494375" y="5398579"/>
                </a:moveTo>
                <a:cubicBezTo>
                  <a:pt x="1503304" y="5482419"/>
                  <a:pt x="1518187" y="5576181"/>
                  <a:pt x="1539023" y="5679865"/>
                </a:cubicBezTo>
                <a:lnTo>
                  <a:pt x="1443773" y="5679865"/>
                </a:lnTo>
                <a:cubicBezTo>
                  <a:pt x="1466097" y="5585111"/>
                  <a:pt x="1482965" y="5491349"/>
                  <a:pt x="1494375" y="5398579"/>
                </a:cubicBezTo>
                <a:close/>
                <a:moveTo>
                  <a:pt x="6533248" y="4918609"/>
                </a:moveTo>
                <a:lnTo>
                  <a:pt x="6533248" y="5205847"/>
                </a:lnTo>
                <a:lnTo>
                  <a:pt x="6649334" y="5205847"/>
                </a:lnTo>
                <a:lnTo>
                  <a:pt x="6649334" y="5739396"/>
                </a:lnTo>
                <a:lnTo>
                  <a:pt x="6533248" y="5739396"/>
                </a:lnTo>
                <a:lnTo>
                  <a:pt x="6533248" y="6026634"/>
                </a:lnTo>
                <a:lnTo>
                  <a:pt x="7121120" y="6026634"/>
                </a:lnTo>
                <a:lnTo>
                  <a:pt x="7121120" y="5739396"/>
                </a:lnTo>
                <a:lnTo>
                  <a:pt x="7004289" y="5739396"/>
                </a:lnTo>
                <a:lnTo>
                  <a:pt x="7004289" y="5205847"/>
                </a:lnTo>
                <a:lnTo>
                  <a:pt x="7121120" y="5205847"/>
                </a:lnTo>
                <a:lnTo>
                  <a:pt x="7121120" y="4918609"/>
                </a:lnTo>
                <a:close/>
                <a:moveTo>
                  <a:pt x="4622593" y="4918609"/>
                </a:moveTo>
                <a:lnTo>
                  <a:pt x="4947782" y="5638937"/>
                </a:lnTo>
                <a:lnTo>
                  <a:pt x="4947782" y="6026634"/>
                </a:lnTo>
                <a:lnTo>
                  <a:pt x="5301249" y="6026634"/>
                </a:lnTo>
                <a:lnTo>
                  <a:pt x="5301249" y="5627031"/>
                </a:lnTo>
                <a:lnTo>
                  <a:pt x="5628671" y="4918609"/>
                </a:lnTo>
                <a:lnTo>
                  <a:pt x="5271484" y="4918609"/>
                </a:lnTo>
                <a:cubicBezTo>
                  <a:pt x="5239733" y="5011875"/>
                  <a:pt x="5209968" y="5103528"/>
                  <a:pt x="5182187" y="5193569"/>
                </a:cubicBezTo>
                <a:cubicBezTo>
                  <a:pt x="5154405" y="5283610"/>
                  <a:pt x="5137538" y="5345745"/>
                  <a:pt x="5131585" y="5379976"/>
                </a:cubicBezTo>
                <a:cubicBezTo>
                  <a:pt x="5110253" y="5287702"/>
                  <a:pt x="5063868" y="5133914"/>
                  <a:pt x="4992431" y="4918609"/>
                </a:cubicBezTo>
                <a:close/>
                <a:moveTo>
                  <a:pt x="3972958" y="4918609"/>
                </a:moveTo>
                <a:lnTo>
                  <a:pt x="3972958" y="6026634"/>
                </a:lnTo>
                <a:lnTo>
                  <a:pt x="4656823" y="6026634"/>
                </a:lnTo>
                <a:lnTo>
                  <a:pt x="4656823" y="5734931"/>
                </a:lnTo>
                <a:lnTo>
                  <a:pt x="4325681" y="5734931"/>
                </a:lnTo>
                <a:lnTo>
                  <a:pt x="4325681" y="4918609"/>
                </a:lnTo>
                <a:close/>
                <a:moveTo>
                  <a:pt x="3261262" y="4918609"/>
                </a:moveTo>
                <a:lnTo>
                  <a:pt x="2945002" y="6026634"/>
                </a:lnTo>
                <a:lnTo>
                  <a:pt x="3307399" y="6026634"/>
                </a:lnTo>
                <a:lnTo>
                  <a:pt x="3332700" y="5897154"/>
                </a:lnTo>
                <a:lnTo>
                  <a:pt x="3514270" y="5897154"/>
                </a:lnTo>
                <a:lnTo>
                  <a:pt x="3541804" y="6026634"/>
                </a:lnTo>
                <a:lnTo>
                  <a:pt x="3914618" y="6026634"/>
                </a:lnTo>
                <a:lnTo>
                  <a:pt x="3599102" y="4918609"/>
                </a:lnTo>
                <a:close/>
                <a:moveTo>
                  <a:pt x="2039383" y="4918609"/>
                </a:moveTo>
                <a:lnTo>
                  <a:pt x="2039383" y="6026634"/>
                </a:lnTo>
                <a:lnTo>
                  <a:pt x="2351178" y="6026634"/>
                </a:lnTo>
                <a:lnTo>
                  <a:pt x="2351178" y="5537734"/>
                </a:lnTo>
                <a:lnTo>
                  <a:pt x="2564002" y="6026634"/>
                </a:lnTo>
                <a:lnTo>
                  <a:pt x="2889936" y="6026634"/>
                </a:lnTo>
                <a:lnTo>
                  <a:pt x="2889936" y="4918609"/>
                </a:lnTo>
                <a:lnTo>
                  <a:pt x="2577397" y="4918609"/>
                </a:lnTo>
                <a:lnTo>
                  <a:pt x="2577397" y="5391138"/>
                </a:lnTo>
                <a:lnTo>
                  <a:pt x="2380199" y="4918609"/>
                </a:lnTo>
                <a:close/>
                <a:moveTo>
                  <a:pt x="1327687" y="4918609"/>
                </a:moveTo>
                <a:lnTo>
                  <a:pt x="1011427" y="6026634"/>
                </a:lnTo>
                <a:lnTo>
                  <a:pt x="1373824" y="6026634"/>
                </a:lnTo>
                <a:lnTo>
                  <a:pt x="1399125" y="5897154"/>
                </a:lnTo>
                <a:lnTo>
                  <a:pt x="1580695" y="5897154"/>
                </a:lnTo>
                <a:lnTo>
                  <a:pt x="1608228" y="6026634"/>
                </a:lnTo>
                <a:lnTo>
                  <a:pt x="1981043" y="6026634"/>
                </a:lnTo>
                <a:lnTo>
                  <a:pt x="1665527" y="4918609"/>
                </a:lnTo>
                <a:close/>
                <a:moveTo>
                  <a:pt x="7618057" y="4902982"/>
                </a:moveTo>
                <a:cubicBezTo>
                  <a:pt x="7541658" y="4902982"/>
                  <a:pt x="7471957" y="4919229"/>
                  <a:pt x="7408953" y="4951723"/>
                </a:cubicBezTo>
                <a:cubicBezTo>
                  <a:pt x="7345949" y="4984217"/>
                  <a:pt x="7297332" y="5027874"/>
                  <a:pt x="7263102" y="5082692"/>
                </a:cubicBezTo>
                <a:cubicBezTo>
                  <a:pt x="7228871" y="5137510"/>
                  <a:pt x="7211756" y="5198654"/>
                  <a:pt x="7211756" y="5266122"/>
                </a:cubicBezTo>
                <a:cubicBezTo>
                  <a:pt x="7211756" y="5325654"/>
                  <a:pt x="7221305" y="5376503"/>
                  <a:pt x="7240405" y="5418672"/>
                </a:cubicBezTo>
                <a:cubicBezTo>
                  <a:pt x="7259505" y="5460839"/>
                  <a:pt x="7288030" y="5497054"/>
                  <a:pt x="7325981" y="5527316"/>
                </a:cubicBezTo>
                <a:cubicBezTo>
                  <a:pt x="7363933" y="5557578"/>
                  <a:pt x="7419371" y="5586103"/>
                  <a:pt x="7492297" y="5612892"/>
                </a:cubicBezTo>
                <a:cubicBezTo>
                  <a:pt x="7556789" y="5636209"/>
                  <a:pt x="7602677" y="5653820"/>
                  <a:pt x="7629963" y="5665726"/>
                </a:cubicBezTo>
                <a:cubicBezTo>
                  <a:pt x="7657248" y="5677632"/>
                  <a:pt x="7675852" y="5688175"/>
                  <a:pt x="7685773" y="5697352"/>
                </a:cubicBezTo>
                <a:cubicBezTo>
                  <a:pt x="7695695" y="5706530"/>
                  <a:pt x="7700656" y="5719056"/>
                  <a:pt x="7700656" y="5734931"/>
                </a:cubicBezTo>
                <a:cubicBezTo>
                  <a:pt x="7700656" y="5753783"/>
                  <a:pt x="7693215" y="5767426"/>
                  <a:pt x="7678332" y="5775859"/>
                </a:cubicBezTo>
                <a:cubicBezTo>
                  <a:pt x="7663449" y="5784293"/>
                  <a:pt x="7636164" y="5788509"/>
                  <a:pt x="7596477" y="5788509"/>
                </a:cubicBezTo>
                <a:cubicBezTo>
                  <a:pt x="7531488" y="5788509"/>
                  <a:pt x="7471337" y="5779084"/>
                  <a:pt x="7416022" y="5760232"/>
                </a:cubicBezTo>
                <a:cubicBezTo>
                  <a:pt x="7360708" y="5741381"/>
                  <a:pt x="7305518" y="5713599"/>
                  <a:pt x="7250451" y="5676888"/>
                </a:cubicBezTo>
                <a:lnTo>
                  <a:pt x="7216221" y="5676888"/>
                </a:lnTo>
                <a:lnTo>
                  <a:pt x="7216221" y="5962638"/>
                </a:lnTo>
                <a:cubicBezTo>
                  <a:pt x="7276248" y="5991412"/>
                  <a:pt x="7337019" y="6011627"/>
                  <a:pt x="7398535" y="6023286"/>
                </a:cubicBezTo>
                <a:cubicBezTo>
                  <a:pt x="7460051" y="6034944"/>
                  <a:pt x="7532977" y="6040773"/>
                  <a:pt x="7617313" y="6040773"/>
                </a:cubicBezTo>
                <a:cubicBezTo>
                  <a:pt x="7699664" y="6040773"/>
                  <a:pt x="7773334" y="6025022"/>
                  <a:pt x="7838322" y="5993520"/>
                </a:cubicBezTo>
                <a:cubicBezTo>
                  <a:pt x="7903310" y="5962018"/>
                  <a:pt x="7951928" y="5918114"/>
                  <a:pt x="7984174" y="5861807"/>
                </a:cubicBezTo>
                <a:cubicBezTo>
                  <a:pt x="8016420" y="5805501"/>
                  <a:pt x="8032543" y="5739148"/>
                  <a:pt x="8032543" y="5662749"/>
                </a:cubicBezTo>
                <a:cubicBezTo>
                  <a:pt x="8032543" y="5606691"/>
                  <a:pt x="8021256" y="5558074"/>
                  <a:pt x="7998685" y="5516898"/>
                </a:cubicBezTo>
                <a:cubicBezTo>
                  <a:pt x="7976112" y="5475722"/>
                  <a:pt x="7944859" y="5440252"/>
                  <a:pt x="7904923" y="5410486"/>
                </a:cubicBezTo>
                <a:cubicBezTo>
                  <a:pt x="7864987" y="5380720"/>
                  <a:pt x="7808557" y="5353187"/>
                  <a:pt x="7735631" y="5327886"/>
                </a:cubicBezTo>
                <a:cubicBezTo>
                  <a:pt x="7658240" y="5300601"/>
                  <a:pt x="7609127" y="5282246"/>
                  <a:pt x="7588291" y="5272820"/>
                </a:cubicBezTo>
                <a:cubicBezTo>
                  <a:pt x="7567455" y="5263394"/>
                  <a:pt x="7553441" y="5254464"/>
                  <a:pt x="7546247" y="5246031"/>
                </a:cubicBezTo>
                <a:cubicBezTo>
                  <a:pt x="7539053" y="5237597"/>
                  <a:pt x="7535457" y="5226435"/>
                  <a:pt x="7535457" y="5212544"/>
                </a:cubicBezTo>
                <a:cubicBezTo>
                  <a:pt x="7535457" y="5190220"/>
                  <a:pt x="7545131" y="5174841"/>
                  <a:pt x="7564479" y="5166408"/>
                </a:cubicBezTo>
                <a:cubicBezTo>
                  <a:pt x="7583826" y="5157974"/>
                  <a:pt x="7611359" y="5153757"/>
                  <a:pt x="7647078" y="5153757"/>
                </a:cubicBezTo>
                <a:cubicBezTo>
                  <a:pt x="7705121" y="5153757"/>
                  <a:pt x="7757831" y="5160703"/>
                  <a:pt x="7805208" y="5174593"/>
                </a:cubicBezTo>
                <a:cubicBezTo>
                  <a:pt x="7852585" y="5188484"/>
                  <a:pt x="7899094" y="5210808"/>
                  <a:pt x="7944734" y="5241566"/>
                </a:cubicBezTo>
                <a:lnTo>
                  <a:pt x="7977477" y="5241566"/>
                </a:lnTo>
                <a:lnTo>
                  <a:pt x="7977477" y="4975907"/>
                </a:lnTo>
                <a:cubicBezTo>
                  <a:pt x="7922410" y="4953087"/>
                  <a:pt x="7863127" y="4935228"/>
                  <a:pt x="7799627" y="4922329"/>
                </a:cubicBezTo>
                <a:cubicBezTo>
                  <a:pt x="7736127" y="4909431"/>
                  <a:pt x="7675603" y="4902982"/>
                  <a:pt x="7618057" y="4902982"/>
                </a:cubicBezTo>
                <a:close/>
                <a:moveTo>
                  <a:pt x="6046432" y="4902982"/>
                </a:moveTo>
                <a:cubicBezTo>
                  <a:pt x="5970033" y="4902982"/>
                  <a:pt x="5900332" y="4919229"/>
                  <a:pt x="5837328" y="4951723"/>
                </a:cubicBezTo>
                <a:cubicBezTo>
                  <a:pt x="5774324" y="4984217"/>
                  <a:pt x="5725707" y="5027874"/>
                  <a:pt x="5691477" y="5082692"/>
                </a:cubicBezTo>
                <a:cubicBezTo>
                  <a:pt x="5657246" y="5137510"/>
                  <a:pt x="5640131" y="5198654"/>
                  <a:pt x="5640131" y="5266122"/>
                </a:cubicBezTo>
                <a:cubicBezTo>
                  <a:pt x="5640131" y="5325654"/>
                  <a:pt x="5649680" y="5376503"/>
                  <a:pt x="5668780" y="5418672"/>
                </a:cubicBezTo>
                <a:cubicBezTo>
                  <a:pt x="5687880" y="5460839"/>
                  <a:pt x="5716405" y="5497054"/>
                  <a:pt x="5754356" y="5527316"/>
                </a:cubicBezTo>
                <a:cubicBezTo>
                  <a:pt x="5792308" y="5557578"/>
                  <a:pt x="5847746" y="5586103"/>
                  <a:pt x="5920672" y="5612892"/>
                </a:cubicBezTo>
                <a:cubicBezTo>
                  <a:pt x="5985164" y="5636209"/>
                  <a:pt x="6031052" y="5653820"/>
                  <a:pt x="6058338" y="5665726"/>
                </a:cubicBezTo>
                <a:cubicBezTo>
                  <a:pt x="6085623" y="5677632"/>
                  <a:pt x="6104226" y="5688175"/>
                  <a:pt x="6114148" y="5697352"/>
                </a:cubicBezTo>
                <a:cubicBezTo>
                  <a:pt x="6124070" y="5706530"/>
                  <a:pt x="6129031" y="5719056"/>
                  <a:pt x="6129031" y="5734931"/>
                </a:cubicBezTo>
                <a:cubicBezTo>
                  <a:pt x="6129031" y="5753783"/>
                  <a:pt x="6121590" y="5767426"/>
                  <a:pt x="6106707" y="5775859"/>
                </a:cubicBezTo>
                <a:cubicBezTo>
                  <a:pt x="6091824" y="5784293"/>
                  <a:pt x="6064539" y="5788509"/>
                  <a:pt x="6024852" y="5788509"/>
                </a:cubicBezTo>
                <a:cubicBezTo>
                  <a:pt x="5959863" y="5788509"/>
                  <a:pt x="5899712" y="5779084"/>
                  <a:pt x="5844397" y="5760232"/>
                </a:cubicBezTo>
                <a:cubicBezTo>
                  <a:pt x="5789083" y="5741381"/>
                  <a:pt x="5733893" y="5713599"/>
                  <a:pt x="5678826" y="5676888"/>
                </a:cubicBezTo>
                <a:lnTo>
                  <a:pt x="5644596" y="5676888"/>
                </a:lnTo>
                <a:lnTo>
                  <a:pt x="5644596" y="5962638"/>
                </a:lnTo>
                <a:cubicBezTo>
                  <a:pt x="5704623" y="5991412"/>
                  <a:pt x="5765394" y="6011627"/>
                  <a:pt x="5826910" y="6023286"/>
                </a:cubicBezTo>
                <a:cubicBezTo>
                  <a:pt x="5888426" y="6034944"/>
                  <a:pt x="5961351" y="6040773"/>
                  <a:pt x="6045688" y="6040773"/>
                </a:cubicBezTo>
                <a:cubicBezTo>
                  <a:pt x="6128039" y="6040773"/>
                  <a:pt x="6201709" y="6025022"/>
                  <a:pt x="6266697" y="5993520"/>
                </a:cubicBezTo>
                <a:cubicBezTo>
                  <a:pt x="6331685" y="5962018"/>
                  <a:pt x="6380303" y="5918114"/>
                  <a:pt x="6412549" y="5861807"/>
                </a:cubicBezTo>
                <a:cubicBezTo>
                  <a:pt x="6444795" y="5805501"/>
                  <a:pt x="6460918" y="5739148"/>
                  <a:pt x="6460918" y="5662749"/>
                </a:cubicBezTo>
                <a:cubicBezTo>
                  <a:pt x="6460918" y="5606691"/>
                  <a:pt x="6449631" y="5558074"/>
                  <a:pt x="6427060" y="5516898"/>
                </a:cubicBezTo>
                <a:cubicBezTo>
                  <a:pt x="6404487" y="5475722"/>
                  <a:pt x="6373233" y="5440252"/>
                  <a:pt x="6333298" y="5410486"/>
                </a:cubicBezTo>
                <a:cubicBezTo>
                  <a:pt x="6293362" y="5380720"/>
                  <a:pt x="6236932" y="5353187"/>
                  <a:pt x="6164006" y="5327886"/>
                </a:cubicBezTo>
                <a:cubicBezTo>
                  <a:pt x="6086615" y="5300601"/>
                  <a:pt x="6037502" y="5282246"/>
                  <a:pt x="6016666" y="5272820"/>
                </a:cubicBezTo>
                <a:cubicBezTo>
                  <a:pt x="5995830" y="5263394"/>
                  <a:pt x="5981815" y="5254464"/>
                  <a:pt x="5974622" y="5246031"/>
                </a:cubicBezTo>
                <a:cubicBezTo>
                  <a:pt x="5967428" y="5237597"/>
                  <a:pt x="5963832" y="5226435"/>
                  <a:pt x="5963832" y="5212544"/>
                </a:cubicBezTo>
                <a:cubicBezTo>
                  <a:pt x="5963832" y="5190220"/>
                  <a:pt x="5973506" y="5174841"/>
                  <a:pt x="5992854" y="5166408"/>
                </a:cubicBezTo>
                <a:cubicBezTo>
                  <a:pt x="6012201" y="5157974"/>
                  <a:pt x="6039734" y="5153757"/>
                  <a:pt x="6075453" y="5153757"/>
                </a:cubicBezTo>
                <a:cubicBezTo>
                  <a:pt x="6133496" y="5153757"/>
                  <a:pt x="6186206" y="5160703"/>
                  <a:pt x="6233583" y="5174593"/>
                </a:cubicBezTo>
                <a:cubicBezTo>
                  <a:pt x="6280960" y="5188484"/>
                  <a:pt x="6327469" y="5210808"/>
                  <a:pt x="6373109" y="5241566"/>
                </a:cubicBezTo>
                <a:lnTo>
                  <a:pt x="6405852" y="5241566"/>
                </a:lnTo>
                <a:lnTo>
                  <a:pt x="6405852" y="4975907"/>
                </a:lnTo>
                <a:cubicBezTo>
                  <a:pt x="6350785" y="4953087"/>
                  <a:pt x="6291502" y="4935228"/>
                  <a:pt x="6228002" y="4922329"/>
                </a:cubicBezTo>
                <a:cubicBezTo>
                  <a:pt x="6164502" y="4909431"/>
                  <a:pt x="6103978" y="4902982"/>
                  <a:pt x="6046432" y="4902982"/>
                </a:cubicBezTo>
                <a:close/>
                <a:moveTo>
                  <a:pt x="5961600" y="3569779"/>
                </a:moveTo>
                <a:cubicBezTo>
                  <a:pt x="5970529" y="3653619"/>
                  <a:pt x="5985412" y="3747381"/>
                  <a:pt x="6006248" y="3851064"/>
                </a:cubicBezTo>
                <a:lnTo>
                  <a:pt x="5910998" y="3851064"/>
                </a:lnTo>
                <a:cubicBezTo>
                  <a:pt x="5933322" y="3756311"/>
                  <a:pt x="5950189" y="3662549"/>
                  <a:pt x="5961600" y="3569779"/>
                </a:cubicBezTo>
                <a:close/>
                <a:moveTo>
                  <a:pt x="2313525" y="3569779"/>
                </a:moveTo>
                <a:cubicBezTo>
                  <a:pt x="2322455" y="3653619"/>
                  <a:pt x="2337337" y="3747381"/>
                  <a:pt x="2358173" y="3851064"/>
                </a:cubicBezTo>
                <a:lnTo>
                  <a:pt x="2262923" y="3851064"/>
                </a:lnTo>
                <a:cubicBezTo>
                  <a:pt x="2285247" y="3756311"/>
                  <a:pt x="2302115" y="3662549"/>
                  <a:pt x="2313525" y="3569779"/>
                </a:cubicBezTo>
                <a:close/>
                <a:moveTo>
                  <a:pt x="1254910" y="3367373"/>
                </a:moveTo>
                <a:lnTo>
                  <a:pt x="1290629" y="3367373"/>
                </a:lnTo>
                <a:cubicBezTo>
                  <a:pt x="1335278" y="3367373"/>
                  <a:pt x="1365911" y="3375435"/>
                  <a:pt x="1382530" y="3391558"/>
                </a:cubicBezTo>
                <a:cubicBezTo>
                  <a:pt x="1399150" y="3407681"/>
                  <a:pt x="1407459" y="3432609"/>
                  <a:pt x="1407459" y="3466344"/>
                </a:cubicBezTo>
                <a:cubicBezTo>
                  <a:pt x="1407459" y="3507024"/>
                  <a:pt x="1397165" y="3537037"/>
                  <a:pt x="1376577" y="3556385"/>
                </a:cubicBezTo>
                <a:cubicBezTo>
                  <a:pt x="1355989" y="3575732"/>
                  <a:pt x="1324363" y="3585406"/>
                  <a:pt x="1281699" y="3585406"/>
                </a:cubicBezTo>
                <a:lnTo>
                  <a:pt x="1254910" y="3585406"/>
                </a:lnTo>
                <a:close/>
                <a:moveTo>
                  <a:pt x="6394243" y="3089809"/>
                </a:moveTo>
                <a:lnTo>
                  <a:pt x="6719432" y="3810137"/>
                </a:lnTo>
                <a:lnTo>
                  <a:pt x="6719432" y="4197834"/>
                </a:lnTo>
                <a:lnTo>
                  <a:pt x="7072899" y="4197834"/>
                </a:lnTo>
                <a:lnTo>
                  <a:pt x="7072899" y="3798230"/>
                </a:lnTo>
                <a:lnTo>
                  <a:pt x="7400321" y="3089809"/>
                </a:lnTo>
                <a:lnTo>
                  <a:pt x="7043134" y="3089809"/>
                </a:lnTo>
                <a:cubicBezTo>
                  <a:pt x="7011384" y="3183074"/>
                  <a:pt x="6981618" y="3274728"/>
                  <a:pt x="6953837" y="3364769"/>
                </a:cubicBezTo>
                <a:cubicBezTo>
                  <a:pt x="6926055" y="3454810"/>
                  <a:pt x="6909188" y="3516945"/>
                  <a:pt x="6903235" y="3551176"/>
                </a:cubicBezTo>
                <a:cubicBezTo>
                  <a:pt x="6881903" y="3458902"/>
                  <a:pt x="6835518" y="3305114"/>
                  <a:pt x="6764081" y="3089809"/>
                </a:cubicBezTo>
                <a:close/>
                <a:moveTo>
                  <a:pt x="5794912" y="3089809"/>
                </a:moveTo>
                <a:lnTo>
                  <a:pt x="5478652" y="4197834"/>
                </a:lnTo>
                <a:lnTo>
                  <a:pt x="5841049" y="4197834"/>
                </a:lnTo>
                <a:lnTo>
                  <a:pt x="5866350" y="4068354"/>
                </a:lnTo>
                <a:lnTo>
                  <a:pt x="6047920" y="4068354"/>
                </a:lnTo>
                <a:lnTo>
                  <a:pt x="6075453" y="4197834"/>
                </a:lnTo>
                <a:lnTo>
                  <a:pt x="6448268" y="4197834"/>
                </a:lnTo>
                <a:lnTo>
                  <a:pt x="6132752" y="3089809"/>
                </a:lnTo>
                <a:close/>
                <a:moveTo>
                  <a:pt x="4225371" y="3089809"/>
                </a:moveTo>
                <a:lnTo>
                  <a:pt x="4418848" y="4197834"/>
                </a:lnTo>
                <a:lnTo>
                  <a:pt x="4751478" y="4197834"/>
                </a:lnTo>
                <a:lnTo>
                  <a:pt x="4855658" y="3598801"/>
                </a:lnTo>
                <a:lnTo>
                  <a:pt x="4963558" y="4197834"/>
                </a:lnTo>
                <a:lnTo>
                  <a:pt x="5294701" y="4197834"/>
                </a:lnTo>
                <a:lnTo>
                  <a:pt x="5491154" y="3089809"/>
                </a:lnTo>
                <a:lnTo>
                  <a:pt x="5203171" y="3089809"/>
                </a:lnTo>
                <a:lnTo>
                  <a:pt x="5116851" y="3709678"/>
                </a:lnTo>
                <a:lnTo>
                  <a:pt x="5013416" y="3089809"/>
                </a:lnTo>
                <a:lnTo>
                  <a:pt x="4697900" y="3089809"/>
                </a:lnTo>
                <a:lnTo>
                  <a:pt x="4607115" y="3714143"/>
                </a:lnTo>
                <a:lnTo>
                  <a:pt x="4530468" y="3089809"/>
                </a:lnTo>
                <a:close/>
                <a:moveTo>
                  <a:pt x="3534809" y="3089809"/>
                </a:moveTo>
                <a:lnTo>
                  <a:pt x="3534809" y="4197834"/>
                </a:lnTo>
                <a:lnTo>
                  <a:pt x="4218673" y="4197834"/>
                </a:lnTo>
                <a:lnTo>
                  <a:pt x="4218673" y="3906131"/>
                </a:lnTo>
                <a:lnTo>
                  <a:pt x="3887531" y="3906131"/>
                </a:lnTo>
                <a:lnTo>
                  <a:pt x="3887531" y="3089809"/>
                </a:lnTo>
                <a:close/>
                <a:moveTo>
                  <a:pt x="2828024" y="3089809"/>
                </a:moveTo>
                <a:lnTo>
                  <a:pt x="2828024" y="3377047"/>
                </a:lnTo>
                <a:lnTo>
                  <a:pt x="2944110" y="3377047"/>
                </a:lnTo>
                <a:lnTo>
                  <a:pt x="2944110" y="3910596"/>
                </a:lnTo>
                <a:lnTo>
                  <a:pt x="2828024" y="3910596"/>
                </a:lnTo>
                <a:lnTo>
                  <a:pt x="2828024" y="4197834"/>
                </a:lnTo>
                <a:lnTo>
                  <a:pt x="3415895" y="4197834"/>
                </a:lnTo>
                <a:lnTo>
                  <a:pt x="3415895" y="3910596"/>
                </a:lnTo>
                <a:lnTo>
                  <a:pt x="3299065" y="3910596"/>
                </a:lnTo>
                <a:lnTo>
                  <a:pt x="3299065" y="3377047"/>
                </a:lnTo>
                <a:lnTo>
                  <a:pt x="3415895" y="3377047"/>
                </a:lnTo>
                <a:lnTo>
                  <a:pt x="3415895" y="3089809"/>
                </a:lnTo>
                <a:close/>
                <a:moveTo>
                  <a:pt x="905908" y="3089809"/>
                </a:moveTo>
                <a:lnTo>
                  <a:pt x="905908" y="4197834"/>
                </a:lnTo>
                <a:lnTo>
                  <a:pt x="1254910" y="4197834"/>
                </a:lnTo>
                <a:lnTo>
                  <a:pt x="1254910" y="3808648"/>
                </a:lnTo>
                <a:lnTo>
                  <a:pt x="1269793" y="3808648"/>
                </a:lnTo>
                <a:lnTo>
                  <a:pt x="1458061" y="4197834"/>
                </a:lnTo>
                <a:lnTo>
                  <a:pt x="1830578" y="4197834"/>
                </a:lnTo>
                <a:lnTo>
                  <a:pt x="1869571" y="4197834"/>
                </a:lnTo>
                <a:lnTo>
                  <a:pt x="2192974" y="4197834"/>
                </a:lnTo>
                <a:lnTo>
                  <a:pt x="2218275" y="4068354"/>
                </a:lnTo>
                <a:lnTo>
                  <a:pt x="2399845" y="4068354"/>
                </a:lnTo>
                <a:lnTo>
                  <a:pt x="2427378" y="4197834"/>
                </a:lnTo>
                <a:lnTo>
                  <a:pt x="2800193" y="4197834"/>
                </a:lnTo>
                <a:lnTo>
                  <a:pt x="2484677" y="3089809"/>
                </a:lnTo>
                <a:lnTo>
                  <a:pt x="2146837" y="3089809"/>
                </a:lnTo>
                <a:lnTo>
                  <a:pt x="1843638" y="4152075"/>
                </a:lnTo>
                <a:lnTo>
                  <a:pt x="1600936" y="3723816"/>
                </a:lnTo>
                <a:cubicBezTo>
                  <a:pt x="1658483" y="3692563"/>
                  <a:pt x="1701023" y="3650519"/>
                  <a:pt x="1728556" y="3597685"/>
                </a:cubicBezTo>
                <a:cubicBezTo>
                  <a:pt x="1756089" y="3544851"/>
                  <a:pt x="1769856" y="3478250"/>
                  <a:pt x="1769856" y="3397883"/>
                </a:cubicBezTo>
                <a:cubicBezTo>
                  <a:pt x="1769856" y="3300153"/>
                  <a:pt x="1739098" y="3224374"/>
                  <a:pt x="1677582" y="3170548"/>
                </a:cubicBezTo>
                <a:cubicBezTo>
                  <a:pt x="1616067" y="3116722"/>
                  <a:pt x="1530490" y="3089809"/>
                  <a:pt x="1420854" y="3089809"/>
                </a:cubicBezTo>
                <a:close/>
                <a:moveTo>
                  <a:pt x="7818082" y="3074182"/>
                </a:moveTo>
                <a:cubicBezTo>
                  <a:pt x="7741683" y="3074182"/>
                  <a:pt x="7671982" y="3090429"/>
                  <a:pt x="7608978" y="3122923"/>
                </a:cubicBezTo>
                <a:cubicBezTo>
                  <a:pt x="7545974" y="3155417"/>
                  <a:pt x="7497357" y="3199073"/>
                  <a:pt x="7463127" y="3253892"/>
                </a:cubicBezTo>
                <a:cubicBezTo>
                  <a:pt x="7428896" y="3308710"/>
                  <a:pt x="7411781" y="3369854"/>
                  <a:pt x="7411781" y="3437322"/>
                </a:cubicBezTo>
                <a:cubicBezTo>
                  <a:pt x="7411781" y="3496854"/>
                  <a:pt x="7421330" y="3547703"/>
                  <a:pt x="7440430" y="3589871"/>
                </a:cubicBezTo>
                <a:cubicBezTo>
                  <a:pt x="7459530" y="3632039"/>
                  <a:pt x="7488055" y="3668254"/>
                  <a:pt x="7526006" y="3698516"/>
                </a:cubicBezTo>
                <a:cubicBezTo>
                  <a:pt x="7563958" y="3728777"/>
                  <a:pt x="7619396" y="3757303"/>
                  <a:pt x="7692322" y="3784092"/>
                </a:cubicBezTo>
                <a:cubicBezTo>
                  <a:pt x="7756814" y="3807408"/>
                  <a:pt x="7802702" y="3825020"/>
                  <a:pt x="7829988" y="3836926"/>
                </a:cubicBezTo>
                <a:cubicBezTo>
                  <a:pt x="7857273" y="3848832"/>
                  <a:pt x="7875877" y="3859374"/>
                  <a:pt x="7885798" y="3868552"/>
                </a:cubicBezTo>
                <a:cubicBezTo>
                  <a:pt x="7895721" y="3877730"/>
                  <a:pt x="7900681" y="3890256"/>
                  <a:pt x="7900681" y="3906131"/>
                </a:cubicBezTo>
                <a:cubicBezTo>
                  <a:pt x="7900681" y="3924983"/>
                  <a:pt x="7893240" y="3938625"/>
                  <a:pt x="7878357" y="3947059"/>
                </a:cubicBezTo>
                <a:cubicBezTo>
                  <a:pt x="7863474" y="3955492"/>
                  <a:pt x="7836189" y="3959709"/>
                  <a:pt x="7796502" y="3959709"/>
                </a:cubicBezTo>
                <a:cubicBezTo>
                  <a:pt x="7731514" y="3959709"/>
                  <a:pt x="7671362" y="3950283"/>
                  <a:pt x="7616047" y="3931432"/>
                </a:cubicBezTo>
                <a:cubicBezTo>
                  <a:pt x="7560733" y="3912580"/>
                  <a:pt x="7505543" y="3884799"/>
                  <a:pt x="7450476" y="3848088"/>
                </a:cubicBezTo>
                <a:lnTo>
                  <a:pt x="7416246" y="3848088"/>
                </a:lnTo>
                <a:lnTo>
                  <a:pt x="7416246" y="4133838"/>
                </a:lnTo>
                <a:cubicBezTo>
                  <a:pt x="7476273" y="4162611"/>
                  <a:pt x="7537044" y="4182827"/>
                  <a:pt x="7598560" y="4194485"/>
                </a:cubicBezTo>
                <a:cubicBezTo>
                  <a:pt x="7660076" y="4206144"/>
                  <a:pt x="7733002" y="4211973"/>
                  <a:pt x="7817338" y="4211973"/>
                </a:cubicBezTo>
                <a:cubicBezTo>
                  <a:pt x="7899689" y="4211973"/>
                  <a:pt x="7973359" y="4196222"/>
                  <a:pt x="8038347" y="4164720"/>
                </a:cubicBezTo>
                <a:cubicBezTo>
                  <a:pt x="8103336" y="4133218"/>
                  <a:pt x="8151953" y="4089314"/>
                  <a:pt x="8184199" y="4033007"/>
                </a:cubicBezTo>
                <a:cubicBezTo>
                  <a:pt x="8216445" y="3976700"/>
                  <a:pt x="8232568" y="3910348"/>
                  <a:pt x="8232568" y="3833949"/>
                </a:cubicBezTo>
                <a:cubicBezTo>
                  <a:pt x="8232568" y="3777891"/>
                  <a:pt x="8221281" y="3729274"/>
                  <a:pt x="8198710" y="3688098"/>
                </a:cubicBezTo>
                <a:cubicBezTo>
                  <a:pt x="8176138" y="3646922"/>
                  <a:pt x="8144884" y="3611451"/>
                  <a:pt x="8104948" y="3581686"/>
                </a:cubicBezTo>
                <a:cubicBezTo>
                  <a:pt x="8065013" y="3551920"/>
                  <a:pt x="8008582" y="3524387"/>
                  <a:pt x="7935656" y="3499086"/>
                </a:cubicBezTo>
                <a:cubicBezTo>
                  <a:pt x="7858265" y="3471801"/>
                  <a:pt x="7809152" y="3453445"/>
                  <a:pt x="7788316" y="3444020"/>
                </a:cubicBezTo>
                <a:cubicBezTo>
                  <a:pt x="7767480" y="3434594"/>
                  <a:pt x="7753466" y="3425664"/>
                  <a:pt x="7746272" y="3417231"/>
                </a:cubicBezTo>
                <a:cubicBezTo>
                  <a:pt x="7739079" y="3408797"/>
                  <a:pt x="7735482" y="3397635"/>
                  <a:pt x="7735482" y="3383744"/>
                </a:cubicBezTo>
                <a:cubicBezTo>
                  <a:pt x="7735482" y="3361420"/>
                  <a:pt x="7745156" y="3346041"/>
                  <a:pt x="7764504" y="3337607"/>
                </a:cubicBezTo>
                <a:cubicBezTo>
                  <a:pt x="7783851" y="3329174"/>
                  <a:pt x="7811384" y="3324957"/>
                  <a:pt x="7847103" y="3324957"/>
                </a:cubicBezTo>
                <a:cubicBezTo>
                  <a:pt x="7905146" y="3324957"/>
                  <a:pt x="7957856" y="3331903"/>
                  <a:pt x="8005233" y="3345793"/>
                </a:cubicBezTo>
                <a:cubicBezTo>
                  <a:pt x="8052610" y="3359684"/>
                  <a:pt x="8099119" y="3382008"/>
                  <a:pt x="8144759" y="3412766"/>
                </a:cubicBezTo>
                <a:lnTo>
                  <a:pt x="8177502" y="3412766"/>
                </a:lnTo>
                <a:lnTo>
                  <a:pt x="8177502" y="3147108"/>
                </a:lnTo>
                <a:cubicBezTo>
                  <a:pt x="8122435" y="3124287"/>
                  <a:pt x="8063152" y="3106428"/>
                  <a:pt x="7999652" y="3093530"/>
                </a:cubicBezTo>
                <a:cubicBezTo>
                  <a:pt x="7936152" y="3080631"/>
                  <a:pt x="7875628" y="3074182"/>
                  <a:pt x="7818082" y="3074182"/>
                </a:cubicBezTo>
                <a:close/>
                <a:moveTo>
                  <a:pt x="4648489" y="1261009"/>
                </a:moveTo>
                <a:lnTo>
                  <a:pt x="4648489" y="2369034"/>
                </a:lnTo>
                <a:lnTo>
                  <a:pt x="5001212" y="2369034"/>
                </a:lnTo>
                <a:lnTo>
                  <a:pt x="5001212" y="2021521"/>
                </a:lnTo>
                <a:lnTo>
                  <a:pt x="5010886" y="2006638"/>
                </a:lnTo>
                <a:lnTo>
                  <a:pt x="5192456" y="2369034"/>
                </a:lnTo>
                <a:lnTo>
                  <a:pt x="5604710" y="2369034"/>
                </a:lnTo>
                <a:lnTo>
                  <a:pt x="5238593" y="1749165"/>
                </a:lnTo>
                <a:lnTo>
                  <a:pt x="5562294" y="1261009"/>
                </a:lnTo>
                <a:lnTo>
                  <a:pt x="5198409" y="1261009"/>
                </a:lnTo>
                <a:lnTo>
                  <a:pt x="5001212" y="1582478"/>
                </a:lnTo>
                <a:lnTo>
                  <a:pt x="5001212" y="1261009"/>
                </a:lnTo>
                <a:close/>
                <a:moveTo>
                  <a:pt x="3614580" y="1261009"/>
                </a:moveTo>
                <a:lnTo>
                  <a:pt x="3614580" y="1952315"/>
                </a:lnTo>
                <a:cubicBezTo>
                  <a:pt x="3614580" y="2084277"/>
                  <a:pt x="3653400" y="2188580"/>
                  <a:pt x="3731038" y="2265227"/>
                </a:cubicBezTo>
                <a:cubicBezTo>
                  <a:pt x="3808677" y="2341873"/>
                  <a:pt x="3917198" y="2380196"/>
                  <a:pt x="4056600" y="2380196"/>
                </a:cubicBezTo>
                <a:cubicBezTo>
                  <a:pt x="4196498" y="2380196"/>
                  <a:pt x="4306259" y="2341625"/>
                  <a:pt x="4385882" y="2264483"/>
                </a:cubicBezTo>
                <a:cubicBezTo>
                  <a:pt x="4465505" y="2187340"/>
                  <a:pt x="4505316" y="2083036"/>
                  <a:pt x="4505316" y="1951571"/>
                </a:cubicBezTo>
                <a:lnTo>
                  <a:pt x="4504572" y="1261009"/>
                </a:lnTo>
                <a:lnTo>
                  <a:pt x="4145897" y="1261009"/>
                </a:lnTo>
                <a:lnTo>
                  <a:pt x="4145897" y="1937433"/>
                </a:lnTo>
                <a:cubicBezTo>
                  <a:pt x="4145897" y="1999444"/>
                  <a:pt x="4138951" y="2041612"/>
                  <a:pt x="4125061" y="2063937"/>
                </a:cubicBezTo>
                <a:cubicBezTo>
                  <a:pt x="4111170" y="2086261"/>
                  <a:pt x="4087357" y="2097423"/>
                  <a:pt x="4053624" y="2097423"/>
                </a:cubicBezTo>
                <a:cubicBezTo>
                  <a:pt x="3994588" y="2097423"/>
                  <a:pt x="3965071" y="2044589"/>
                  <a:pt x="3965071" y="1938921"/>
                </a:cubicBezTo>
                <a:lnTo>
                  <a:pt x="3965071" y="1261009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6857421"/>
                </a:lnTo>
                <a:lnTo>
                  <a:pt x="0" y="68574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0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51C6-8F6D-059A-4CE9-23A83699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ain at a station&#10;&#10;AI-generated content may be incorrect.">
            <a:extLst>
              <a:ext uri="{FF2B5EF4-FFF2-40B4-BE49-F238E27FC236}">
                <a16:creationId xmlns:a16="http://schemas.microsoft.com/office/drawing/2014/main" id="{7164379C-B6B2-5135-9409-6DCA3BF3B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2060" y="-1085561"/>
            <a:ext cx="10850880" cy="610362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D4BA4A-C876-042F-77C6-5636A28BD139}"/>
              </a:ext>
            </a:extLst>
          </p:cNvPr>
          <p:cNvSpPr/>
          <p:nvPr/>
        </p:nvSpPr>
        <p:spPr>
          <a:xfrm>
            <a:off x="-83718400" y="-54736999"/>
            <a:ext cx="165608000" cy="114617498"/>
          </a:xfrm>
          <a:custGeom>
            <a:avLst/>
            <a:gdLst/>
            <a:ahLst/>
            <a:cxnLst/>
            <a:rect l="l" t="t" r="r" b="b"/>
            <a:pathLst>
              <a:path w="9144000" h="6857421">
                <a:moveTo>
                  <a:pt x="3427949" y="5398579"/>
                </a:moveTo>
                <a:cubicBezTo>
                  <a:pt x="3436880" y="5482419"/>
                  <a:pt x="3451762" y="5576181"/>
                  <a:pt x="3472598" y="5679865"/>
                </a:cubicBezTo>
                <a:lnTo>
                  <a:pt x="3377348" y="5679865"/>
                </a:lnTo>
                <a:cubicBezTo>
                  <a:pt x="3399672" y="5585111"/>
                  <a:pt x="3416539" y="5491349"/>
                  <a:pt x="3427949" y="5398579"/>
                </a:cubicBezTo>
                <a:close/>
                <a:moveTo>
                  <a:pt x="1494375" y="5398579"/>
                </a:moveTo>
                <a:cubicBezTo>
                  <a:pt x="1503304" y="5482419"/>
                  <a:pt x="1518187" y="5576181"/>
                  <a:pt x="1539023" y="5679865"/>
                </a:cubicBezTo>
                <a:lnTo>
                  <a:pt x="1443773" y="5679865"/>
                </a:lnTo>
                <a:cubicBezTo>
                  <a:pt x="1466097" y="5585111"/>
                  <a:pt x="1482965" y="5491349"/>
                  <a:pt x="1494375" y="5398579"/>
                </a:cubicBezTo>
                <a:close/>
                <a:moveTo>
                  <a:pt x="6533248" y="4918609"/>
                </a:moveTo>
                <a:lnTo>
                  <a:pt x="6533248" y="5205847"/>
                </a:lnTo>
                <a:lnTo>
                  <a:pt x="6649334" y="5205847"/>
                </a:lnTo>
                <a:lnTo>
                  <a:pt x="6649334" y="5739396"/>
                </a:lnTo>
                <a:lnTo>
                  <a:pt x="6533248" y="5739396"/>
                </a:lnTo>
                <a:lnTo>
                  <a:pt x="6533248" y="6026634"/>
                </a:lnTo>
                <a:lnTo>
                  <a:pt x="7121120" y="6026634"/>
                </a:lnTo>
                <a:lnTo>
                  <a:pt x="7121120" y="5739396"/>
                </a:lnTo>
                <a:lnTo>
                  <a:pt x="7004289" y="5739396"/>
                </a:lnTo>
                <a:lnTo>
                  <a:pt x="7004289" y="5205847"/>
                </a:lnTo>
                <a:lnTo>
                  <a:pt x="7121120" y="5205847"/>
                </a:lnTo>
                <a:lnTo>
                  <a:pt x="7121120" y="4918609"/>
                </a:lnTo>
                <a:close/>
                <a:moveTo>
                  <a:pt x="4622593" y="4918609"/>
                </a:moveTo>
                <a:lnTo>
                  <a:pt x="4947782" y="5638937"/>
                </a:lnTo>
                <a:lnTo>
                  <a:pt x="4947782" y="6026634"/>
                </a:lnTo>
                <a:lnTo>
                  <a:pt x="5301249" y="6026634"/>
                </a:lnTo>
                <a:lnTo>
                  <a:pt x="5301249" y="5627031"/>
                </a:lnTo>
                <a:lnTo>
                  <a:pt x="5628671" y="4918609"/>
                </a:lnTo>
                <a:lnTo>
                  <a:pt x="5271484" y="4918609"/>
                </a:lnTo>
                <a:cubicBezTo>
                  <a:pt x="5239733" y="5011875"/>
                  <a:pt x="5209968" y="5103528"/>
                  <a:pt x="5182187" y="5193569"/>
                </a:cubicBezTo>
                <a:cubicBezTo>
                  <a:pt x="5154405" y="5283610"/>
                  <a:pt x="5137538" y="5345745"/>
                  <a:pt x="5131585" y="5379976"/>
                </a:cubicBezTo>
                <a:cubicBezTo>
                  <a:pt x="5110253" y="5287702"/>
                  <a:pt x="5063868" y="5133914"/>
                  <a:pt x="4992431" y="4918609"/>
                </a:cubicBezTo>
                <a:close/>
                <a:moveTo>
                  <a:pt x="3972958" y="4918609"/>
                </a:moveTo>
                <a:lnTo>
                  <a:pt x="3972958" y="6026634"/>
                </a:lnTo>
                <a:lnTo>
                  <a:pt x="4656823" y="6026634"/>
                </a:lnTo>
                <a:lnTo>
                  <a:pt x="4656823" y="5734931"/>
                </a:lnTo>
                <a:lnTo>
                  <a:pt x="4325681" y="5734931"/>
                </a:lnTo>
                <a:lnTo>
                  <a:pt x="4325681" y="4918609"/>
                </a:lnTo>
                <a:close/>
                <a:moveTo>
                  <a:pt x="3261262" y="4918609"/>
                </a:moveTo>
                <a:lnTo>
                  <a:pt x="2945002" y="6026634"/>
                </a:lnTo>
                <a:lnTo>
                  <a:pt x="3307399" y="6026634"/>
                </a:lnTo>
                <a:lnTo>
                  <a:pt x="3332700" y="5897154"/>
                </a:lnTo>
                <a:lnTo>
                  <a:pt x="3514270" y="5897154"/>
                </a:lnTo>
                <a:lnTo>
                  <a:pt x="3541804" y="6026634"/>
                </a:lnTo>
                <a:lnTo>
                  <a:pt x="3914618" y="6026634"/>
                </a:lnTo>
                <a:lnTo>
                  <a:pt x="3599102" y="4918609"/>
                </a:lnTo>
                <a:close/>
                <a:moveTo>
                  <a:pt x="2039383" y="4918609"/>
                </a:moveTo>
                <a:lnTo>
                  <a:pt x="2039383" y="6026634"/>
                </a:lnTo>
                <a:lnTo>
                  <a:pt x="2351178" y="6026634"/>
                </a:lnTo>
                <a:lnTo>
                  <a:pt x="2351178" y="5537734"/>
                </a:lnTo>
                <a:lnTo>
                  <a:pt x="2564002" y="6026634"/>
                </a:lnTo>
                <a:lnTo>
                  <a:pt x="2889936" y="6026634"/>
                </a:lnTo>
                <a:lnTo>
                  <a:pt x="2889936" y="4918609"/>
                </a:lnTo>
                <a:lnTo>
                  <a:pt x="2577397" y="4918609"/>
                </a:lnTo>
                <a:lnTo>
                  <a:pt x="2577397" y="5391138"/>
                </a:lnTo>
                <a:lnTo>
                  <a:pt x="2380199" y="4918609"/>
                </a:lnTo>
                <a:close/>
                <a:moveTo>
                  <a:pt x="1327687" y="4918609"/>
                </a:moveTo>
                <a:lnTo>
                  <a:pt x="1011427" y="6026634"/>
                </a:lnTo>
                <a:lnTo>
                  <a:pt x="1373824" y="6026634"/>
                </a:lnTo>
                <a:lnTo>
                  <a:pt x="1399125" y="5897154"/>
                </a:lnTo>
                <a:lnTo>
                  <a:pt x="1580695" y="5897154"/>
                </a:lnTo>
                <a:lnTo>
                  <a:pt x="1608228" y="6026634"/>
                </a:lnTo>
                <a:lnTo>
                  <a:pt x="1981043" y="6026634"/>
                </a:lnTo>
                <a:lnTo>
                  <a:pt x="1665527" y="4918609"/>
                </a:lnTo>
                <a:close/>
                <a:moveTo>
                  <a:pt x="7618057" y="4902982"/>
                </a:moveTo>
                <a:cubicBezTo>
                  <a:pt x="7541658" y="4902982"/>
                  <a:pt x="7471957" y="4919229"/>
                  <a:pt x="7408953" y="4951723"/>
                </a:cubicBezTo>
                <a:cubicBezTo>
                  <a:pt x="7345949" y="4984217"/>
                  <a:pt x="7297332" y="5027874"/>
                  <a:pt x="7263102" y="5082692"/>
                </a:cubicBezTo>
                <a:cubicBezTo>
                  <a:pt x="7228871" y="5137510"/>
                  <a:pt x="7211756" y="5198654"/>
                  <a:pt x="7211756" y="5266122"/>
                </a:cubicBezTo>
                <a:cubicBezTo>
                  <a:pt x="7211756" y="5325654"/>
                  <a:pt x="7221305" y="5376503"/>
                  <a:pt x="7240405" y="5418672"/>
                </a:cubicBezTo>
                <a:cubicBezTo>
                  <a:pt x="7259505" y="5460839"/>
                  <a:pt x="7288030" y="5497054"/>
                  <a:pt x="7325981" y="5527316"/>
                </a:cubicBezTo>
                <a:cubicBezTo>
                  <a:pt x="7363933" y="5557578"/>
                  <a:pt x="7419371" y="5586103"/>
                  <a:pt x="7492297" y="5612892"/>
                </a:cubicBezTo>
                <a:cubicBezTo>
                  <a:pt x="7556789" y="5636209"/>
                  <a:pt x="7602677" y="5653820"/>
                  <a:pt x="7629963" y="5665726"/>
                </a:cubicBezTo>
                <a:cubicBezTo>
                  <a:pt x="7657248" y="5677632"/>
                  <a:pt x="7675852" y="5688175"/>
                  <a:pt x="7685773" y="5697352"/>
                </a:cubicBezTo>
                <a:cubicBezTo>
                  <a:pt x="7695695" y="5706530"/>
                  <a:pt x="7700656" y="5719056"/>
                  <a:pt x="7700656" y="5734931"/>
                </a:cubicBezTo>
                <a:cubicBezTo>
                  <a:pt x="7700656" y="5753783"/>
                  <a:pt x="7693215" y="5767426"/>
                  <a:pt x="7678332" y="5775859"/>
                </a:cubicBezTo>
                <a:cubicBezTo>
                  <a:pt x="7663449" y="5784293"/>
                  <a:pt x="7636164" y="5788509"/>
                  <a:pt x="7596477" y="5788509"/>
                </a:cubicBezTo>
                <a:cubicBezTo>
                  <a:pt x="7531488" y="5788509"/>
                  <a:pt x="7471337" y="5779084"/>
                  <a:pt x="7416022" y="5760232"/>
                </a:cubicBezTo>
                <a:cubicBezTo>
                  <a:pt x="7360708" y="5741381"/>
                  <a:pt x="7305518" y="5713599"/>
                  <a:pt x="7250451" y="5676888"/>
                </a:cubicBezTo>
                <a:lnTo>
                  <a:pt x="7216221" y="5676888"/>
                </a:lnTo>
                <a:lnTo>
                  <a:pt x="7216221" y="5962638"/>
                </a:lnTo>
                <a:cubicBezTo>
                  <a:pt x="7276248" y="5991412"/>
                  <a:pt x="7337019" y="6011627"/>
                  <a:pt x="7398535" y="6023286"/>
                </a:cubicBezTo>
                <a:cubicBezTo>
                  <a:pt x="7460051" y="6034944"/>
                  <a:pt x="7532977" y="6040773"/>
                  <a:pt x="7617313" y="6040773"/>
                </a:cubicBezTo>
                <a:cubicBezTo>
                  <a:pt x="7699664" y="6040773"/>
                  <a:pt x="7773334" y="6025022"/>
                  <a:pt x="7838322" y="5993520"/>
                </a:cubicBezTo>
                <a:cubicBezTo>
                  <a:pt x="7903310" y="5962018"/>
                  <a:pt x="7951928" y="5918114"/>
                  <a:pt x="7984174" y="5861807"/>
                </a:cubicBezTo>
                <a:cubicBezTo>
                  <a:pt x="8016420" y="5805501"/>
                  <a:pt x="8032543" y="5739148"/>
                  <a:pt x="8032543" y="5662749"/>
                </a:cubicBezTo>
                <a:cubicBezTo>
                  <a:pt x="8032543" y="5606691"/>
                  <a:pt x="8021256" y="5558074"/>
                  <a:pt x="7998685" y="5516898"/>
                </a:cubicBezTo>
                <a:cubicBezTo>
                  <a:pt x="7976112" y="5475722"/>
                  <a:pt x="7944859" y="5440252"/>
                  <a:pt x="7904923" y="5410486"/>
                </a:cubicBezTo>
                <a:cubicBezTo>
                  <a:pt x="7864987" y="5380720"/>
                  <a:pt x="7808557" y="5353187"/>
                  <a:pt x="7735631" y="5327886"/>
                </a:cubicBezTo>
                <a:cubicBezTo>
                  <a:pt x="7658240" y="5300601"/>
                  <a:pt x="7609127" y="5282246"/>
                  <a:pt x="7588291" y="5272820"/>
                </a:cubicBezTo>
                <a:cubicBezTo>
                  <a:pt x="7567455" y="5263394"/>
                  <a:pt x="7553441" y="5254464"/>
                  <a:pt x="7546247" y="5246031"/>
                </a:cubicBezTo>
                <a:cubicBezTo>
                  <a:pt x="7539053" y="5237597"/>
                  <a:pt x="7535457" y="5226435"/>
                  <a:pt x="7535457" y="5212544"/>
                </a:cubicBezTo>
                <a:cubicBezTo>
                  <a:pt x="7535457" y="5190220"/>
                  <a:pt x="7545131" y="5174841"/>
                  <a:pt x="7564479" y="5166408"/>
                </a:cubicBezTo>
                <a:cubicBezTo>
                  <a:pt x="7583826" y="5157974"/>
                  <a:pt x="7611359" y="5153757"/>
                  <a:pt x="7647078" y="5153757"/>
                </a:cubicBezTo>
                <a:cubicBezTo>
                  <a:pt x="7705121" y="5153757"/>
                  <a:pt x="7757831" y="5160703"/>
                  <a:pt x="7805208" y="5174593"/>
                </a:cubicBezTo>
                <a:cubicBezTo>
                  <a:pt x="7852585" y="5188484"/>
                  <a:pt x="7899094" y="5210808"/>
                  <a:pt x="7944734" y="5241566"/>
                </a:cubicBezTo>
                <a:lnTo>
                  <a:pt x="7977477" y="5241566"/>
                </a:lnTo>
                <a:lnTo>
                  <a:pt x="7977477" y="4975907"/>
                </a:lnTo>
                <a:cubicBezTo>
                  <a:pt x="7922410" y="4953087"/>
                  <a:pt x="7863127" y="4935228"/>
                  <a:pt x="7799627" y="4922329"/>
                </a:cubicBezTo>
                <a:cubicBezTo>
                  <a:pt x="7736127" y="4909431"/>
                  <a:pt x="7675603" y="4902982"/>
                  <a:pt x="7618057" y="4902982"/>
                </a:cubicBezTo>
                <a:close/>
                <a:moveTo>
                  <a:pt x="6046432" y="4902982"/>
                </a:moveTo>
                <a:cubicBezTo>
                  <a:pt x="5970033" y="4902982"/>
                  <a:pt x="5900332" y="4919229"/>
                  <a:pt x="5837328" y="4951723"/>
                </a:cubicBezTo>
                <a:cubicBezTo>
                  <a:pt x="5774324" y="4984217"/>
                  <a:pt x="5725707" y="5027874"/>
                  <a:pt x="5691477" y="5082692"/>
                </a:cubicBezTo>
                <a:cubicBezTo>
                  <a:pt x="5657246" y="5137510"/>
                  <a:pt x="5640131" y="5198654"/>
                  <a:pt x="5640131" y="5266122"/>
                </a:cubicBezTo>
                <a:cubicBezTo>
                  <a:pt x="5640131" y="5325654"/>
                  <a:pt x="5649680" y="5376503"/>
                  <a:pt x="5668780" y="5418672"/>
                </a:cubicBezTo>
                <a:cubicBezTo>
                  <a:pt x="5687880" y="5460839"/>
                  <a:pt x="5716405" y="5497054"/>
                  <a:pt x="5754356" y="5527316"/>
                </a:cubicBezTo>
                <a:cubicBezTo>
                  <a:pt x="5792308" y="5557578"/>
                  <a:pt x="5847746" y="5586103"/>
                  <a:pt x="5920672" y="5612892"/>
                </a:cubicBezTo>
                <a:cubicBezTo>
                  <a:pt x="5985164" y="5636209"/>
                  <a:pt x="6031052" y="5653820"/>
                  <a:pt x="6058338" y="5665726"/>
                </a:cubicBezTo>
                <a:cubicBezTo>
                  <a:pt x="6085623" y="5677632"/>
                  <a:pt x="6104226" y="5688175"/>
                  <a:pt x="6114148" y="5697352"/>
                </a:cubicBezTo>
                <a:cubicBezTo>
                  <a:pt x="6124070" y="5706530"/>
                  <a:pt x="6129031" y="5719056"/>
                  <a:pt x="6129031" y="5734931"/>
                </a:cubicBezTo>
                <a:cubicBezTo>
                  <a:pt x="6129031" y="5753783"/>
                  <a:pt x="6121590" y="5767426"/>
                  <a:pt x="6106707" y="5775859"/>
                </a:cubicBezTo>
                <a:cubicBezTo>
                  <a:pt x="6091824" y="5784293"/>
                  <a:pt x="6064539" y="5788509"/>
                  <a:pt x="6024852" y="5788509"/>
                </a:cubicBezTo>
                <a:cubicBezTo>
                  <a:pt x="5959863" y="5788509"/>
                  <a:pt x="5899712" y="5779084"/>
                  <a:pt x="5844397" y="5760232"/>
                </a:cubicBezTo>
                <a:cubicBezTo>
                  <a:pt x="5789083" y="5741381"/>
                  <a:pt x="5733893" y="5713599"/>
                  <a:pt x="5678826" y="5676888"/>
                </a:cubicBezTo>
                <a:lnTo>
                  <a:pt x="5644596" y="5676888"/>
                </a:lnTo>
                <a:lnTo>
                  <a:pt x="5644596" y="5962638"/>
                </a:lnTo>
                <a:cubicBezTo>
                  <a:pt x="5704623" y="5991412"/>
                  <a:pt x="5765394" y="6011627"/>
                  <a:pt x="5826910" y="6023286"/>
                </a:cubicBezTo>
                <a:cubicBezTo>
                  <a:pt x="5888426" y="6034944"/>
                  <a:pt x="5961351" y="6040773"/>
                  <a:pt x="6045688" y="6040773"/>
                </a:cubicBezTo>
                <a:cubicBezTo>
                  <a:pt x="6128039" y="6040773"/>
                  <a:pt x="6201709" y="6025022"/>
                  <a:pt x="6266697" y="5993520"/>
                </a:cubicBezTo>
                <a:cubicBezTo>
                  <a:pt x="6331685" y="5962018"/>
                  <a:pt x="6380303" y="5918114"/>
                  <a:pt x="6412549" y="5861807"/>
                </a:cubicBezTo>
                <a:cubicBezTo>
                  <a:pt x="6444795" y="5805501"/>
                  <a:pt x="6460918" y="5739148"/>
                  <a:pt x="6460918" y="5662749"/>
                </a:cubicBezTo>
                <a:cubicBezTo>
                  <a:pt x="6460918" y="5606691"/>
                  <a:pt x="6449631" y="5558074"/>
                  <a:pt x="6427060" y="5516898"/>
                </a:cubicBezTo>
                <a:cubicBezTo>
                  <a:pt x="6404487" y="5475722"/>
                  <a:pt x="6373233" y="5440252"/>
                  <a:pt x="6333298" y="5410486"/>
                </a:cubicBezTo>
                <a:cubicBezTo>
                  <a:pt x="6293362" y="5380720"/>
                  <a:pt x="6236932" y="5353187"/>
                  <a:pt x="6164006" y="5327886"/>
                </a:cubicBezTo>
                <a:cubicBezTo>
                  <a:pt x="6086615" y="5300601"/>
                  <a:pt x="6037502" y="5282246"/>
                  <a:pt x="6016666" y="5272820"/>
                </a:cubicBezTo>
                <a:cubicBezTo>
                  <a:pt x="5995830" y="5263394"/>
                  <a:pt x="5981815" y="5254464"/>
                  <a:pt x="5974622" y="5246031"/>
                </a:cubicBezTo>
                <a:cubicBezTo>
                  <a:pt x="5967428" y="5237597"/>
                  <a:pt x="5963832" y="5226435"/>
                  <a:pt x="5963832" y="5212544"/>
                </a:cubicBezTo>
                <a:cubicBezTo>
                  <a:pt x="5963832" y="5190220"/>
                  <a:pt x="5973506" y="5174841"/>
                  <a:pt x="5992854" y="5166408"/>
                </a:cubicBezTo>
                <a:cubicBezTo>
                  <a:pt x="6012201" y="5157974"/>
                  <a:pt x="6039734" y="5153757"/>
                  <a:pt x="6075453" y="5153757"/>
                </a:cubicBezTo>
                <a:cubicBezTo>
                  <a:pt x="6133496" y="5153757"/>
                  <a:pt x="6186206" y="5160703"/>
                  <a:pt x="6233583" y="5174593"/>
                </a:cubicBezTo>
                <a:cubicBezTo>
                  <a:pt x="6280960" y="5188484"/>
                  <a:pt x="6327469" y="5210808"/>
                  <a:pt x="6373109" y="5241566"/>
                </a:cubicBezTo>
                <a:lnTo>
                  <a:pt x="6405852" y="5241566"/>
                </a:lnTo>
                <a:lnTo>
                  <a:pt x="6405852" y="4975907"/>
                </a:lnTo>
                <a:cubicBezTo>
                  <a:pt x="6350785" y="4953087"/>
                  <a:pt x="6291502" y="4935228"/>
                  <a:pt x="6228002" y="4922329"/>
                </a:cubicBezTo>
                <a:cubicBezTo>
                  <a:pt x="6164502" y="4909431"/>
                  <a:pt x="6103978" y="4902982"/>
                  <a:pt x="6046432" y="4902982"/>
                </a:cubicBezTo>
                <a:close/>
                <a:moveTo>
                  <a:pt x="5961600" y="3569779"/>
                </a:moveTo>
                <a:cubicBezTo>
                  <a:pt x="5970529" y="3653619"/>
                  <a:pt x="5985412" y="3747381"/>
                  <a:pt x="6006248" y="3851064"/>
                </a:cubicBezTo>
                <a:lnTo>
                  <a:pt x="5910998" y="3851064"/>
                </a:lnTo>
                <a:cubicBezTo>
                  <a:pt x="5933322" y="3756311"/>
                  <a:pt x="5950189" y="3662549"/>
                  <a:pt x="5961600" y="3569779"/>
                </a:cubicBezTo>
                <a:close/>
                <a:moveTo>
                  <a:pt x="2313525" y="3569779"/>
                </a:moveTo>
                <a:cubicBezTo>
                  <a:pt x="2322455" y="3653619"/>
                  <a:pt x="2337337" y="3747381"/>
                  <a:pt x="2358173" y="3851064"/>
                </a:cubicBezTo>
                <a:lnTo>
                  <a:pt x="2262923" y="3851064"/>
                </a:lnTo>
                <a:cubicBezTo>
                  <a:pt x="2285247" y="3756311"/>
                  <a:pt x="2302115" y="3662549"/>
                  <a:pt x="2313525" y="3569779"/>
                </a:cubicBezTo>
                <a:close/>
                <a:moveTo>
                  <a:pt x="1254910" y="3367373"/>
                </a:moveTo>
                <a:lnTo>
                  <a:pt x="1290629" y="3367373"/>
                </a:lnTo>
                <a:cubicBezTo>
                  <a:pt x="1335278" y="3367373"/>
                  <a:pt x="1365911" y="3375435"/>
                  <a:pt x="1382530" y="3391558"/>
                </a:cubicBezTo>
                <a:cubicBezTo>
                  <a:pt x="1399150" y="3407681"/>
                  <a:pt x="1407459" y="3432609"/>
                  <a:pt x="1407459" y="3466344"/>
                </a:cubicBezTo>
                <a:cubicBezTo>
                  <a:pt x="1407459" y="3507024"/>
                  <a:pt x="1397165" y="3537037"/>
                  <a:pt x="1376577" y="3556385"/>
                </a:cubicBezTo>
                <a:cubicBezTo>
                  <a:pt x="1355989" y="3575732"/>
                  <a:pt x="1324363" y="3585406"/>
                  <a:pt x="1281699" y="3585406"/>
                </a:cubicBezTo>
                <a:lnTo>
                  <a:pt x="1254910" y="3585406"/>
                </a:lnTo>
                <a:close/>
                <a:moveTo>
                  <a:pt x="6394243" y="3089809"/>
                </a:moveTo>
                <a:lnTo>
                  <a:pt x="6719432" y="3810137"/>
                </a:lnTo>
                <a:lnTo>
                  <a:pt x="6719432" y="4197834"/>
                </a:lnTo>
                <a:lnTo>
                  <a:pt x="7072899" y="4197834"/>
                </a:lnTo>
                <a:lnTo>
                  <a:pt x="7072899" y="3798230"/>
                </a:lnTo>
                <a:lnTo>
                  <a:pt x="7400321" y="3089809"/>
                </a:lnTo>
                <a:lnTo>
                  <a:pt x="7043134" y="3089809"/>
                </a:lnTo>
                <a:cubicBezTo>
                  <a:pt x="7011384" y="3183074"/>
                  <a:pt x="6981618" y="3274728"/>
                  <a:pt x="6953837" y="3364769"/>
                </a:cubicBezTo>
                <a:cubicBezTo>
                  <a:pt x="6926055" y="3454810"/>
                  <a:pt x="6909188" y="3516945"/>
                  <a:pt x="6903235" y="3551176"/>
                </a:cubicBezTo>
                <a:cubicBezTo>
                  <a:pt x="6881903" y="3458902"/>
                  <a:pt x="6835518" y="3305114"/>
                  <a:pt x="6764081" y="3089809"/>
                </a:cubicBezTo>
                <a:close/>
                <a:moveTo>
                  <a:pt x="5794912" y="3089809"/>
                </a:moveTo>
                <a:lnTo>
                  <a:pt x="5478652" y="4197834"/>
                </a:lnTo>
                <a:lnTo>
                  <a:pt x="5841049" y="4197834"/>
                </a:lnTo>
                <a:lnTo>
                  <a:pt x="5866350" y="4068354"/>
                </a:lnTo>
                <a:lnTo>
                  <a:pt x="6047920" y="4068354"/>
                </a:lnTo>
                <a:lnTo>
                  <a:pt x="6075453" y="4197834"/>
                </a:lnTo>
                <a:lnTo>
                  <a:pt x="6448268" y="4197834"/>
                </a:lnTo>
                <a:lnTo>
                  <a:pt x="6132752" y="3089809"/>
                </a:lnTo>
                <a:close/>
                <a:moveTo>
                  <a:pt x="4225371" y="3089809"/>
                </a:moveTo>
                <a:lnTo>
                  <a:pt x="4418848" y="4197834"/>
                </a:lnTo>
                <a:lnTo>
                  <a:pt x="4751478" y="4197834"/>
                </a:lnTo>
                <a:lnTo>
                  <a:pt x="4855658" y="3598801"/>
                </a:lnTo>
                <a:lnTo>
                  <a:pt x="4963558" y="4197834"/>
                </a:lnTo>
                <a:lnTo>
                  <a:pt x="5294701" y="4197834"/>
                </a:lnTo>
                <a:lnTo>
                  <a:pt x="5491154" y="3089809"/>
                </a:lnTo>
                <a:lnTo>
                  <a:pt x="5203171" y="3089809"/>
                </a:lnTo>
                <a:lnTo>
                  <a:pt x="5116851" y="3709678"/>
                </a:lnTo>
                <a:lnTo>
                  <a:pt x="5013416" y="3089809"/>
                </a:lnTo>
                <a:lnTo>
                  <a:pt x="4697900" y="3089809"/>
                </a:lnTo>
                <a:lnTo>
                  <a:pt x="4607115" y="3714143"/>
                </a:lnTo>
                <a:lnTo>
                  <a:pt x="4530468" y="3089809"/>
                </a:lnTo>
                <a:close/>
                <a:moveTo>
                  <a:pt x="3534809" y="3089809"/>
                </a:moveTo>
                <a:lnTo>
                  <a:pt x="3534809" y="4197834"/>
                </a:lnTo>
                <a:lnTo>
                  <a:pt x="4218673" y="4197834"/>
                </a:lnTo>
                <a:lnTo>
                  <a:pt x="4218673" y="3906131"/>
                </a:lnTo>
                <a:lnTo>
                  <a:pt x="3887531" y="3906131"/>
                </a:lnTo>
                <a:lnTo>
                  <a:pt x="3887531" y="3089809"/>
                </a:lnTo>
                <a:close/>
                <a:moveTo>
                  <a:pt x="2828024" y="3089809"/>
                </a:moveTo>
                <a:lnTo>
                  <a:pt x="2828024" y="3377047"/>
                </a:lnTo>
                <a:lnTo>
                  <a:pt x="2944110" y="3377047"/>
                </a:lnTo>
                <a:lnTo>
                  <a:pt x="2944110" y="3910596"/>
                </a:lnTo>
                <a:lnTo>
                  <a:pt x="2828024" y="3910596"/>
                </a:lnTo>
                <a:lnTo>
                  <a:pt x="2828024" y="4197834"/>
                </a:lnTo>
                <a:lnTo>
                  <a:pt x="3415895" y="4197834"/>
                </a:lnTo>
                <a:lnTo>
                  <a:pt x="3415895" y="3910596"/>
                </a:lnTo>
                <a:lnTo>
                  <a:pt x="3299065" y="3910596"/>
                </a:lnTo>
                <a:lnTo>
                  <a:pt x="3299065" y="3377047"/>
                </a:lnTo>
                <a:lnTo>
                  <a:pt x="3415895" y="3377047"/>
                </a:lnTo>
                <a:lnTo>
                  <a:pt x="3415895" y="3089809"/>
                </a:lnTo>
                <a:close/>
                <a:moveTo>
                  <a:pt x="905908" y="3089809"/>
                </a:moveTo>
                <a:lnTo>
                  <a:pt x="905908" y="4197834"/>
                </a:lnTo>
                <a:lnTo>
                  <a:pt x="1254910" y="4197834"/>
                </a:lnTo>
                <a:lnTo>
                  <a:pt x="1254910" y="3808648"/>
                </a:lnTo>
                <a:lnTo>
                  <a:pt x="1269793" y="3808648"/>
                </a:lnTo>
                <a:lnTo>
                  <a:pt x="1458061" y="4197834"/>
                </a:lnTo>
                <a:lnTo>
                  <a:pt x="1830578" y="4197834"/>
                </a:lnTo>
                <a:lnTo>
                  <a:pt x="1869571" y="4197834"/>
                </a:lnTo>
                <a:lnTo>
                  <a:pt x="2192974" y="4197834"/>
                </a:lnTo>
                <a:lnTo>
                  <a:pt x="2218275" y="4068354"/>
                </a:lnTo>
                <a:lnTo>
                  <a:pt x="2399845" y="4068354"/>
                </a:lnTo>
                <a:lnTo>
                  <a:pt x="2427378" y="4197834"/>
                </a:lnTo>
                <a:lnTo>
                  <a:pt x="2800193" y="4197834"/>
                </a:lnTo>
                <a:lnTo>
                  <a:pt x="2484677" y="3089809"/>
                </a:lnTo>
                <a:lnTo>
                  <a:pt x="2146837" y="3089809"/>
                </a:lnTo>
                <a:lnTo>
                  <a:pt x="1843638" y="4152075"/>
                </a:lnTo>
                <a:lnTo>
                  <a:pt x="1600936" y="3723816"/>
                </a:lnTo>
                <a:cubicBezTo>
                  <a:pt x="1658483" y="3692563"/>
                  <a:pt x="1701023" y="3650519"/>
                  <a:pt x="1728556" y="3597685"/>
                </a:cubicBezTo>
                <a:cubicBezTo>
                  <a:pt x="1756089" y="3544851"/>
                  <a:pt x="1769856" y="3478250"/>
                  <a:pt x="1769856" y="3397883"/>
                </a:cubicBezTo>
                <a:cubicBezTo>
                  <a:pt x="1769856" y="3300153"/>
                  <a:pt x="1739098" y="3224374"/>
                  <a:pt x="1677582" y="3170548"/>
                </a:cubicBezTo>
                <a:cubicBezTo>
                  <a:pt x="1616067" y="3116722"/>
                  <a:pt x="1530490" y="3089809"/>
                  <a:pt x="1420854" y="3089809"/>
                </a:cubicBezTo>
                <a:close/>
                <a:moveTo>
                  <a:pt x="7818082" y="3074182"/>
                </a:moveTo>
                <a:cubicBezTo>
                  <a:pt x="7741683" y="3074182"/>
                  <a:pt x="7671982" y="3090429"/>
                  <a:pt x="7608978" y="3122923"/>
                </a:cubicBezTo>
                <a:cubicBezTo>
                  <a:pt x="7545974" y="3155417"/>
                  <a:pt x="7497357" y="3199073"/>
                  <a:pt x="7463127" y="3253892"/>
                </a:cubicBezTo>
                <a:cubicBezTo>
                  <a:pt x="7428896" y="3308710"/>
                  <a:pt x="7411781" y="3369854"/>
                  <a:pt x="7411781" y="3437322"/>
                </a:cubicBezTo>
                <a:cubicBezTo>
                  <a:pt x="7411781" y="3496854"/>
                  <a:pt x="7421330" y="3547703"/>
                  <a:pt x="7440430" y="3589871"/>
                </a:cubicBezTo>
                <a:cubicBezTo>
                  <a:pt x="7459530" y="3632039"/>
                  <a:pt x="7488055" y="3668254"/>
                  <a:pt x="7526006" y="3698516"/>
                </a:cubicBezTo>
                <a:cubicBezTo>
                  <a:pt x="7563958" y="3728777"/>
                  <a:pt x="7619396" y="3757303"/>
                  <a:pt x="7692322" y="3784092"/>
                </a:cubicBezTo>
                <a:cubicBezTo>
                  <a:pt x="7756814" y="3807408"/>
                  <a:pt x="7802702" y="3825020"/>
                  <a:pt x="7829988" y="3836926"/>
                </a:cubicBezTo>
                <a:cubicBezTo>
                  <a:pt x="7857273" y="3848832"/>
                  <a:pt x="7875877" y="3859374"/>
                  <a:pt x="7885798" y="3868552"/>
                </a:cubicBezTo>
                <a:cubicBezTo>
                  <a:pt x="7895721" y="3877730"/>
                  <a:pt x="7900681" y="3890256"/>
                  <a:pt x="7900681" y="3906131"/>
                </a:cubicBezTo>
                <a:cubicBezTo>
                  <a:pt x="7900681" y="3924983"/>
                  <a:pt x="7893240" y="3938625"/>
                  <a:pt x="7878357" y="3947059"/>
                </a:cubicBezTo>
                <a:cubicBezTo>
                  <a:pt x="7863474" y="3955492"/>
                  <a:pt x="7836189" y="3959709"/>
                  <a:pt x="7796502" y="3959709"/>
                </a:cubicBezTo>
                <a:cubicBezTo>
                  <a:pt x="7731514" y="3959709"/>
                  <a:pt x="7671362" y="3950283"/>
                  <a:pt x="7616047" y="3931432"/>
                </a:cubicBezTo>
                <a:cubicBezTo>
                  <a:pt x="7560733" y="3912580"/>
                  <a:pt x="7505543" y="3884799"/>
                  <a:pt x="7450476" y="3848088"/>
                </a:cubicBezTo>
                <a:lnTo>
                  <a:pt x="7416246" y="3848088"/>
                </a:lnTo>
                <a:lnTo>
                  <a:pt x="7416246" y="4133838"/>
                </a:lnTo>
                <a:cubicBezTo>
                  <a:pt x="7476273" y="4162611"/>
                  <a:pt x="7537044" y="4182827"/>
                  <a:pt x="7598560" y="4194485"/>
                </a:cubicBezTo>
                <a:cubicBezTo>
                  <a:pt x="7660076" y="4206144"/>
                  <a:pt x="7733002" y="4211973"/>
                  <a:pt x="7817338" y="4211973"/>
                </a:cubicBezTo>
                <a:cubicBezTo>
                  <a:pt x="7899689" y="4211973"/>
                  <a:pt x="7973359" y="4196222"/>
                  <a:pt x="8038347" y="4164720"/>
                </a:cubicBezTo>
                <a:cubicBezTo>
                  <a:pt x="8103336" y="4133218"/>
                  <a:pt x="8151953" y="4089314"/>
                  <a:pt x="8184199" y="4033007"/>
                </a:cubicBezTo>
                <a:cubicBezTo>
                  <a:pt x="8216445" y="3976700"/>
                  <a:pt x="8232568" y="3910348"/>
                  <a:pt x="8232568" y="3833949"/>
                </a:cubicBezTo>
                <a:cubicBezTo>
                  <a:pt x="8232568" y="3777891"/>
                  <a:pt x="8221281" y="3729274"/>
                  <a:pt x="8198710" y="3688098"/>
                </a:cubicBezTo>
                <a:cubicBezTo>
                  <a:pt x="8176138" y="3646922"/>
                  <a:pt x="8144884" y="3611451"/>
                  <a:pt x="8104948" y="3581686"/>
                </a:cubicBezTo>
                <a:cubicBezTo>
                  <a:pt x="8065013" y="3551920"/>
                  <a:pt x="8008582" y="3524387"/>
                  <a:pt x="7935656" y="3499086"/>
                </a:cubicBezTo>
                <a:cubicBezTo>
                  <a:pt x="7858265" y="3471801"/>
                  <a:pt x="7809152" y="3453445"/>
                  <a:pt x="7788316" y="3444020"/>
                </a:cubicBezTo>
                <a:cubicBezTo>
                  <a:pt x="7767480" y="3434594"/>
                  <a:pt x="7753466" y="3425664"/>
                  <a:pt x="7746272" y="3417231"/>
                </a:cubicBezTo>
                <a:cubicBezTo>
                  <a:pt x="7739079" y="3408797"/>
                  <a:pt x="7735482" y="3397635"/>
                  <a:pt x="7735482" y="3383744"/>
                </a:cubicBezTo>
                <a:cubicBezTo>
                  <a:pt x="7735482" y="3361420"/>
                  <a:pt x="7745156" y="3346041"/>
                  <a:pt x="7764504" y="3337607"/>
                </a:cubicBezTo>
                <a:cubicBezTo>
                  <a:pt x="7783851" y="3329174"/>
                  <a:pt x="7811384" y="3324957"/>
                  <a:pt x="7847103" y="3324957"/>
                </a:cubicBezTo>
                <a:cubicBezTo>
                  <a:pt x="7905146" y="3324957"/>
                  <a:pt x="7957856" y="3331903"/>
                  <a:pt x="8005233" y="3345793"/>
                </a:cubicBezTo>
                <a:cubicBezTo>
                  <a:pt x="8052610" y="3359684"/>
                  <a:pt x="8099119" y="3382008"/>
                  <a:pt x="8144759" y="3412766"/>
                </a:cubicBezTo>
                <a:lnTo>
                  <a:pt x="8177502" y="3412766"/>
                </a:lnTo>
                <a:lnTo>
                  <a:pt x="8177502" y="3147108"/>
                </a:lnTo>
                <a:cubicBezTo>
                  <a:pt x="8122435" y="3124287"/>
                  <a:pt x="8063152" y="3106428"/>
                  <a:pt x="7999652" y="3093530"/>
                </a:cubicBezTo>
                <a:cubicBezTo>
                  <a:pt x="7936152" y="3080631"/>
                  <a:pt x="7875628" y="3074182"/>
                  <a:pt x="7818082" y="3074182"/>
                </a:cubicBezTo>
                <a:close/>
                <a:moveTo>
                  <a:pt x="4648489" y="1261009"/>
                </a:moveTo>
                <a:lnTo>
                  <a:pt x="4648489" y="2369034"/>
                </a:lnTo>
                <a:lnTo>
                  <a:pt x="5001212" y="2369034"/>
                </a:lnTo>
                <a:lnTo>
                  <a:pt x="5001212" y="2021521"/>
                </a:lnTo>
                <a:lnTo>
                  <a:pt x="5010886" y="2006638"/>
                </a:lnTo>
                <a:lnTo>
                  <a:pt x="5192456" y="2369034"/>
                </a:lnTo>
                <a:lnTo>
                  <a:pt x="5604710" y="2369034"/>
                </a:lnTo>
                <a:lnTo>
                  <a:pt x="5238593" y="1749165"/>
                </a:lnTo>
                <a:lnTo>
                  <a:pt x="5562294" y="1261009"/>
                </a:lnTo>
                <a:lnTo>
                  <a:pt x="5198409" y="1261009"/>
                </a:lnTo>
                <a:lnTo>
                  <a:pt x="5001212" y="1582478"/>
                </a:lnTo>
                <a:lnTo>
                  <a:pt x="5001212" y="1261009"/>
                </a:lnTo>
                <a:close/>
                <a:moveTo>
                  <a:pt x="3614580" y="1261009"/>
                </a:moveTo>
                <a:lnTo>
                  <a:pt x="3614580" y="1952315"/>
                </a:lnTo>
                <a:cubicBezTo>
                  <a:pt x="3614580" y="2084277"/>
                  <a:pt x="3653400" y="2188580"/>
                  <a:pt x="3731038" y="2265227"/>
                </a:cubicBezTo>
                <a:cubicBezTo>
                  <a:pt x="3808677" y="2341873"/>
                  <a:pt x="3917198" y="2380196"/>
                  <a:pt x="4056600" y="2380196"/>
                </a:cubicBezTo>
                <a:cubicBezTo>
                  <a:pt x="4196498" y="2380196"/>
                  <a:pt x="4306259" y="2341625"/>
                  <a:pt x="4385882" y="2264483"/>
                </a:cubicBezTo>
                <a:cubicBezTo>
                  <a:pt x="4465505" y="2187340"/>
                  <a:pt x="4505316" y="2083036"/>
                  <a:pt x="4505316" y="1951571"/>
                </a:cubicBezTo>
                <a:lnTo>
                  <a:pt x="4504572" y="1261009"/>
                </a:lnTo>
                <a:lnTo>
                  <a:pt x="4145897" y="1261009"/>
                </a:lnTo>
                <a:lnTo>
                  <a:pt x="4145897" y="1937433"/>
                </a:lnTo>
                <a:cubicBezTo>
                  <a:pt x="4145897" y="1999444"/>
                  <a:pt x="4138951" y="2041612"/>
                  <a:pt x="4125061" y="2063937"/>
                </a:cubicBezTo>
                <a:cubicBezTo>
                  <a:pt x="4111170" y="2086261"/>
                  <a:pt x="4087357" y="2097423"/>
                  <a:pt x="4053624" y="2097423"/>
                </a:cubicBezTo>
                <a:cubicBezTo>
                  <a:pt x="3994588" y="2097423"/>
                  <a:pt x="3965071" y="2044589"/>
                  <a:pt x="3965071" y="1938921"/>
                </a:cubicBezTo>
                <a:lnTo>
                  <a:pt x="3965071" y="1261009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6857421"/>
                </a:lnTo>
                <a:lnTo>
                  <a:pt x="0" y="685742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87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4CDE0-BD21-65F3-452E-5FDF0954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3ED1AC67-A06D-0DD3-7011-5A95F223D68D}"/>
              </a:ext>
            </a:extLst>
          </p:cNvPr>
          <p:cNvGrpSpPr/>
          <p:nvPr/>
        </p:nvGrpSpPr>
        <p:grpSpPr>
          <a:xfrm>
            <a:off x="608309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3A24D93-67B2-723C-28CC-F42CE9CFAD51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5D026C-64AB-CAF1-BEE6-0CCACF0EB3AE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EB33636F-3276-67A7-E5E8-F448CB440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C237E431-FE2C-948B-6807-031744EBC171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E8135E9-B69E-40B5-2FB9-655202B92361}"/>
              </a:ext>
            </a:extLst>
          </p:cNvPr>
          <p:cNvGrpSpPr/>
          <p:nvPr/>
        </p:nvGrpSpPr>
        <p:grpSpPr>
          <a:xfrm>
            <a:off x="509720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76687C5-F675-818C-0394-D3BB7FA2549C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55D1F11-6AA0-DC56-20C9-B093E897D082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CD09A8B3-F11A-47BC-5C61-3A828696E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537AD15-7C2B-6732-89A1-8497A8343F3B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AE9CA4A-DBE0-47BA-B3D7-B3A9EB1C18CA}"/>
              </a:ext>
            </a:extLst>
          </p:cNvPr>
          <p:cNvGrpSpPr/>
          <p:nvPr/>
        </p:nvGrpSpPr>
        <p:grpSpPr>
          <a:xfrm>
            <a:off x="394055" y="0"/>
            <a:ext cx="1655934" cy="5143500"/>
            <a:chOff x="7315200" y="0"/>
            <a:chExt cx="1986042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071D2EE-87A7-600B-AED2-BA2463F2FE49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BB3EE4D-029C-A9F1-1346-CEA6EB808257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B770EDB4-BF72-E66D-EEEB-A538AA337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4D19D663-306F-5CED-BF5C-3AB0C6BFC774}"/>
                </a:ext>
              </a:extLst>
            </p:cNvPr>
            <p:cNvSpPr/>
            <p:nvPr/>
          </p:nvSpPr>
          <p:spPr>
            <a:xfrm rot="5400000">
              <a:off x="8932532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2D1993A-91FE-3102-7DA0-2A66C906276E}"/>
              </a:ext>
            </a:extLst>
          </p:cNvPr>
          <p:cNvGrpSpPr/>
          <p:nvPr/>
        </p:nvGrpSpPr>
        <p:grpSpPr>
          <a:xfrm>
            <a:off x="278651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B7C3BE-354B-2E1F-A7DE-B242ACA3B863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5D02A9-D26F-2665-E56A-01DF826A3329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59830911-B266-9EBC-19A7-553FA661E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CDE9D112-312B-A437-5AF2-EC10D585FC9E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54147D-EC0C-E064-3E12-90AFC9A4F902}"/>
              </a:ext>
            </a:extLst>
          </p:cNvPr>
          <p:cNvGrpSpPr/>
          <p:nvPr/>
        </p:nvGrpSpPr>
        <p:grpSpPr>
          <a:xfrm>
            <a:off x="148035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4ADE52C-86EC-446D-233D-9455B7916D7F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331A0D6-7E0B-BC0F-8615-BC137B392E7E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598893F2-A344-D701-A836-9420374AF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4CA5F07A-498D-99F8-451E-05C0832DF331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1431B1D-110E-97C8-D0DB-46A59163A462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6ACE60-A38D-101D-C512-69360D000BE9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60DB84-AE93-DC01-1CF1-6E061BDA6D91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ED733D2A-2F35-E346-136E-1E64473F1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1E88F7-8B33-6326-3525-50BDB4E5AC03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39559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7F7F6-EDA5-DE13-BF76-058241B7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33D4B233-A730-561C-A1A7-A0E5E968B439}"/>
              </a:ext>
            </a:extLst>
          </p:cNvPr>
          <p:cNvGrpSpPr/>
          <p:nvPr/>
        </p:nvGrpSpPr>
        <p:grpSpPr>
          <a:xfrm>
            <a:off x="7606709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CE9A144-5490-E00D-8BE6-46CAD4A7563F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F570527-6C9A-4BD0-8A0B-16B344E8B775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B833C996-F9F6-11A7-373E-C934EA494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B71F6E9B-E7F4-70E7-A246-C9B258BC1B42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8B57FE2-4372-E691-8D94-65A948AD6DC4}"/>
              </a:ext>
            </a:extLst>
          </p:cNvPr>
          <p:cNvGrpSpPr/>
          <p:nvPr/>
        </p:nvGrpSpPr>
        <p:grpSpPr>
          <a:xfrm>
            <a:off x="6075319" y="0"/>
            <a:ext cx="1666152" cy="5143500"/>
            <a:chOff x="5495009" y="0"/>
            <a:chExt cx="1992258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B17449-C72B-495E-861A-1B5D6E661BF6}"/>
                </a:ext>
              </a:extLst>
            </p:cNvPr>
            <p:cNvSpPr/>
            <p:nvPr/>
          </p:nvSpPr>
          <p:spPr>
            <a:xfrm>
              <a:off x="5495009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92ED9C4-EF35-B384-2B93-849519828B43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5211FF55-E769-B596-EF38-087EE6CDD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89B038AA-E17F-6581-3D11-5A8DB57FDEBF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5D757BE-376D-3C79-5696-A1E73B031BC4}"/>
              </a:ext>
            </a:extLst>
          </p:cNvPr>
          <p:cNvGrpSpPr/>
          <p:nvPr/>
        </p:nvGrpSpPr>
        <p:grpSpPr>
          <a:xfrm>
            <a:off x="4555655" y="0"/>
            <a:ext cx="1655934" cy="5143500"/>
            <a:chOff x="7315200" y="0"/>
            <a:chExt cx="1986042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EAF7881-CD0F-99BA-5B2B-04DB4A839F42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57A96AD-C964-C9D3-DA10-4509F43F50A8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D36F139A-D0AB-240F-BA2D-B8393F805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99ED4885-645A-FB3F-EAB4-459741710E44}"/>
                </a:ext>
              </a:extLst>
            </p:cNvPr>
            <p:cNvSpPr/>
            <p:nvPr/>
          </p:nvSpPr>
          <p:spPr>
            <a:xfrm rot="5400000">
              <a:off x="8932532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7005B2-360D-527E-6EE6-E8A362A1419C}"/>
              </a:ext>
            </a:extLst>
          </p:cNvPr>
          <p:cNvGrpSpPr/>
          <p:nvPr/>
        </p:nvGrpSpPr>
        <p:grpSpPr>
          <a:xfrm>
            <a:off x="3029051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2780A6-D4B9-696C-0CC3-FF004A7B87CD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F5C32F8-3AF7-0E49-D28C-BD67A34FF197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4A7F4269-3236-C53E-F88F-018DA5B72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FABD66EB-977C-9661-D749-F16AA2144D3E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275FBE-2131-DD21-D086-B2FFA87039BD}"/>
              </a:ext>
            </a:extLst>
          </p:cNvPr>
          <p:cNvGrpSpPr/>
          <p:nvPr/>
        </p:nvGrpSpPr>
        <p:grpSpPr>
          <a:xfrm>
            <a:off x="1544835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7C1AA7-44D6-8A3B-2329-4DE122F65F6D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C6516C-675F-BA53-6746-DF82437EC8BC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1E9B9FDA-C2A3-6464-046F-0FD37FAE9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ED1C147C-B9EA-5EC5-972C-37333974D1F3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E72CE97-680C-3B29-4BBD-A903462C78C1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82D9B92-1650-EE8C-B1AD-CEC531D42C13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344E3C-89E4-C162-0ABE-AC2D9E8590B3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E58B2A41-EF59-617E-8412-8B6147D30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8E78F16-3A07-450E-D2CF-C5EE921B4340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40084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56939-0BE5-10CD-E8DA-26809445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F4CC4993-94EC-4463-2475-357FDC165FC9}"/>
              </a:ext>
            </a:extLst>
          </p:cNvPr>
          <p:cNvSpPr txBox="1"/>
          <p:nvPr/>
        </p:nvSpPr>
        <p:spPr>
          <a:xfrm>
            <a:off x="2913479" y="174471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305D87-F1FC-975F-2BD9-B50F80C0640C}"/>
              </a:ext>
            </a:extLst>
          </p:cNvPr>
          <p:cNvGrpSpPr/>
          <p:nvPr/>
        </p:nvGrpSpPr>
        <p:grpSpPr>
          <a:xfrm rot="16014789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102705C-3D7F-285E-8B5B-08D51DA77620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CAE855E-7AA3-EE88-5CC0-3D66BD0F1CE3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0F28FA79-E531-F580-0C6A-2944AAC4353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5EDD16-A3A1-3F3D-FF79-0D08E2ADBA4A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B1471FEA-0EC8-8A99-2FE9-D8ED7EB8619C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9AE41549-E8D1-C97A-52C2-663B1673B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EACFFE8-58FA-1EF7-F07B-0F5E89EC173A}"/>
              </a:ext>
            </a:extLst>
          </p:cNvPr>
          <p:cNvGrpSpPr/>
          <p:nvPr/>
        </p:nvGrpSpPr>
        <p:grpSpPr>
          <a:xfrm rot="15992871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1AE5CBA-18C0-1309-257D-80FA97EDC042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B01A1A67-FC90-B4B3-8EF1-D6D3ED8C6D1C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D9BD17F4-619D-3EFA-55BA-8EE4E2B25A3D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93CC20-918F-D5FF-BCD1-154941329888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823110C-2F4E-4A01-9567-42B8412A45E7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9EA756F2-6C3F-0D83-3F95-13142FB56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4EB314-D9E5-EEA3-348B-8F823095594F}"/>
              </a:ext>
            </a:extLst>
          </p:cNvPr>
          <p:cNvGrpSpPr/>
          <p:nvPr/>
        </p:nvGrpSpPr>
        <p:grpSpPr>
          <a:xfrm rot="15987811"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613A4F5-CF59-FACF-99CE-23A621DCD521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A266AAE-AC73-2CAE-678D-0261C0A8F7B5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1AE0DD6-9744-0C14-0ED8-EF3992A394CB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1B0433-D22B-4363-14EE-66A297F0A88A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E0A4473-C10D-48FD-C5EB-8934F00DB376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8CF20EC7-1678-B36A-485D-A21E1C0628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230263-7B5F-2D10-8E1F-E85C4D080FE0}"/>
              </a:ext>
            </a:extLst>
          </p:cNvPr>
          <p:cNvGrpSpPr/>
          <p:nvPr/>
        </p:nvGrpSpPr>
        <p:grpSpPr>
          <a:xfrm rot="15953837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8DB21F5-CEF6-3D57-8AE7-519CB124EB06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2C2F727-BD7E-3196-FC08-E9F5F9978D1E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D3DF7A6-91F9-FAD8-C36E-3472D854749D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0B670D5-30C7-C31B-3283-F456F88E177D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D6B1014-F495-BA66-A36A-CAC54EE7B58B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6F6475FC-2893-3722-9A20-C61511EE0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255D6CDC-0525-5AF8-CFC8-2875376FA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C70D0B1-9D2D-9CB5-3F7B-6843303AED4E}"/>
              </a:ext>
            </a:extLst>
          </p:cNvPr>
          <p:cNvGrpSpPr/>
          <p:nvPr/>
        </p:nvGrpSpPr>
        <p:grpSpPr>
          <a:xfrm rot="1600448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D4A6EBF-51E4-F0F0-E654-AF2AEF602CB6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A3C4036-8EB0-7A6F-91F0-C8C4518F523F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3FA6A53F-F0F5-6230-8E12-04EF67505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B70D89-9E1A-F96E-82AF-4370296F192D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4EE00E-FC9A-A245-B1D2-A30284DED19E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91554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5509D-BC54-3F7B-301C-295A72BEE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28869F92-EF8D-A453-8554-331628E938D8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C0B6FE3-B24E-D94E-3B3B-21A27D2C6B40}"/>
              </a:ext>
            </a:extLst>
          </p:cNvPr>
          <p:cNvGrpSpPr/>
          <p:nvPr/>
        </p:nvGrpSpPr>
        <p:grpSpPr>
          <a:xfrm rot="2100000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7D20812-995D-8AB6-A68C-B66F33598B8D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A3571099-DE46-48C7-FB01-BDDCB2946F28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23DD100B-9F76-E356-E5C4-F4E1A447748A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DABA460-2270-75EB-FA6B-12FF63E0E896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2A6BBCB-9E5F-7496-C9CF-E6E3FF374537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A02472A6-422E-1B1F-4719-AB69D7521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8AE3075-9FA4-93AD-13F1-8EB4968FC8D6}"/>
              </a:ext>
            </a:extLst>
          </p:cNvPr>
          <p:cNvGrpSpPr/>
          <p:nvPr/>
        </p:nvGrpSpPr>
        <p:grpSpPr>
          <a:xfrm rot="1200000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2198823-C0EC-708A-549E-3BC32A329563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4ED4F2D-64B5-B648-85D6-9DB1015255AA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72EF1A6-008C-6BA7-9482-BEEB4902E030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7B2E51-46EA-8F13-7AE9-481B4EE1CB0F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EE2D0C0-3004-B70D-1901-84B35270811A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DA50D70E-D8F2-C659-9741-841D1DBD2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BB7DC2-DC23-880F-7588-D51FC47336B3}"/>
              </a:ext>
            </a:extLst>
          </p:cNvPr>
          <p:cNvGrpSpPr/>
          <p:nvPr/>
        </p:nvGrpSpPr>
        <p:grpSpPr>
          <a:xfrm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DD11BF8-24B3-6876-F6BE-DA012B2EF1E7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7BB95BD-53DA-0DCE-D448-A4F7562880B4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118FA495-821C-7650-D331-61C3966BF8A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11B2B68-5DF4-7400-22C3-BE044E496B34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DC42691-4353-DD85-80E0-AB98AA857EC0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8AB754C5-DCC4-3472-4EF6-572182A2B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3336D5-EA74-3E30-4D34-F2D9CB9429D9}"/>
              </a:ext>
            </a:extLst>
          </p:cNvPr>
          <p:cNvGrpSpPr/>
          <p:nvPr/>
        </p:nvGrpSpPr>
        <p:grpSpPr>
          <a:xfrm rot="20400000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5386104-6B12-9F62-F44D-05E280C3FFBF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ADFFBC59-D17C-2DD4-AA86-F593384AECA7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8F1FC4C-ACAA-AA34-0763-62AB17E4A511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180E88-C182-BEE4-116A-51AB738AD810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600DECA-59A9-12DD-E6AE-EF32875D697C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574082DC-3982-3FAF-2811-01AC6C5F1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19DC0C4C-DBDE-6B5F-1C22-21F323437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7701FF2-C055-C7E2-410C-AC02ACE0BFC9}"/>
              </a:ext>
            </a:extLst>
          </p:cNvPr>
          <p:cNvGrpSpPr/>
          <p:nvPr/>
        </p:nvGrpSpPr>
        <p:grpSpPr>
          <a:xfrm rot="1950000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D502724-20B1-AC17-7AEA-AE5E5A35B315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8BE4D43-4B84-D533-177B-BECF5B37345F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16929D08-854B-72A6-222C-A95EBD6E9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984146-57CA-C25C-4A71-54A960DAD657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8D481EC-0BD7-DED8-320B-D4DF25B3B948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27887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1D03A-B8B7-5C69-5D8F-D42F31FF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D6B5133D-4615-573D-451A-FDF67633C3FE}"/>
              </a:ext>
            </a:extLst>
          </p:cNvPr>
          <p:cNvGrpSpPr/>
          <p:nvPr/>
        </p:nvGrpSpPr>
        <p:grpSpPr>
          <a:xfrm rot="2247297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5D26DBE-50EE-9A22-6C8D-9CC501144E2B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2F3E5BFC-C4CD-77E5-E434-4FBBBDEEC155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992F1C7-9130-748C-F6B1-72B274DB3C3C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5D060EB-A9A7-F2FF-187B-00A610058DAA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869478A-1F1D-6A21-3600-D646DEF8EF97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010FA817-F68D-FFFA-DFED-940A51D5A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BABE7B-285E-F4BD-ADAD-66564B6BE63B}"/>
              </a:ext>
            </a:extLst>
          </p:cNvPr>
          <p:cNvGrpSpPr/>
          <p:nvPr/>
        </p:nvGrpSpPr>
        <p:grpSpPr>
          <a:xfrm rot="2268930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6449C01-B258-6E4B-D250-7FAAFCCF839E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674242E-10CC-781A-0119-1C96AF477AB5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FFBB15B-3F74-4FB7-23F9-3B79A985F134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B6BDC9-40F6-E6F7-3EA2-71894E5F6E80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530BC90-83F0-C5AE-9966-4EA05FC7C10F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1691FAAF-CF0D-B261-EC05-7CB4F8E1F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654853-A5E6-40BB-4E47-87FFF64951AA}"/>
              </a:ext>
            </a:extLst>
          </p:cNvPr>
          <p:cNvGrpSpPr/>
          <p:nvPr/>
        </p:nvGrpSpPr>
        <p:grpSpPr>
          <a:xfrm rot="2241533"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67DBBFE-512A-6D52-E1D9-765E6044BED4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91DFC83-0AF5-A69E-43A7-A79BA0CBA85E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D1527103-3DFC-F54A-78CB-4E829A1BB88C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332305-9912-C2CC-B61B-B7DD19C83470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0693869-0321-1C75-AC9B-D8908A16672B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C9886777-3764-BF82-3E69-46E541103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563C70-E878-1C7B-BA38-C6F25A84D877}"/>
              </a:ext>
            </a:extLst>
          </p:cNvPr>
          <p:cNvGrpSpPr/>
          <p:nvPr/>
        </p:nvGrpSpPr>
        <p:grpSpPr>
          <a:xfrm rot="2249425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27B262-9433-A730-064B-CF14144FA532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8421D11-4B5A-E6DD-F320-B267785646DD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87AD97D-2E73-CA98-2ED5-A94F45492008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093687-D7C8-BD06-5D22-C03C415407F2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D1A39A0-0B90-C162-C505-2E1181FB20E1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7EB700E7-FA70-C963-5B76-6EFEB53B9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4F833C57-396D-83C5-1269-5667EFE15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BDF4172-7E48-B6C7-1109-CC52DB43F33D}"/>
              </a:ext>
            </a:extLst>
          </p:cNvPr>
          <p:cNvGrpSpPr/>
          <p:nvPr/>
        </p:nvGrpSpPr>
        <p:grpSpPr>
          <a:xfrm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6213095-EEDD-241A-E8D8-5507ABDC1867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58B8BA-2E67-B356-367F-3C3AE228307B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514A91EC-A977-565D-FA58-0C3E7FF99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5B5839-4A01-FC0F-7B35-21CFDB078DEB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6492B78-5EF1-2CD7-86DF-6CE2BDD98021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A5D3A2A-A4A3-8711-508D-54975630541B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</p:spTree>
    <p:extLst>
      <p:ext uri="{BB962C8B-B14F-4D97-AF65-F5344CB8AC3E}">
        <p14:creationId xmlns:p14="http://schemas.microsoft.com/office/powerpoint/2010/main" val="822339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C709D-7B82-923C-E540-129ABC520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969544EC-41FE-CBBA-920A-985D595D0E69}"/>
              </a:ext>
            </a:extLst>
          </p:cNvPr>
          <p:cNvGrpSpPr/>
          <p:nvPr/>
        </p:nvGrpSpPr>
        <p:grpSpPr>
          <a:xfrm rot="2247297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5CA6FD5-A3E3-6271-72ED-7EF8CA177351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776AE897-2774-4E19-A672-95AFBE4B9E4B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CEAC803C-26D5-4CF3-3303-95406EF3A76C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5310A74-BC47-AAFA-0901-EF21B51A87E1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34E00B-1148-8ABA-0063-F7EBD3275692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A57FB0D7-77D2-DDAA-DBC7-E088306E8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061787-F66D-74AB-11D3-21FCAD263F8D}"/>
              </a:ext>
            </a:extLst>
          </p:cNvPr>
          <p:cNvGrpSpPr/>
          <p:nvPr/>
        </p:nvGrpSpPr>
        <p:grpSpPr>
          <a:xfrm rot="2268930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0344EE-ECCE-DDA7-CE32-4A64B9CD2695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9EB37950-E1ED-3766-2F3D-ECBFA095DFD1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B73F4BD2-6AAA-F5FC-3B3F-93BBF73A9646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578B2C-0346-59BF-3AE2-3DEF63216BFB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A254397-2734-3A17-076F-06416F388940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47E50450-C596-D048-0487-C1A9C8413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69F1E1-3C90-ACB1-6D40-7A7A28722B6F}"/>
              </a:ext>
            </a:extLst>
          </p:cNvPr>
          <p:cNvGrpSpPr/>
          <p:nvPr/>
        </p:nvGrpSpPr>
        <p:grpSpPr>
          <a:xfrm rot="2241533"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F5FA172-E368-B55C-277C-E6FC01A30DAA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7579E12-3316-DFD2-A3B7-11E4C4CBB12F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751B28F9-2A06-176E-BAE7-CC0C2636BD5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6031D9C-D4D2-2071-9FFD-754B65A6B871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A9E6C36-8523-CBC7-FB77-5D9877B98A2F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65004B1D-E118-8CF7-4820-62457658E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69749B1-8C06-F627-9720-8AE3FC1292E9}"/>
              </a:ext>
            </a:extLst>
          </p:cNvPr>
          <p:cNvGrpSpPr/>
          <p:nvPr/>
        </p:nvGrpSpPr>
        <p:grpSpPr>
          <a:xfrm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72B483F-1555-8EA0-4265-3BC1AD91032F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360A6C8-20CF-4BB3-AD74-8FAEBCAA0FC2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1E83C273-906F-CD09-CBE2-D4D97934F2E5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9D4EFA-B644-ECD8-0446-18BF7A3B46F0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DA3CBF9-2058-7581-EC58-82B0CE75F275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920B3532-E302-AE2A-F8CA-5DBC9942D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B0BE0F00-0356-4E10-180B-E158DA7C3E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A42AB6F-66FA-1791-F6F9-F69549BD7BC8}"/>
              </a:ext>
            </a:extLst>
          </p:cNvPr>
          <p:cNvGrpSpPr/>
          <p:nvPr/>
        </p:nvGrpSpPr>
        <p:grpSpPr>
          <a:xfrm rot="1932000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37BC2AB-00DF-BDD4-C090-738543E5CCCC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0228BB4-CABB-BC55-BDA5-735D569D9EEF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62F1E14B-5AE1-B175-0420-AEFBBE2F6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9CB314-EC8F-7F37-DD60-3AA80191C443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E18428-5847-A2BF-D660-B0F7244C150D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236FE67-786B-8C35-DF2D-95B1B9565A7A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</p:spTree>
    <p:extLst>
      <p:ext uri="{BB962C8B-B14F-4D97-AF65-F5344CB8AC3E}">
        <p14:creationId xmlns:p14="http://schemas.microsoft.com/office/powerpoint/2010/main" val="13241933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856E-399F-69A6-ED40-9FAB07D5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134CFAB4-5EAD-4E14-1481-80E7AA125A46}"/>
              </a:ext>
            </a:extLst>
          </p:cNvPr>
          <p:cNvGrpSpPr/>
          <p:nvPr/>
        </p:nvGrpSpPr>
        <p:grpSpPr>
          <a:xfrm rot="2247297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C227356-45EB-4471-256D-86F8FBC726F6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7DE9D3A2-985A-21DB-0568-5BD47F48CE4A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9654A1C3-33A6-B2BA-6783-21DAFF9ABE1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D35A518-2ECF-F6DB-86EE-D07E559002FA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E0BF793-BFAB-5CBB-18AE-5C2D08E7C9B8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E2861F47-9217-2190-D1C5-8868B26E8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2DFF1F-B207-9E9C-3212-9451DD495579}"/>
              </a:ext>
            </a:extLst>
          </p:cNvPr>
          <p:cNvGrpSpPr/>
          <p:nvPr/>
        </p:nvGrpSpPr>
        <p:grpSpPr>
          <a:xfrm rot="2253059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ADC7D26-72A4-5D34-3985-38006C9243FE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68F0C813-631C-70C7-676B-CD19FD3841A1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8EDE4BF-DA39-66FC-FEF4-D0A3A8A3549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CA15340-1386-885F-4ECB-20EF81FFC124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D3DFBE1-B665-E14F-106B-01A653A6FE12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E08728A5-0293-6D0F-0713-3A7F8BD4B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FAA6BB4-75DA-6D37-D861-CBB13524BC6B}"/>
              </a:ext>
            </a:extLst>
          </p:cNvPr>
          <p:cNvGrpSpPr/>
          <p:nvPr/>
        </p:nvGrpSpPr>
        <p:grpSpPr>
          <a:xfrm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A752714-FF55-3BF3-7019-30CBD073724A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8715A21-2455-797F-ADCB-965888822522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0AE818DD-E274-5DCB-3428-EF3399A3DB3A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8A43B6-E4F8-C77D-2C2A-434F45DDBDCD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FADBA56-AA61-3E6D-850B-C01B6365B811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6DF7221D-5BF4-3E15-5F49-A6CD894A1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C02E22-5F16-A2B9-763F-4562837B3E16}"/>
              </a:ext>
            </a:extLst>
          </p:cNvPr>
          <p:cNvGrpSpPr/>
          <p:nvPr/>
        </p:nvGrpSpPr>
        <p:grpSpPr>
          <a:xfrm rot="19320000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4484088-CF72-6F9E-7ADC-88711CDF1472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CD238C7-3E00-735D-4714-D381E4B48886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708E1F0-8F4D-C227-81A8-FBBA6F65A161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4FD0-A67A-20B4-4011-6C77FDFF9E2E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B6388E6-9B11-366B-141B-A84F0B2FAF05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CDCF968E-9A11-0D13-F644-520128A16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4D549D27-C179-A222-F85E-1D7C81E06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752C795-9AB4-4393-7336-9473E5D4C139}"/>
              </a:ext>
            </a:extLst>
          </p:cNvPr>
          <p:cNvGrpSpPr/>
          <p:nvPr/>
        </p:nvGrpSpPr>
        <p:grpSpPr>
          <a:xfrm rot="1932000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956F4B0-C91B-8F9C-FE56-E511DF445152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B34BFA5-C953-8A55-9A1A-06DC9EE86C77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E83278B0-EBB7-8413-90CF-0212DB507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8BFA51-416C-6A0F-20F4-490651ED80B3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E88EE72-AA6D-0ED3-9271-BA689F890D46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7C04015-13E3-2BEF-A6D1-63AF4825A5C6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</p:spTree>
    <p:extLst>
      <p:ext uri="{BB962C8B-B14F-4D97-AF65-F5344CB8AC3E}">
        <p14:creationId xmlns:p14="http://schemas.microsoft.com/office/powerpoint/2010/main" val="22887921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BE3B-78ED-27E9-822D-1DAB20F8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6C58590B-B398-C1ED-3C3A-7ABD5B07591B}"/>
              </a:ext>
            </a:extLst>
          </p:cNvPr>
          <p:cNvGrpSpPr/>
          <p:nvPr/>
        </p:nvGrpSpPr>
        <p:grpSpPr>
          <a:xfrm rot="2247297"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DBF35CB-058E-939D-BE52-81AA9B58BEAC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57D6C7F3-63D9-AFAE-8D6F-E66EBAD61069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A8083B2F-B639-F12E-A3C4-A12AFD4CBD28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38F612-28CF-0729-CFD8-09551B924191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7A656F0-A70D-B363-28D8-215F65236C1F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1E27FC4D-8A28-FB62-53DA-2AE3BE5FE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EF3BB19-053C-0926-6ABF-51054728FC58}"/>
              </a:ext>
            </a:extLst>
          </p:cNvPr>
          <p:cNvGrpSpPr/>
          <p:nvPr/>
        </p:nvGrpSpPr>
        <p:grpSpPr>
          <a:xfrm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DFC36D-F38F-EE43-76F3-1DC897D069CB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7AA7598-5AD5-3ED5-0039-A617C82A0342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F5EB81D-BA0F-3DB4-CCC0-158FBABFF6B2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F0D15F-6876-D811-FFD3-E6D6E295F2CF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7DAFECB-BD4F-B71E-7DF9-85CA2DBF0DD2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02ABBE0D-F746-2A15-BF1C-F0E5EF58A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6FC9B1-79FF-B324-D2AB-37B65106B694}"/>
              </a:ext>
            </a:extLst>
          </p:cNvPr>
          <p:cNvGrpSpPr/>
          <p:nvPr/>
        </p:nvGrpSpPr>
        <p:grpSpPr>
          <a:xfrm rot="19281645"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3CCF5EB-37C7-2F1E-D22D-6C61697B1FFE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9B5765C6-5F75-FD30-2882-3E0411639424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0BBB279-7006-3021-B523-2ECBFA5ED0AE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7B6548B-DEFF-6AEF-3BFF-D759E358FCDE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FC163AE-91CB-602C-FBC8-945E4ECA4AC9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97462D41-9D5B-4056-C6AC-1A4FABE6C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9B36EE-5A9A-5CF8-3137-138145D356F2}"/>
              </a:ext>
            </a:extLst>
          </p:cNvPr>
          <p:cNvGrpSpPr/>
          <p:nvPr/>
        </p:nvGrpSpPr>
        <p:grpSpPr>
          <a:xfrm rot="19320000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3D2A1F-0956-5156-1AE2-CFCA3B3A54DD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3B8092D4-8849-5791-618C-72024FA50A9B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E494F7F-3556-E2D1-2D3F-CC33E6A355F9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A989A1-1448-7593-761A-3E4ED88409E8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CB9201F-7D71-6017-85FB-C6B74777684C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36B7AE56-CCDE-0B47-2008-05E5F3D6E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2A39204E-B8A1-B1BE-D89E-80308DD8B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12C9DB-042E-0590-4CEF-35F148B0C47A}"/>
              </a:ext>
            </a:extLst>
          </p:cNvPr>
          <p:cNvGrpSpPr/>
          <p:nvPr/>
        </p:nvGrpSpPr>
        <p:grpSpPr>
          <a:xfrm rot="1932000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7316F8C-75BF-CCDD-CF79-5405AFB2B0C2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17E534F-2400-B4B6-CBC5-1EDE66C8DAB5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9F81C10C-E618-E95B-EDF5-62AE8C4D3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2FFAFD5-9AFE-0F7D-8440-13C538FC4002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7FFF86-E1A2-70AB-6916-E929A59A1CD2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CE4F541-4A33-D468-A7A8-F25B308D67A5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</p:spTree>
    <p:extLst>
      <p:ext uri="{BB962C8B-B14F-4D97-AF65-F5344CB8AC3E}">
        <p14:creationId xmlns:p14="http://schemas.microsoft.com/office/powerpoint/2010/main" val="3953206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300A6-D10D-1DE5-3F73-27730DD2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A69D3EF1-54E7-5099-47CB-6B7DC0B8A759}"/>
              </a:ext>
            </a:extLst>
          </p:cNvPr>
          <p:cNvGrpSpPr/>
          <p:nvPr/>
        </p:nvGrpSpPr>
        <p:grpSpPr>
          <a:xfrm>
            <a:off x="-215296" y="566062"/>
            <a:ext cx="9728870" cy="12662145"/>
            <a:chOff x="45960" y="566062"/>
            <a:chExt cx="9728870" cy="12662145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34E0211-D4C3-4438-8F23-19ADFCA11220}"/>
                </a:ext>
              </a:extLst>
            </p:cNvPr>
            <p:cNvGrpSpPr/>
            <p:nvPr/>
          </p:nvGrpSpPr>
          <p:grpSpPr>
            <a:xfrm>
              <a:off x="45960" y="566062"/>
              <a:ext cx="9728870" cy="12662145"/>
              <a:chOff x="-448974" y="898814"/>
              <a:chExt cx="10041948" cy="13069617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42BD65CB-C2A3-E403-5BB0-FED243C190EC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C5F346DB-088E-5A41-7117-615335B62962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AB64573-70D6-C372-C787-ABBB07E41F99}"/>
                  </a:ext>
                </a:extLst>
              </p:cNvPr>
              <p:cNvSpPr txBox="1"/>
              <p:nvPr/>
            </p:nvSpPr>
            <p:spPr>
              <a:xfrm>
                <a:off x="3408214" y="1744044"/>
                <a:ext cx="2327567" cy="219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Tableau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our main tool for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data visualization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We created interactive dashboards to communicate insights clearly to stakeholders.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also helped in exploring the data from different angles and validating findings discovered in Python and SQL.</a:t>
                </a: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F924C6A-DD41-178B-D56E-33294BD38C79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51" name="Picture 50" descr="A logo with colorful crosses">
              <a:extLst>
                <a:ext uri="{FF2B5EF4-FFF2-40B4-BE49-F238E27FC236}">
                  <a16:creationId xmlns:a16="http://schemas.microsoft.com/office/drawing/2014/main" id="{A9CB0CC9-A56F-594E-A998-5DB9DDD55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4915" y="675531"/>
              <a:ext cx="1119788" cy="629881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7088E78-4473-2A82-370A-8AA7351F4AB7}"/>
              </a:ext>
            </a:extLst>
          </p:cNvPr>
          <p:cNvGrpSpPr/>
          <p:nvPr/>
        </p:nvGrpSpPr>
        <p:grpSpPr>
          <a:xfrm rot="19320000">
            <a:off x="-222980" y="550694"/>
            <a:ext cx="9728870" cy="12662145"/>
            <a:chOff x="38276" y="550694"/>
            <a:chExt cx="9728870" cy="12662145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13AAAE5-D7D4-0DF4-50F8-6C86B242976D}"/>
                </a:ext>
              </a:extLst>
            </p:cNvPr>
            <p:cNvGrpSpPr/>
            <p:nvPr/>
          </p:nvGrpSpPr>
          <p:grpSpPr>
            <a:xfrm>
              <a:off x="38276" y="550694"/>
              <a:ext cx="9728870" cy="12662145"/>
              <a:chOff x="-448974" y="898814"/>
              <a:chExt cx="10041948" cy="13069617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9792280-F105-B72D-623A-8B057E92C7D0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FF2525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1142A7A3-054C-CB24-3672-14829383C8F5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5744F2A-D9AC-C93D-7343-95F362E6F3EB}"/>
                  </a:ext>
                </a:extLst>
              </p:cNvPr>
              <p:cNvSpPr txBox="1"/>
              <p:nvPr/>
            </p:nvSpPr>
            <p:spPr>
              <a:xfrm>
                <a:off x="3408215" y="2069226"/>
                <a:ext cx="2327567" cy="1238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Google Maps </a:t>
                </a:r>
                <a:r>
                  <a:rPr lang="en-US" sz="1200" dirty="0">
                    <a:solidFill>
                      <a:schemeClr val="bg1"/>
                    </a:solidFill>
                  </a:rPr>
                  <a:t>was integrated to extract accurate distances between stations, enriching our dataset for more precise pricing and route-based analysis.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FFCEC11-3350-E081-56B4-B092FED07111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" name="Picture 40" descr="A logo of a google maps app&#10;&#10;AI-generated content may be incorrect.">
              <a:extLst>
                <a:ext uri="{FF2B5EF4-FFF2-40B4-BE49-F238E27FC236}">
                  <a16:creationId xmlns:a16="http://schemas.microsoft.com/office/drawing/2014/main" id="{9BE8193C-70A2-39D5-0F09-AE9675590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9483" y="706569"/>
              <a:ext cx="565551" cy="56555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0272799-4B8B-3A4D-E6DC-8111395086AB}"/>
              </a:ext>
            </a:extLst>
          </p:cNvPr>
          <p:cNvGrpSpPr/>
          <p:nvPr/>
        </p:nvGrpSpPr>
        <p:grpSpPr>
          <a:xfrm rot="19260000">
            <a:off x="-229384" y="575026"/>
            <a:ext cx="9728870" cy="12662145"/>
            <a:chOff x="31872" y="575026"/>
            <a:chExt cx="9728870" cy="1266214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411D40-41D0-753C-8AB7-70F2DDAF0EF4}"/>
                </a:ext>
              </a:extLst>
            </p:cNvPr>
            <p:cNvGrpSpPr/>
            <p:nvPr/>
          </p:nvGrpSpPr>
          <p:grpSpPr>
            <a:xfrm>
              <a:off x="31872" y="575026"/>
              <a:ext cx="9728870" cy="12662145"/>
              <a:chOff x="-448974" y="898814"/>
              <a:chExt cx="10041948" cy="13069617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345AB55A-6AC3-EE4E-F0BF-4025F6691871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8A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FC9C0CA-2FE2-090D-69EB-7F53DAFDA03D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47C142-E899-4247-C92C-82036EC8D8CF}"/>
                  </a:ext>
                </a:extLst>
              </p:cNvPr>
              <p:cNvSpPr txBox="1"/>
              <p:nvPr/>
            </p:nvSpPr>
            <p:spPr>
              <a:xfrm>
                <a:off x="3408215" y="1688525"/>
                <a:ext cx="2327567" cy="238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SQL</a:t>
                </a:r>
                <a:r>
                  <a:rPr lang="en-US" sz="1200" dirty="0">
                    <a:solidFill>
                      <a:schemeClr val="bg1"/>
                    </a:solidFill>
                  </a:rPr>
                  <a:t> played a crucial role in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 Structuring the data through a well-defined schema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Enabled us to run efficient queries for answering key </a:t>
                </a:r>
                <a:r>
                  <a:rPr lang="en-US" sz="1200" b="1" dirty="0">
                    <a:solidFill>
                      <a:schemeClr val="bg1"/>
                    </a:solidFill>
                  </a:rPr>
                  <a:t>business and operational questions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was particularly useful for grouping, aggregations, and identifying patterns across large datasets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EA53E22-BE64-873B-B2EC-C6219BD30596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1" name="Picture 30" descr="A logo of a company">
              <a:extLst>
                <a:ext uri="{FF2B5EF4-FFF2-40B4-BE49-F238E27FC236}">
                  <a16:creationId xmlns:a16="http://schemas.microsoft.com/office/drawing/2014/main" id="{EA1A43BB-A8EB-761A-C0A2-66CC99B60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13825" y="666865"/>
              <a:ext cx="911232" cy="68093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0915B3-FDDC-1160-FB15-A1367F29A5AF}"/>
              </a:ext>
            </a:extLst>
          </p:cNvPr>
          <p:cNvGrpSpPr/>
          <p:nvPr/>
        </p:nvGrpSpPr>
        <p:grpSpPr>
          <a:xfrm rot="19320000">
            <a:off x="-326371" y="537796"/>
            <a:ext cx="9728870" cy="12662145"/>
            <a:chOff x="-65115" y="537796"/>
            <a:chExt cx="9728870" cy="126621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B71ABFF-7A0C-CE53-F45A-DA56F1EEAF66}"/>
                </a:ext>
              </a:extLst>
            </p:cNvPr>
            <p:cNvGrpSpPr/>
            <p:nvPr/>
          </p:nvGrpSpPr>
          <p:grpSpPr>
            <a:xfrm>
              <a:off x="-65115" y="537796"/>
              <a:ext cx="9728870" cy="12662145"/>
              <a:chOff x="-448974" y="898814"/>
              <a:chExt cx="10041948" cy="13069617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79B2114-AAE4-3858-A4FF-7029CB8996F0}"/>
                  </a:ext>
                </a:extLst>
              </p:cNvPr>
              <p:cNvSpPr/>
              <p:nvPr/>
            </p:nvSpPr>
            <p:spPr>
              <a:xfrm>
                <a:off x="3359725" y="898814"/>
                <a:ext cx="2424547" cy="3349081"/>
              </a:xfrm>
              <a:prstGeom prst="roundRect">
                <a:avLst/>
              </a:prstGeom>
              <a:solidFill>
                <a:srgbClr val="AC0000"/>
              </a:solidFill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1B5A44B-68E2-B043-60F6-E462E843FC63}"/>
                  </a:ext>
                </a:extLst>
              </p:cNvPr>
              <p:cNvSpPr/>
              <p:nvPr/>
            </p:nvSpPr>
            <p:spPr>
              <a:xfrm>
                <a:off x="3408216" y="940376"/>
                <a:ext cx="2327567" cy="3262747"/>
              </a:xfrm>
              <a:prstGeom prst="roundRect">
                <a:avLst/>
              </a:prstGeom>
              <a:noFill/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A90E10-6F1B-ECAE-AE2D-BF29C867B311}"/>
                  </a:ext>
                </a:extLst>
              </p:cNvPr>
              <p:cNvSpPr txBox="1"/>
              <p:nvPr/>
            </p:nvSpPr>
            <p:spPr>
              <a:xfrm>
                <a:off x="3408185" y="1781359"/>
                <a:ext cx="2327567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Python</a:t>
                </a:r>
                <a:r>
                  <a:rPr lang="en-US" sz="1200" dirty="0">
                    <a:solidFill>
                      <a:schemeClr val="bg1"/>
                    </a:solidFill>
                  </a:rPr>
                  <a:t> was the core of our data processing workflow. We used it extensively for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Data cleaning, manipulation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Feature engineering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b="1" dirty="0">
                    <a:solidFill>
                      <a:schemeClr val="bg1"/>
                    </a:solidFill>
                  </a:rPr>
                  <a:t>Normalization</a:t>
                </a:r>
                <a:r>
                  <a:rPr lang="en-US" sz="12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171450" indent="-171450">
                  <a:buClr>
                    <a:schemeClr val="bg1"/>
                  </a:buClr>
                  <a:buFont typeface="Wingdings" panose="05000000000000000000" pitchFamily="2" charset="2"/>
                  <a:buChar char="ü"/>
                </a:pPr>
                <a:r>
                  <a:rPr lang="en-US" sz="1200" dirty="0">
                    <a:solidFill>
                      <a:schemeClr val="bg1"/>
                    </a:solidFill>
                  </a:rPr>
                  <a:t>It allowed us to handle inconsistencies, transform the dataset, and prepare it for deeper analysis.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8088029-B7E0-A1FF-6BE6-56E9AE24268D}"/>
                  </a:ext>
                </a:extLst>
              </p:cNvPr>
              <p:cNvSpPr/>
              <p:nvPr/>
            </p:nvSpPr>
            <p:spPr>
              <a:xfrm>
                <a:off x="-448974" y="3926483"/>
                <a:ext cx="10041948" cy="10041948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7" name="Picture 16" descr="A blue and yellow snake logo&#10;&#10;AI-generated content may be incorrect.">
              <a:extLst>
                <a:ext uri="{FF2B5EF4-FFF2-40B4-BE49-F238E27FC236}">
                  <a16:creationId xmlns:a16="http://schemas.microsoft.com/office/drawing/2014/main" id="{759503A6-9F30-48B9-2D08-8856E24FB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5179" y="680920"/>
              <a:ext cx="626535" cy="626535"/>
            </a:xfrm>
            <a:prstGeom prst="rect">
              <a:avLst/>
            </a:prstGeom>
          </p:spPr>
        </p:pic>
        <p:pic>
          <p:nvPicPr>
            <p:cNvPr id="19" name="Picture 18" descr="A logo with orange circles and grey dots">
              <a:extLst>
                <a:ext uri="{FF2B5EF4-FFF2-40B4-BE49-F238E27FC236}">
                  <a16:creationId xmlns:a16="http://schemas.microsoft.com/office/drawing/2014/main" id="{8A698A17-DC60-0D01-70C0-F7C94C6E2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3836" y="678058"/>
              <a:ext cx="533604" cy="6248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8256B9-F7D4-E6E5-F74E-F3EBBC464700}"/>
              </a:ext>
            </a:extLst>
          </p:cNvPr>
          <p:cNvGrpSpPr/>
          <p:nvPr/>
        </p:nvGrpSpPr>
        <p:grpSpPr>
          <a:xfrm rot="19320000">
            <a:off x="-397152" y="630094"/>
            <a:ext cx="9728870" cy="12662145"/>
            <a:chOff x="-448974" y="898814"/>
            <a:chExt cx="10041948" cy="130696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237B080-CC07-0203-6577-2D1C0DB720D5}"/>
                </a:ext>
              </a:extLst>
            </p:cNvPr>
            <p:cNvSpPr/>
            <p:nvPr/>
          </p:nvSpPr>
          <p:spPr>
            <a:xfrm>
              <a:off x="3359725" y="898814"/>
              <a:ext cx="2424547" cy="3349081"/>
            </a:xfrm>
            <a:prstGeom prst="roundRect">
              <a:avLst/>
            </a:prstGeom>
            <a:solidFill>
              <a:srgbClr val="6C0000"/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FFB4484-68DE-85A8-3E36-AB48247D8DA0}"/>
                </a:ext>
              </a:extLst>
            </p:cNvPr>
            <p:cNvSpPr/>
            <p:nvPr/>
          </p:nvSpPr>
          <p:spPr>
            <a:xfrm>
              <a:off x="3408216" y="940376"/>
              <a:ext cx="2327567" cy="3262747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een square with a white x on it&#10;&#10;AI-generated content may be incorrect.">
              <a:extLst>
                <a:ext uri="{FF2B5EF4-FFF2-40B4-BE49-F238E27FC236}">
                  <a16:creationId xmlns:a16="http://schemas.microsoft.com/office/drawing/2014/main" id="{FA3A8EF6-6450-BCED-E107-DA705FB20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916" r="15569"/>
            <a:stretch/>
          </p:blipFill>
          <p:spPr>
            <a:xfrm flipV="1">
              <a:off x="4334409" y="1129404"/>
              <a:ext cx="475178" cy="4398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8BCEF6-8F30-4C80-EDD7-D22799A5C70F}"/>
                </a:ext>
              </a:extLst>
            </p:cNvPr>
            <p:cNvSpPr txBox="1"/>
            <p:nvPr/>
          </p:nvSpPr>
          <p:spPr>
            <a:xfrm>
              <a:off x="3408215" y="1688525"/>
              <a:ext cx="232756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Excel</a:t>
              </a:r>
              <a:r>
                <a:rPr lang="en-US" sz="1200" dirty="0">
                  <a:solidFill>
                    <a:schemeClr val="bg1"/>
                  </a:solidFill>
                </a:rPr>
                <a:t> was our starting point   used for:</a:t>
              </a:r>
            </a:p>
            <a:p>
              <a:endParaRPr lang="en-US" sz="1200" dirty="0">
                <a:solidFill>
                  <a:schemeClr val="bg1"/>
                </a:solidFill>
              </a:endParaRP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a quick look at the raw data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 cross-checking values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ensuring that everything was running smoothly </a:t>
              </a:r>
            </a:p>
            <a:p>
              <a:pPr marL="171450" indent="-171450">
                <a:buClr>
                  <a:schemeClr val="bg1"/>
                </a:buClr>
                <a:buFont typeface="Wingdings" panose="05000000000000000000" pitchFamily="2" charset="2"/>
                <a:buChar char="ü"/>
              </a:pPr>
              <a:r>
                <a:rPr lang="en-US" sz="1200" dirty="0">
                  <a:solidFill>
                    <a:schemeClr val="bg1"/>
                  </a:solidFill>
                </a:rPr>
                <a:t>It also supported some manual verifications while answering initial analysis questions.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57F1EA7-68F4-4F9A-62BA-5404F7F2B989}"/>
                </a:ext>
              </a:extLst>
            </p:cNvPr>
            <p:cNvSpPr/>
            <p:nvPr/>
          </p:nvSpPr>
          <p:spPr>
            <a:xfrm>
              <a:off x="-448974" y="3926483"/>
              <a:ext cx="10041948" cy="10041948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DC6E98D-0CCB-4691-8A0A-FB07DA65A962}"/>
              </a:ext>
            </a:extLst>
          </p:cNvPr>
          <p:cNvSpPr txBox="1"/>
          <p:nvPr/>
        </p:nvSpPr>
        <p:spPr>
          <a:xfrm>
            <a:off x="3069525" y="4431224"/>
            <a:ext cx="3317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6C0000"/>
                </a:solidFill>
              </a:rPr>
              <a:t>Utilized Tools in this project</a:t>
            </a:r>
          </a:p>
        </p:txBody>
      </p:sp>
    </p:spTree>
    <p:extLst>
      <p:ext uri="{BB962C8B-B14F-4D97-AF65-F5344CB8AC3E}">
        <p14:creationId xmlns:p14="http://schemas.microsoft.com/office/powerpoint/2010/main" val="28877011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1145221" y="228600"/>
            <a:ext cx="40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800" b="1" dirty="0">
                <a:solidFill>
                  <a:schemeClr val="dk1"/>
                </a:solidFill>
              </a:rPr>
              <a:t>✅ Chapter 1 – Dataset Introduction</a:t>
            </a:r>
            <a:endParaRPr sz="1800" b="1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7A418D-D6A1-7808-A020-785C22524AF9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D462D7-2353-8682-B846-D150B7860FB8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837AE1-3CD6-D824-6C5E-56DAD876B171}"/>
                </a:ext>
              </a:extLst>
            </p:cNvPr>
            <p:cNvSpPr txBox="1"/>
            <p:nvPr/>
          </p:nvSpPr>
          <p:spPr>
            <a:xfrm>
              <a:off x="435078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5" name="Graphic 4" descr="Handshake with solid fill">
              <a:extLst>
                <a:ext uri="{FF2B5EF4-FFF2-40B4-BE49-F238E27FC236}">
                  <a16:creationId xmlns:a16="http://schemas.microsoft.com/office/drawing/2014/main" id="{E5196033-1B9C-4519-ADD0-60353BD71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B25D4DAA-119E-71F7-ED98-666464B58097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9" name="Google Shape;69;p14"/>
          <p:cNvSpPr txBox="1"/>
          <p:nvPr/>
        </p:nvSpPr>
        <p:spPr>
          <a:xfrm>
            <a:off x="1537003" y="948600"/>
            <a:ext cx="2920698" cy="3424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📂 Dataset Introduction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Main Points: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Project Focus: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Analyze UK railway data to understand: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Customer behavior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Service efficiency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Operational performance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Why It Matters: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A deep understanding of the dataset is crucial before cleaning, transforming, or modeling the data.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70" name="Google Shape;70;p14" title="proA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087" y="4343400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 title="MCA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6228" y="4446950"/>
            <a:ext cx="145160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train on the tracks">
            <a:extLst>
              <a:ext uri="{FF2B5EF4-FFF2-40B4-BE49-F238E27FC236}">
                <a16:creationId xmlns:a16="http://schemas.microsoft.com/office/drawing/2014/main" id="{2D647B62-5EA9-0330-BE45-C3B7C5539E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1786" r="-1"/>
          <a:stretch/>
        </p:blipFill>
        <p:spPr>
          <a:xfrm>
            <a:off x="5235185" y="0"/>
            <a:ext cx="3908815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1ry key tail">
            <a:extLst>
              <a:ext uri="{FF2B5EF4-FFF2-40B4-BE49-F238E27FC236}">
                <a16:creationId xmlns:a16="http://schemas.microsoft.com/office/drawing/2014/main" id="{9AA0DC4F-0AE7-BBFD-97EA-06DAE51D99A6}"/>
              </a:ext>
            </a:extLst>
          </p:cNvPr>
          <p:cNvGrpSpPr/>
          <p:nvPr/>
        </p:nvGrpSpPr>
        <p:grpSpPr>
          <a:xfrm>
            <a:off x="6638568" y="1762125"/>
            <a:ext cx="1743431" cy="2174381"/>
            <a:chOff x="6638568" y="1762125"/>
            <a:chExt cx="1743431" cy="2174381"/>
          </a:xfrm>
        </p:grpSpPr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43CB49AC-CF66-D8F8-63C3-C1D1FC8F619A}"/>
                </a:ext>
              </a:extLst>
            </p:cNvPr>
            <p:cNvSpPr/>
            <p:nvPr/>
          </p:nvSpPr>
          <p:spPr>
            <a:xfrm rot="10800000">
              <a:off x="6638568" y="1762125"/>
              <a:ext cx="1724381" cy="2152650"/>
            </a:xfrm>
            <a:prstGeom prst="round2SameRect">
              <a:avLst/>
            </a:prstGeom>
            <a:solidFill>
              <a:srgbClr val="FFD1D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7FBD99-F20D-DAE1-2977-CC49A03A63A5}"/>
                </a:ext>
              </a:extLst>
            </p:cNvPr>
            <p:cNvSpPr txBox="1"/>
            <p:nvPr/>
          </p:nvSpPr>
          <p:spPr>
            <a:xfrm>
              <a:off x="6657617" y="2152650"/>
              <a:ext cx="1724382" cy="1062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400" b="1" dirty="0">
                  <a:solidFill>
                    <a:schemeClr val="dk1"/>
                  </a:solidFill>
                </a:rPr>
                <a:t>Primary Key:</a:t>
              </a:r>
              <a:r>
                <a:rPr lang="en" sz="1400" dirty="0">
                  <a:solidFill>
                    <a:schemeClr val="dk1"/>
                  </a:solidFill>
                </a:rPr>
                <a:t> </a:t>
              </a:r>
              <a:r>
                <a:rPr lang="en" sz="1400" dirty="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Transaction ID</a:t>
              </a:r>
              <a:r>
                <a:rPr lang="en" sz="1400" dirty="0">
                  <a:solidFill>
                    <a:schemeClr val="dk1"/>
                  </a:solidFill>
                </a:rPr>
                <a:t> (unique for each purchase)</a:t>
              </a:r>
            </a:p>
          </p:txBody>
        </p:sp>
        <p:pic>
          <p:nvPicPr>
            <p:cNvPr id="43" name="Graphic 42" descr="Key with solid fill">
              <a:extLst>
                <a:ext uri="{FF2B5EF4-FFF2-40B4-BE49-F238E27FC236}">
                  <a16:creationId xmlns:a16="http://schemas.microsoft.com/office/drawing/2014/main" id="{48A147E6-C0B9-5C53-91A7-CBC1CE25B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62441" y="3231297"/>
              <a:ext cx="705209" cy="705209"/>
            </a:xfrm>
            <a:prstGeom prst="rect">
              <a:avLst/>
            </a:prstGeom>
          </p:spPr>
        </p:pic>
      </p:grpSp>
      <p:grpSp>
        <p:nvGrpSpPr>
          <p:cNvPr id="45" name="records tail">
            <a:extLst>
              <a:ext uri="{FF2B5EF4-FFF2-40B4-BE49-F238E27FC236}">
                <a16:creationId xmlns:a16="http://schemas.microsoft.com/office/drawing/2014/main" id="{5C7D0AFB-0879-2EAA-6D8E-99BD9DC243DE}"/>
              </a:ext>
            </a:extLst>
          </p:cNvPr>
          <p:cNvGrpSpPr/>
          <p:nvPr/>
        </p:nvGrpSpPr>
        <p:grpSpPr>
          <a:xfrm>
            <a:off x="2266593" y="1762125"/>
            <a:ext cx="1781174" cy="2152650"/>
            <a:chOff x="2266593" y="1762125"/>
            <a:chExt cx="1781174" cy="2152650"/>
          </a:xfrm>
        </p:grpSpPr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0046FF7F-9C45-8524-30EE-7D5D97504E4F}"/>
                </a:ext>
              </a:extLst>
            </p:cNvPr>
            <p:cNvSpPr/>
            <p:nvPr/>
          </p:nvSpPr>
          <p:spPr>
            <a:xfrm rot="10800000">
              <a:off x="2266593" y="1762125"/>
              <a:ext cx="1724381" cy="2152650"/>
            </a:xfrm>
            <a:prstGeom prst="round2SameRect">
              <a:avLst/>
            </a:prstGeom>
            <a:solidFill>
              <a:srgbClr val="FFD1D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01497AB-9F0A-2BA7-0DED-87BF067B5291}"/>
                </a:ext>
              </a:extLst>
            </p:cNvPr>
            <p:cNvSpPr txBox="1"/>
            <p:nvPr/>
          </p:nvSpPr>
          <p:spPr>
            <a:xfrm>
              <a:off x="2285642" y="2152650"/>
              <a:ext cx="1724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sz="1400" b="1" dirty="0">
                  <a:solidFill>
                    <a:schemeClr val="dk1"/>
                  </a:solidFill>
                </a:rPr>
                <a:t>Rows:</a:t>
              </a:r>
              <a:r>
                <a:rPr lang="en" sz="1400" dirty="0">
                  <a:solidFill>
                    <a:schemeClr val="dk1"/>
                  </a:solidFill>
                </a:rPr>
                <a:t> 31,653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54845E-F663-97EC-4572-D0CB5891E6F1}"/>
                </a:ext>
              </a:extLst>
            </p:cNvPr>
            <p:cNvSpPr txBox="1"/>
            <p:nvPr/>
          </p:nvSpPr>
          <p:spPr>
            <a:xfrm>
              <a:off x="2285643" y="2708077"/>
              <a:ext cx="17621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sz="1400" dirty="0">
                  <a:solidFill>
                    <a:schemeClr val="dk1"/>
                  </a:solidFill>
                </a:rPr>
                <a:t>1 record = 1 ticket transaction</a:t>
              </a:r>
              <a:endParaRPr lang="en-US" dirty="0"/>
            </a:p>
          </p:txBody>
        </p:sp>
        <p:pic>
          <p:nvPicPr>
            <p:cNvPr id="41" name="Graphic 40" descr="Ticket with solid fill">
              <a:extLst>
                <a:ext uri="{FF2B5EF4-FFF2-40B4-BE49-F238E27FC236}">
                  <a16:creationId xmlns:a16="http://schemas.microsoft.com/office/drawing/2014/main" id="{19020335-EA17-6AAB-EF28-86B6BC095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24150" y="3172987"/>
              <a:ext cx="715300" cy="715300"/>
            </a:xfrm>
            <a:prstGeom prst="rect">
              <a:avLst/>
            </a:prstGeom>
          </p:spPr>
        </p:pic>
      </p:grpSp>
      <p:grpSp>
        <p:nvGrpSpPr>
          <p:cNvPr id="46" name="Columns tail">
            <a:extLst>
              <a:ext uri="{FF2B5EF4-FFF2-40B4-BE49-F238E27FC236}">
                <a16:creationId xmlns:a16="http://schemas.microsoft.com/office/drawing/2014/main" id="{02FFC06E-204E-AF45-4320-64C166061936}"/>
              </a:ext>
            </a:extLst>
          </p:cNvPr>
          <p:cNvGrpSpPr/>
          <p:nvPr/>
        </p:nvGrpSpPr>
        <p:grpSpPr>
          <a:xfrm>
            <a:off x="4381143" y="1762125"/>
            <a:ext cx="1743431" cy="2152650"/>
            <a:chOff x="4390668" y="1762125"/>
            <a:chExt cx="1743431" cy="2152650"/>
          </a:xfrm>
        </p:grpSpPr>
        <p:sp>
          <p:nvSpPr>
            <p:cNvPr id="27" name="Rectangle: Top Corners Rounded 26">
              <a:extLst>
                <a:ext uri="{FF2B5EF4-FFF2-40B4-BE49-F238E27FC236}">
                  <a16:creationId xmlns:a16="http://schemas.microsoft.com/office/drawing/2014/main" id="{F32C741A-0A5F-E23F-38FE-94887488F4D7}"/>
                </a:ext>
              </a:extLst>
            </p:cNvPr>
            <p:cNvSpPr/>
            <p:nvPr/>
          </p:nvSpPr>
          <p:spPr>
            <a:xfrm rot="10800000">
              <a:off x="4390668" y="1762125"/>
              <a:ext cx="1724381" cy="2152650"/>
            </a:xfrm>
            <a:prstGeom prst="round2SameRect">
              <a:avLst/>
            </a:prstGeom>
            <a:solidFill>
              <a:srgbClr val="FFD1D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9EC736F-A7D9-A35C-1349-85062DB71AA7}"/>
                </a:ext>
              </a:extLst>
            </p:cNvPr>
            <p:cNvSpPr txBox="1"/>
            <p:nvPr/>
          </p:nvSpPr>
          <p:spPr>
            <a:xfrm>
              <a:off x="4409717" y="2152650"/>
              <a:ext cx="1724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b="1" dirty="0">
                  <a:solidFill>
                    <a:schemeClr val="dk1"/>
                  </a:solidFill>
                </a:rPr>
                <a:t>Columns: 18</a:t>
              </a:r>
              <a:endParaRPr lang="en-US" dirty="0"/>
            </a:p>
          </p:txBody>
        </p:sp>
        <p:pic>
          <p:nvPicPr>
            <p:cNvPr id="32" name="Graphic 31" descr="Filter with solid fill">
              <a:extLst>
                <a:ext uri="{FF2B5EF4-FFF2-40B4-BE49-F238E27FC236}">
                  <a16:creationId xmlns:a16="http://schemas.microsoft.com/office/drawing/2014/main" id="{F056F56A-1466-1B86-6836-673BBCA21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48639" y="3231297"/>
              <a:ext cx="608438" cy="608438"/>
            </a:xfrm>
            <a:prstGeom prst="rect">
              <a:avLst/>
            </a:prstGeom>
          </p:spPr>
        </p:pic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34DE777E-65AD-C96A-1CE2-F452D7C9402B}"/>
              </a:ext>
            </a:extLst>
          </p:cNvPr>
          <p:cNvSpPr/>
          <p:nvPr/>
        </p:nvSpPr>
        <p:spPr>
          <a:xfrm>
            <a:off x="1819275" y="0"/>
            <a:ext cx="6959067" cy="134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3DC553-E203-5D04-370F-85872BF70835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69C093-6CA3-1E86-BDB2-9FD6A01DE720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DD58388-8203-6957-0174-C9C3C8AAA204}"/>
                </a:ext>
              </a:extLst>
            </p:cNvPr>
            <p:cNvSpPr txBox="1"/>
            <p:nvPr/>
          </p:nvSpPr>
          <p:spPr>
            <a:xfrm>
              <a:off x="435078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3" name="Graphic 12" descr="Handshake with solid fill">
              <a:extLst>
                <a:ext uri="{FF2B5EF4-FFF2-40B4-BE49-F238E27FC236}">
                  <a16:creationId xmlns:a16="http://schemas.microsoft.com/office/drawing/2014/main" id="{27E24A62-9138-737C-3564-33AA28D85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0498F4B-7AB6-3F0A-90C4-03E3FF0F0C21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Google Shape;80;p15" title="proAr.png">
            <a:extLst>
              <a:ext uri="{FF2B5EF4-FFF2-40B4-BE49-F238E27FC236}">
                <a16:creationId xmlns:a16="http://schemas.microsoft.com/office/drawing/2014/main" id="{C50B3007-958A-ECFC-3382-7145086FE161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0002" y="4345531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4;p20" title="MCAR.png">
            <a:extLst>
              <a:ext uri="{FF2B5EF4-FFF2-40B4-BE49-F238E27FC236}">
                <a16:creationId xmlns:a16="http://schemas.microsoft.com/office/drawing/2014/main" id="{C34662A2-933A-C60C-1BC4-0DE4A4155F7C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no. of records box">
            <a:extLst>
              <a:ext uri="{FF2B5EF4-FFF2-40B4-BE49-F238E27FC236}">
                <a16:creationId xmlns:a16="http://schemas.microsoft.com/office/drawing/2014/main" id="{675B11A5-711E-9DF8-756B-89B7F6786D1C}"/>
              </a:ext>
            </a:extLst>
          </p:cNvPr>
          <p:cNvGrpSpPr/>
          <p:nvPr/>
        </p:nvGrpSpPr>
        <p:grpSpPr>
          <a:xfrm>
            <a:off x="2209800" y="1343025"/>
            <a:ext cx="1847850" cy="666750"/>
            <a:chOff x="2209800" y="1343025"/>
            <a:chExt cx="1847850" cy="666750"/>
          </a:xfrm>
        </p:grpSpPr>
        <p:sp>
          <p:nvSpPr>
            <p:cNvPr id="17" name="Flowchart: Document 16">
              <a:extLst>
                <a:ext uri="{FF2B5EF4-FFF2-40B4-BE49-F238E27FC236}">
                  <a16:creationId xmlns:a16="http://schemas.microsoft.com/office/drawing/2014/main" id="{06CEA6A1-67D2-03F5-48D0-5FD2C148A015}"/>
                </a:ext>
              </a:extLst>
            </p:cNvPr>
            <p:cNvSpPr/>
            <p:nvPr/>
          </p:nvSpPr>
          <p:spPr>
            <a:xfrm>
              <a:off x="2209800" y="1343025"/>
              <a:ext cx="1847850" cy="666750"/>
            </a:xfrm>
            <a:prstGeom prst="flowChartDocument">
              <a:avLst/>
            </a:prstGeom>
            <a:gradFill flip="none" rotWithShape="1">
              <a:gsLst>
                <a:gs pos="0">
                  <a:srgbClr val="8A0000">
                    <a:shade val="30000"/>
                    <a:satMod val="115000"/>
                  </a:srgbClr>
                </a:gs>
                <a:gs pos="50000">
                  <a:srgbClr val="8A0000">
                    <a:shade val="67500"/>
                    <a:satMod val="115000"/>
                  </a:srgbClr>
                </a:gs>
                <a:gs pos="100000">
                  <a:srgbClr val="8A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885CD1-4B2E-C821-11F8-7E2B9BC4BE56}"/>
                </a:ext>
              </a:extLst>
            </p:cNvPr>
            <p:cNvSpPr txBox="1"/>
            <p:nvPr/>
          </p:nvSpPr>
          <p:spPr>
            <a:xfrm>
              <a:off x="2247542" y="1476375"/>
              <a:ext cx="1791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Number of records</a:t>
              </a:r>
            </a:p>
          </p:txBody>
        </p:sp>
      </p:grpSp>
      <p:grpSp>
        <p:nvGrpSpPr>
          <p:cNvPr id="49" name="no. of columns box">
            <a:extLst>
              <a:ext uri="{FF2B5EF4-FFF2-40B4-BE49-F238E27FC236}">
                <a16:creationId xmlns:a16="http://schemas.microsoft.com/office/drawing/2014/main" id="{6712029D-B98E-FF97-E0BA-0C9F428EBFF8}"/>
              </a:ext>
            </a:extLst>
          </p:cNvPr>
          <p:cNvGrpSpPr/>
          <p:nvPr/>
        </p:nvGrpSpPr>
        <p:grpSpPr>
          <a:xfrm>
            <a:off x="4319587" y="1343025"/>
            <a:ext cx="1904642" cy="666750"/>
            <a:chOff x="4314825" y="1410859"/>
            <a:chExt cx="1904642" cy="666750"/>
          </a:xfrm>
        </p:grpSpPr>
        <p:sp>
          <p:nvSpPr>
            <p:cNvPr id="28" name="Flowchart: Document 27">
              <a:extLst>
                <a:ext uri="{FF2B5EF4-FFF2-40B4-BE49-F238E27FC236}">
                  <a16:creationId xmlns:a16="http://schemas.microsoft.com/office/drawing/2014/main" id="{D6D0E3F1-F1AC-F428-1437-35F32971D3BE}"/>
                </a:ext>
              </a:extLst>
            </p:cNvPr>
            <p:cNvSpPr/>
            <p:nvPr/>
          </p:nvSpPr>
          <p:spPr>
            <a:xfrm>
              <a:off x="4314825" y="1410859"/>
              <a:ext cx="1847850" cy="666750"/>
            </a:xfrm>
            <a:prstGeom prst="flowChartDocument">
              <a:avLst/>
            </a:prstGeom>
            <a:gradFill flip="none" rotWithShape="1">
              <a:gsLst>
                <a:gs pos="0">
                  <a:srgbClr val="8A0000">
                    <a:shade val="30000"/>
                    <a:satMod val="115000"/>
                  </a:srgbClr>
                </a:gs>
                <a:gs pos="50000">
                  <a:srgbClr val="8A0000">
                    <a:shade val="67500"/>
                    <a:satMod val="115000"/>
                  </a:srgbClr>
                </a:gs>
                <a:gs pos="100000">
                  <a:srgbClr val="8A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96D774-59BA-AE8D-AC15-14B85296FD98}"/>
                </a:ext>
              </a:extLst>
            </p:cNvPr>
            <p:cNvSpPr txBox="1"/>
            <p:nvPr/>
          </p:nvSpPr>
          <p:spPr>
            <a:xfrm>
              <a:off x="4333875" y="1466850"/>
              <a:ext cx="18855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Number of Columns</a:t>
              </a:r>
            </a:p>
          </p:txBody>
        </p:sp>
      </p:grpSp>
      <p:grpSp>
        <p:nvGrpSpPr>
          <p:cNvPr id="50" name="Rimary Key box">
            <a:extLst>
              <a:ext uri="{FF2B5EF4-FFF2-40B4-BE49-F238E27FC236}">
                <a16:creationId xmlns:a16="http://schemas.microsoft.com/office/drawing/2014/main" id="{35A6D734-0EDD-3244-2F78-17DE916FA3AF}"/>
              </a:ext>
            </a:extLst>
          </p:cNvPr>
          <p:cNvGrpSpPr/>
          <p:nvPr/>
        </p:nvGrpSpPr>
        <p:grpSpPr>
          <a:xfrm>
            <a:off x="6581775" y="1343025"/>
            <a:ext cx="1847850" cy="666750"/>
            <a:chOff x="6581775" y="1343025"/>
            <a:chExt cx="1847850" cy="666750"/>
          </a:xfrm>
        </p:grpSpPr>
        <p:sp>
          <p:nvSpPr>
            <p:cNvPr id="35" name="Flowchart: Document 34">
              <a:extLst>
                <a:ext uri="{FF2B5EF4-FFF2-40B4-BE49-F238E27FC236}">
                  <a16:creationId xmlns:a16="http://schemas.microsoft.com/office/drawing/2014/main" id="{A49A91DC-6097-83E7-B20C-2235D101126A}"/>
                </a:ext>
              </a:extLst>
            </p:cNvPr>
            <p:cNvSpPr/>
            <p:nvPr/>
          </p:nvSpPr>
          <p:spPr>
            <a:xfrm>
              <a:off x="6581775" y="1343025"/>
              <a:ext cx="1847850" cy="666750"/>
            </a:xfrm>
            <a:prstGeom prst="flowChartDocument">
              <a:avLst/>
            </a:prstGeom>
            <a:gradFill flip="none" rotWithShape="1">
              <a:gsLst>
                <a:gs pos="0">
                  <a:srgbClr val="8A0000">
                    <a:shade val="30000"/>
                    <a:satMod val="115000"/>
                  </a:srgbClr>
                </a:gs>
                <a:gs pos="50000">
                  <a:srgbClr val="8A0000">
                    <a:shade val="67500"/>
                    <a:satMod val="115000"/>
                  </a:srgbClr>
                </a:gs>
                <a:gs pos="100000">
                  <a:srgbClr val="8A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  <a:effectLst>
              <a:outerShdw blurRad="1397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4466A8-E3A1-B8B1-4C13-806C19231B6D}"/>
                </a:ext>
              </a:extLst>
            </p:cNvPr>
            <p:cNvSpPr txBox="1"/>
            <p:nvPr/>
          </p:nvSpPr>
          <p:spPr>
            <a:xfrm>
              <a:off x="6619517" y="1476375"/>
              <a:ext cx="1791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sz="1400" b="1" dirty="0">
                  <a:solidFill>
                    <a:schemeClr val="bg1"/>
                  </a:solidFill>
                </a:rPr>
                <a:t>Primary Key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Google Shape;160;p20">
            <a:extLst>
              <a:ext uri="{FF2B5EF4-FFF2-40B4-BE49-F238E27FC236}">
                <a16:creationId xmlns:a16="http://schemas.microsoft.com/office/drawing/2014/main" id="{DD4FE523-561A-C777-629C-8250A96F11F5}"/>
              </a:ext>
            </a:extLst>
          </p:cNvPr>
          <p:cNvSpPr txBox="1"/>
          <p:nvPr/>
        </p:nvSpPr>
        <p:spPr>
          <a:xfrm>
            <a:off x="57150" y="319802"/>
            <a:ext cx="91440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</a:rPr>
              <a:t>Structure Summary</a:t>
            </a:r>
            <a:endParaRPr sz="16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30600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91B2C16-4F17-9BAF-B110-29B0EF152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10" b="4109"/>
          <a:stretch/>
        </p:blipFill>
        <p:spPr>
          <a:xfrm>
            <a:off x="2703118" y="614418"/>
            <a:ext cx="4932231" cy="3941619"/>
          </a:xfrm>
          <a:prstGeom prst="rect">
            <a:avLst/>
          </a:prstGeom>
        </p:spPr>
      </p:pic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58F392B-C715-BEA3-B6D2-E92203BD1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35" t="26552" r="23918" b="17858"/>
          <a:stretch/>
        </p:blipFill>
        <p:spPr>
          <a:xfrm>
            <a:off x="3730753" y="1362456"/>
            <a:ext cx="2724912" cy="2560319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91FE35F-2238-B5AE-23F5-E7F3A5D3D847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BF9049-BC2F-4B9C-B882-99CB3C8F1833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FC47A3-5801-535E-059B-BD4F6E449209}"/>
                </a:ext>
              </a:extLst>
            </p:cNvPr>
            <p:cNvSpPr txBox="1"/>
            <p:nvPr/>
          </p:nvSpPr>
          <p:spPr>
            <a:xfrm>
              <a:off x="435078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8" name="Graphic 7" descr="Handshake with solid fill">
              <a:extLst>
                <a:ext uri="{FF2B5EF4-FFF2-40B4-BE49-F238E27FC236}">
                  <a16:creationId xmlns:a16="http://schemas.microsoft.com/office/drawing/2014/main" id="{17B76ECC-368E-3BAC-53E9-AD72EECB4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974FFD9-4797-9F28-AD79-5257E27C5733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Google Shape;80;p15" title="proAr.png">
            <a:extLst>
              <a:ext uri="{FF2B5EF4-FFF2-40B4-BE49-F238E27FC236}">
                <a16:creationId xmlns:a16="http://schemas.microsoft.com/office/drawing/2014/main" id="{3C6EC417-4205-A7C0-F3A0-681FC0306D9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002" y="4345531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1;p15" title="MCAR.png">
            <a:extLst>
              <a:ext uri="{FF2B5EF4-FFF2-40B4-BE49-F238E27FC236}">
                <a16:creationId xmlns:a16="http://schemas.microsoft.com/office/drawing/2014/main" id="{7E561B8E-6A87-D45D-9C45-80D29057163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287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" name="Google Shape;169;p21"/>
          <p:cNvGraphicFramePr/>
          <p:nvPr>
            <p:extLst>
              <p:ext uri="{D42A27DB-BD31-4B8C-83A1-F6EECF244321}">
                <p14:modId xmlns:p14="http://schemas.microsoft.com/office/powerpoint/2010/main" val="703302769"/>
              </p:ext>
            </p:extLst>
          </p:nvPr>
        </p:nvGraphicFramePr>
        <p:xfrm>
          <a:off x="1728216" y="457200"/>
          <a:ext cx="7316569" cy="4577900"/>
        </p:xfrm>
        <a:graphic>
          <a:graphicData uri="http://schemas.openxmlformats.org/drawingml/2006/table">
            <a:tbl>
              <a:tblPr>
                <a:noFill/>
                <a:tableStyleId>{1C2A19AA-2D7C-4014-96F2-3DECDB951E3A}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1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9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rowSpan="15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Column Example</a:t>
                      </a:r>
                      <a:endParaRPr sz="800" b="1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Description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Data Type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Transaction ID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Unique ID for each record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 (String)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Date of Purchase, Date of Journey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Calendar date fields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Date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Time of Purchase, Departure Time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Time of day fields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Time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Payment Method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Payment type (Credit Card, Contactless)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Purchase Type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Where the ticket was purchased (Online/Station)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Railcard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Type of railcard used (Adult, Senior, etc.)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Ticket Class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Travel class (Standard, First)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Ticket Type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Advance, Off-Peak, Anytime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Price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Ticket cost in GBP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Numeric (Float)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Departure/Arrival Stations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/>
                        <a:t>Names of train stations</a:t>
                      </a: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Categorical</a:t>
                      </a:r>
                      <a:endParaRPr sz="8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Journey Status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Status of the trip (On Time, Delayed)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Categorical</a:t>
                      </a:r>
                      <a:endParaRPr sz="800" b="1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Reason for Delay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Delay explanation if applicable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Categorical (Nullable)</a:t>
                      </a:r>
                      <a:endParaRPr sz="800" b="1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Refund Request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Yes or No value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Boolean</a:t>
                      </a:r>
                      <a:endParaRPr sz="800" b="1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75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Arrival / Actual Arrival Time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Time train was scheduled/actually arrived</a:t>
                      </a:r>
                      <a:endParaRPr sz="8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 dirty="0"/>
                        <a:t>Time</a:t>
                      </a:r>
                      <a:endParaRPr sz="800" b="1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0" name="Google Shape;170;p21"/>
          <p:cNvSpPr txBox="1"/>
          <p:nvPr/>
        </p:nvSpPr>
        <p:spPr>
          <a:xfrm>
            <a:off x="3072000" y="72361"/>
            <a:ext cx="3000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</a:t>
            </a:r>
            <a:r>
              <a:rPr lang="en" b="1" dirty="0"/>
              <a:t>ain Columns Data Types</a:t>
            </a:r>
            <a:endParaRPr b="1" dirty="0"/>
          </a:p>
        </p:txBody>
      </p:sp>
      <p:pic>
        <p:nvPicPr>
          <p:cNvPr id="171" name="Google Shape;171;p21" title="pro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50" y="0"/>
            <a:ext cx="615859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 title="MC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725" y="0"/>
            <a:ext cx="1421125" cy="400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2362227-800B-0B27-1176-6DFF833D57C6}"/>
              </a:ext>
            </a:extLst>
          </p:cNvPr>
          <p:cNvGrpSpPr/>
          <p:nvPr/>
        </p:nvGrpSpPr>
        <p:grpSpPr>
          <a:xfrm>
            <a:off x="-937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8A1FCE-B1F4-0BEC-A691-B6E119A563D5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07162A-7CC5-0E5A-168E-C65DB236FBDA}"/>
                </a:ext>
              </a:extLst>
            </p:cNvPr>
            <p:cNvSpPr txBox="1"/>
            <p:nvPr/>
          </p:nvSpPr>
          <p:spPr>
            <a:xfrm>
              <a:off x="435078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5" name="Graphic 4" descr="Handshake with solid fill">
              <a:extLst>
                <a:ext uri="{FF2B5EF4-FFF2-40B4-BE49-F238E27FC236}">
                  <a16:creationId xmlns:a16="http://schemas.microsoft.com/office/drawing/2014/main" id="{A7981EA5-389B-FFD5-80DD-789DE2F06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BD688B4-35D3-147C-CBFD-E736EE2F1F75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80;p15" title="proAr.png">
            <a:extLst>
              <a:ext uri="{FF2B5EF4-FFF2-40B4-BE49-F238E27FC236}">
                <a16:creationId xmlns:a16="http://schemas.microsoft.com/office/drawing/2014/main" id="{A33D67D3-7932-28BD-4B6B-617AC51066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02" y="4345531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8052-3DF0-7A3F-B932-B90BB625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0649CF5D-2699-949F-2AA6-BE4E88D29EEC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C70591C-17DB-C84D-CD4A-92650B6CAB5C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21B2801-0211-605B-087D-1AD7E1059C22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7252752B-39AE-2F50-3FD9-5D3815D3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11588869-3F7B-4770-FE26-0540121148F3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4AE1220-B702-E323-6A25-701C7614B64A}"/>
              </a:ext>
            </a:extLst>
          </p:cNvPr>
          <p:cNvGrpSpPr/>
          <p:nvPr/>
        </p:nvGrpSpPr>
        <p:grpSpPr>
          <a:xfrm>
            <a:off x="6109301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0BA988-5489-C356-BD7B-894CA198CAB4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F0283A-0FF7-92DD-4BCA-17350BC94994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D73083A8-21A6-809F-3909-FAF0A2F79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37C508E-B695-2853-F915-004689042551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2E95548-B994-CEFD-8C19-E1CB2EB2CBAB}"/>
              </a:ext>
            </a:extLst>
          </p:cNvPr>
          <p:cNvGrpSpPr/>
          <p:nvPr/>
        </p:nvGrpSpPr>
        <p:grpSpPr>
          <a:xfrm>
            <a:off x="4602095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66F3A6-115D-B0DC-45D7-89467F18A8F5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3090D0-57E9-E957-931E-B003C94DCC50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DFBBEC86-9A52-3CF0-5101-B5ED1E200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699E5C54-DA60-BC09-2280-F3F85836DD43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BB89E2-0579-B055-590F-D562ACA52E73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86CC04-09C6-7AF5-18F1-3CDCE22FA0DC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3843A4B-DA8E-DA82-249F-49CB846A841F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30924F50-A1A7-F23F-8CBC-A8994C87F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30ED05EA-3203-F06D-82C4-6983C676D35A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296E7F5-EFCE-60EF-764E-720A5A26C790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D0D5A37-EB8C-E8C9-1F05-4B0D59FB8712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22ED10-5C29-EB6E-0275-252F78873061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80C5D4BD-DB49-0043-7703-792ED4AA9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B022DA55-B8B1-B1FD-DF42-FDFDA614FCA7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4E4C0B2-5B85-CBE0-4F8D-D8E57421DCE9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646A909-7BA1-49C4-94C1-80F974E9CD18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D75BA6-1FAE-8EC7-8524-5D31C22851F3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399EDC25-83BC-2326-074D-E8A0A9905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2F150C4E-082D-A1E7-BC3C-F4DCCB5A25D8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30687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587A8-A387-B71C-1EAE-8ED382A1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DC76BB79-E19E-CB48-1C60-4623917FBB31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F40A9A-E43E-98E1-9F51-CB9274498145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C3A5D9-01BB-2DAD-2D24-3C7883A8C568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4954D32E-C5FB-B225-8D1B-79AB76C1E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7BFED8AA-A80E-5EC9-E456-3A43FC53798A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59EF2F-F741-7697-2049-681E84676AD7}"/>
              </a:ext>
            </a:extLst>
          </p:cNvPr>
          <p:cNvGrpSpPr/>
          <p:nvPr/>
        </p:nvGrpSpPr>
        <p:grpSpPr>
          <a:xfrm>
            <a:off x="6109301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C4D1C00-F1B0-3287-60D4-A570403B2FEB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2FA097-7AB0-BF24-D1F7-EE15E443FD07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42A41131-E873-5AC3-C35A-E276963B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87B43BCB-7807-7F79-7727-A0104C336366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132BAC3-E4FB-41B0-A1D3-F32876C81332}"/>
              </a:ext>
            </a:extLst>
          </p:cNvPr>
          <p:cNvGrpSpPr/>
          <p:nvPr/>
        </p:nvGrpSpPr>
        <p:grpSpPr>
          <a:xfrm>
            <a:off x="4594895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E8FDFE-5B96-9F26-F9DE-A2DA10233E0B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1CDFA0-8286-0937-4C42-9C6E9D7875C9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F4091F25-B17F-0860-D2B3-8B1388729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104CF3FA-0AA6-24C3-83D6-93A4B23D6E79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B0424C4-154B-39D5-9597-D35E2195BCE1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638748-5035-3A57-9866-2A21C96B0B3A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1EF772-CE71-7BA6-EC10-6CC478A45E8D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CF2B7F28-AA27-8E4C-5D00-06D90E3CA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96B746D-D02D-C389-3D2E-A20F4D46B474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BAD5595-B143-E512-F847-85D7F3A024BF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834640-F9E8-5C95-41C9-96848EB04B16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072239-702E-A09E-3868-357C4F3C025A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3056E55E-7B2D-1B77-F77E-7E82164D5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36A3B2F0-052A-4EF6-6E89-77A6AA463A68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855805C-177F-A6D2-D250-F4DC5BF12EE4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D2B8AFD-FA40-71FC-68B3-63104F647D5D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A6549E-0047-7964-46DA-7288A4EAAF3E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D030B365-3A0A-30FE-0521-AE58E585F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45FF1B84-99FA-227F-A38F-3099073C3016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95839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 L -0.16823 0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/>
        </p:nvSpPr>
        <p:spPr>
          <a:xfrm>
            <a:off x="1538074" y="1066800"/>
            <a:ext cx="2226206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800" b="1" dirty="0">
                <a:solidFill>
                  <a:schemeClr val="dk1"/>
                </a:solidFill>
              </a:rPr>
              <a:t>🧹 Chapter 2: Data Cleaning &amp; Wrangling 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526705" y="2689865"/>
            <a:ext cx="2496656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📏 Why?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Data cleaning and wrangling is a crucial step in the data analysis process. Raw data often contains inconsistencies, missing values, duplicates, and errors, which need to be addressed before performing any meaningful analysis.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81" name="Google Shape;181;p22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61" y="0"/>
            <a:ext cx="1451600" cy="69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944D912-68CC-7CB6-DD42-8597BFF3E429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F534485-1C62-EF42-E29A-9991B86C2770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DD803A7-FBB8-9071-FFE1-9AC9CAA52B91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D8C17873-54B2-90EA-9442-8E713E651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7BF98F6-7562-E084-695C-1118D41DC778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80" name="Google Shape;180;p22" title="proA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train at a station&#10;&#10;AI-generated content may be incorrect.">
            <a:extLst>
              <a:ext uri="{FF2B5EF4-FFF2-40B4-BE49-F238E27FC236}">
                <a16:creationId xmlns:a16="http://schemas.microsoft.com/office/drawing/2014/main" id="{78D659D4-C535-9FDA-E70D-FA171CA7A7C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4083" r="9250"/>
          <a:stretch/>
        </p:blipFill>
        <p:spPr>
          <a:xfrm>
            <a:off x="4091940" y="0"/>
            <a:ext cx="505206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train on a bridge over a waterfall&#10;&#10;AI-generated content may be incorrect.">
            <a:extLst>
              <a:ext uri="{FF2B5EF4-FFF2-40B4-BE49-F238E27FC236}">
                <a16:creationId xmlns:a16="http://schemas.microsoft.com/office/drawing/2014/main" id="{C5B9CDD4-E034-E169-E212-ECA56E6F05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5" b="11852"/>
          <a:stretch/>
        </p:blipFill>
        <p:spPr>
          <a:xfrm>
            <a:off x="0" y="0"/>
            <a:ext cx="11322950" cy="5158233"/>
          </a:xfrm>
          <a:prstGeom prst="rect">
            <a:avLst/>
          </a:prstGeom>
          <a:ln>
            <a:solidFill>
              <a:srgbClr val="3877F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9F6B33-7AE6-C209-7A02-78C78FD3FC3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98F881-F81F-2A14-6195-78B0DC9EDE2B}"/>
              </a:ext>
            </a:extLst>
          </p:cNvPr>
          <p:cNvSpPr/>
          <p:nvPr/>
        </p:nvSpPr>
        <p:spPr>
          <a:xfrm>
            <a:off x="971550" y="1314450"/>
            <a:ext cx="2390775" cy="2390775"/>
          </a:xfrm>
          <a:prstGeom prst="ellipse">
            <a:avLst/>
          </a:prstGeom>
          <a:gradFill flip="none" rotWithShape="1">
            <a:gsLst>
              <a:gs pos="0">
                <a:srgbClr val="3877F2"/>
              </a:gs>
              <a:gs pos="100000">
                <a:srgbClr val="8FA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00" b="1" dirty="0">
                <a:solidFill>
                  <a:schemeClr val="bg1"/>
                </a:solidFill>
              </a:rPr>
              <a:t>Data Cleaning &amp; Wrangling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08F641-49C8-C72F-0C0A-847D0BABDAEA}"/>
              </a:ext>
            </a:extLst>
          </p:cNvPr>
          <p:cNvGrpSpPr/>
          <p:nvPr/>
        </p:nvGrpSpPr>
        <p:grpSpPr>
          <a:xfrm rot="2207492">
            <a:off x="-2976564" y="-1107282"/>
            <a:ext cx="7510463" cy="7358064"/>
            <a:chOff x="-2976564" y="-1107282"/>
            <a:chExt cx="7510463" cy="73580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F89C094-2C2D-655E-E6C5-92C9B4F1E6EA}"/>
                </a:ext>
              </a:extLst>
            </p:cNvPr>
            <p:cNvSpPr/>
            <p:nvPr/>
          </p:nvSpPr>
          <p:spPr>
            <a:xfrm>
              <a:off x="-2976564" y="-1107282"/>
              <a:ext cx="7358064" cy="735806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A856DD5-783D-C436-E847-ADFF338EA772}"/>
                </a:ext>
              </a:extLst>
            </p:cNvPr>
            <p:cNvSpPr/>
            <p:nvPr/>
          </p:nvSpPr>
          <p:spPr>
            <a:xfrm>
              <a:off x="3362325" y="714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36BCD90-4257-29DE-AD3B-16AD0FE3B4A2}"/>
                </a:ext>
              </a:extLst>
            </p:cNvPr>
            <p:cNvSpPr/>
            <p:nvPr/>
          </p:nvSpPr>
          <p:spPr>
            <a:xfrm>
              <a:off x="4067173" y="163115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9FCFAB-DEDE-16CD-D91A-F6EA39C3C983}"/>
                </a:ext>
              </a:extLst>
            </p:cNvPr>
            <p:cNvSpPr/>
            <p:nvPr/>
          </p:nvSpPr>
          <p:spPr>
            <a:xfrm>
              <a:off x="4124324" y="313372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FE1674-5881-7B7F-88E3-95A76D3F2B03}"/>
                </a:ext>
              </a:extLst>
            </p:cNvPr>
            <p:cNvSpPr/>
            <p:nvPr/>
          </p:nvSpPr>
          <p:spPr>
            <a:xfrm>
              <a:off x="3589010" y="432979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568E13E-7EFD-226A-FAD2-EDF179C0A31A}"/>
                </a:ext>
              </a:extLst>
            </p:cNvPr>
            <p:cNvSpPr/>
            <p:nvPr/>
          </p:nvSpPr>
          <p:spPr>
            <a:xfrm>
              <a:off x="2533650" y="54435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EE9CB4E-F879-4A6A-5F3C-01D7065F540C}"/>
              </a:ext>
            </a:extLst>
          </p:cNvPr>
          <p:cNvSpPr txBox="1"/>
          <p:nvPr/>
        </p:nvSpPr>
        <p:spPr>
          <a:xfrm>
            <a:off x="3407948" y="223580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12A103-53FF-274B-D69D-345EF22EF3C5}"/>
              </a:ext>
            </a:extLst>
          </p:cNvPr>
          <p:cNvSpPr txBox="1"/>
          <p:nvPr/>
        </p:nvSpPr>
        <p:spPr>
          <a:xfrm>
            <a:off x="2271001" y="520013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610DF-A0F8-E02B-A60C-5FA674E13AC5}"/>
              </a:ext>
            </a:extLst>
          </p:cNvPr>
          <p:cNvSpPr txBox="1"/>
          <p:nvPr/>
        </p:nvSpPr>
        <p:spPr>
          <a:xfrm>
            <a:off x="1013215" y="568740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3C1402-3469-FC24-BE65-8DF2BCB77828}"/>
              </a:ext>
            </a:extLst>
          </p:cNvPr>
          <p:cNvSpPr txBox="1"/>
          <p:nvPr/>
        </p:nvSpPr>
        <p:spPr>
          <a:xfrm>
            <a:off x="-272955" y="568191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CF29D4-C6FA-35AD-960E-0211C446EFA9}"/>
              </a:ext>
            </a:extLst>
          </p:cNvPr>
          <p:cNvSpPr txBox="1"/>
          <p:nvPr/>
        </p:nvSpPr>
        <p:spPr>
          <a:xfrm>
            <a:off x="3030646" y="3924976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160502-1D13-D188-FB01-FDB9898BCC19}"/>
              </a:ext>
            </a:extLst>
          </p:cNvPr>
          <p:cNvSpPr txBox="1"/>
          <p:nvPr/>
        </p:nvSpPr>
        <p:spPr>
          <a:xfrm>
            <a:off x="5021490" y="-1459009"/>
            <a:ext cx="3889419" cy="23802350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Missing Data: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Remove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fill</a:t>
            </a:r>
            <a:r>
              <a:rPr lang="en-US" sz="1400" dirty="0">
                <a:solidFill>
                  <a:schemeClr val="bg1"/>
                </a:solidFill>
              </a:rPr>
              <a:t> missing values using techniques like mean, median, or forward fill.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functions: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df.fillna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Removing Duplicates: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Ensure there are no duplicate records in your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df.drop_duplicates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Data Transformation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Convert data types where necessary (e.g., strings to integers or dates).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df.astype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Outliers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Identify and handle outliers to prevent them from skewing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b="1" dirty="0">
                <a:solidFill>
                  <a:schemeClr val="bg1"/>
                </a:solidFill>
              </a:rPr>
              <a:t>IQR (Interquartile Range)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Z-scores</a:t>
            </a:r>
            <a:r>
              <a:rPr lang="en-US" sz="1400" dirty="0">
                <a:solidFill>
                  <a:schemeClr val="bg1"/>
                </a:solidFill>
              </a:rPr>
              <a:t> for detection.</a:t>
            </a: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Normalizing &amp; Scaling Data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 dirty="0">
                <a:solidFill>
                  <a:schemeClr val="bg1"/>
                </a:solidFill>
              </a:rPr>
              <a:t>Data normalization</a:t>
            </a:r>
            <a:r>
              <a:rPr lang="en-US" dirty="0">
                <a:solidFill>
                  <a:schemeClr val="bg1"/>
                </a:solidFill>
              </a:rPr>
              <a:t> is the process of organizing data into multiple related tables to eliminate duplication, minimize redundancy, and ensure logical data storage. This is achieved by applying a series of rules known as </a:t>
            </a:r>
            <a:r>
              <a:rPr lang="en-US" b="1" dirty="0">
                <a:solidFill>
                  <a:schemeClr val="bg1"/>
                </a:solidFill>
              </a:rPr>
              <a:t>normal forms (NF)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31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switch dir="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C23B-1CB0-563B-141D-B85BD024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train on a bridge over a waterfall&#10;&#10;AI-generated content may be incorrect.">
            <a:extLst>
              <a:ext uri="{FF2B5EF4-FFF2-40B4-BE49-F238E27FC236}">
                <a16:creationId xmlns:a16="http://schemas.microsoft.com/office/drawing/2014/main" id="{20039B02-A60D-171C-06AD-08129941B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5" b="11852"/>
          <a:stretch/>
        </p:blipFill>
        <p:spPr>
          <a:xfrm>
            <a:off x="-300256" y="0"/>
            <a:ext cx="11322950" cy="5158233"/>
          </a:xfrm>
          <a:prstGeom prst="rect">
            <a:avLst/>
          </a:prstGeom>
          <a:ln>
            <a:solidFill>
              <a:srgbClr val="3877F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0595BC-54B4-5086-FAAA-75840281098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B92A9D-EF24-D8E9-35A5-4F03418958E6}"/>
              </a:ext>
            </a:extLst>
          </p:cNvPr>
          <p:cNvSpPr/>
          <p:nvPr/>
        </p:nvSpPr>
        <p:spPr>
          <a:xfrm>
            <a:off x="971550" y="1314450"/>
            <a:ext cx="2390775" cy="2390775"/>
          </a:xfrm>
          <a:prstGeom prst="ellipse">
            <a:avLst/>
          </a:prstGeom>
          <a:gradFill flip="none" rotWithShape="1">
            <a:gsLst>
              <a:gs pos="0">
                <a:srgbClr val="3877F2"/>
              </a:gs>
              <a:gs pos="100000">
                <a:srgbClr val="8FA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00" b="1" dirty="0">
                <a:solidFill>
                  <a:schemeClr val="bg1"/>
                </a:solidFill>
              </a:rPr>
              <a:t>Data Cleaning &amp; Wrangling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2850F0-19F3-57F4-5167-D69E7AF6DB62}"/>
              </a:ext>
            </a:extLst>
          </p:cNvPr>
          <p:cNvGrpSpPr/>
          <p:nvPr/>
        </p:nvGrpSpPr>
        <p:grpSpPr>
          <a:xfrm rot="535190">
            <a:off x="-2976564" y="-1107282"/>
            <a:ext cx="7510463" cy="7358064"/>
            <a:chOff x="-2976564" y="-1107282"/>
            <a:chExt cx="7510463" cy="73580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82AC0B9-B05E-0549-D0C3-9C636E7E5615}"/>
                </a:ext>
              </a:extLst>
            </p:cNvPr>
            <p:cNvSpPr/>
            <p:nvPr/>
          </p:nvSpPr>
          <p:spPr>
            <a:xfrm>
              <a:off x="-2976564" y="-1107282"/>
              <a:ext cx="7358064" cy="735806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E6E5595-F9A2-C301-898C-3DDC35B037D3}"/>
                </a:ext>
              </a:extLst>
            </p:cNvPr>
            <p:cNvSpPr/>
            <p:nvPr/>
          </p:nvSpPr>
          <p:spPr>
            <a:xfrm>
              <a:off x="3362325" y="714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921FF41-EFD6-810C-5ADA-76BAC18E16DE}"/>
                </a:ext>
              </a:extLst>
            </p:cNvPr>
            <p:cNvSpPr/>
            <p:nvPr/>
          </p:nvSpPr>
          <p:spPr>
            <a:xfrm>
              <a:off x="4067173" y="163115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1038D30-288F-6C46-2CF4-DC4BA0482261}"/>
                </a:ext>
              </a:extLst>
            </p:cNvPr>
            <p:cNvSpPr/>
            <p:nvPr/>
          </p:nvSpPr>
          <p:spPr>
            <a:xfrm>
              <a:off x="4124324" y="313372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3C83FC4-AF96-87DC-9E36-3FB5F0DA6A05}"/>
                </a:ext>
              </a:extLst>
            </p:cNvPr>
            <p:cNvSpPr/>
            <p:nvPr/>
          </p:nvSpPr>
          <p:spPr>
            <a:xfrm>
              <a:off x="3589010" y="432979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735CF67-3628-DC64-7C4D-B22341EED2D0}"/>
                </a:ext>
              </a:extLst>
            </p:cNvPr>
            <p:cNvSpPr/>
            <p:nvPr/>
          </p:nvSpPr>
          <p:spPr>
            <a:xfrm>
              <a:off x="2533650" y="54435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930D991-DB02-5392-1ED8-F62DDA9C6A38}"/>
              </a:ext>
            </a:extLst>
          </p:cNvPr>
          <p:cNvSpPr txBox="1"/>
          <p:nvPr/>
        </p:nvSpPr>
        <p:spPr>
          <a:xfrm>
            <a:off x="2898716" y="618616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EFFD1-962A-1BC3-5B86-512381CB63A5}"/>
              </a:ext>
            </a:extLst>
          </p:cNvPr>
          <p:cNvSpPr txBox="1"/>
          <p:nvPr/>
        </p:nvSpPr>
        <p:spPr>
          <a:xfrm>
            <a:off x="3218927" y="3767264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579CA6-578E-297B-9335-185B040064BB}"/>
              </a:ext>
            </a:extLst>
          </p:cNvPr>
          <p:cNvSpPr txBox="1"/>
          <p:nvPr/>
        </p:nvSpPr>
        <p:spPr>
          <a:xfrm>
            <a:off x="2471771" y="484308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F61347-7D34-53A8-92A2-B2CDAF7AE8C8}"/>
              </a:ext>
            </a:extLst>
          </p:cNvPr>
          <p:cNvSpPr txBox="1"/>
          <p:nvPr/>
        </p:nvSpPr>
        <p:spPr>
          <a:xfrm>
            <a:off x="1247106" y="577181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8D6E0-382A-4CEC-1200-C16B5FCF2EB0}"/>
              </a:ext>
            </a:extLst>
          </p:cNvPr>
          <p:cNvSpPr txBox="1"/>
          <p:nvPr/>
        </p:nvSpPr>
        <p:spPr>
          <a:xfrm>
            <a:off x="3343275" y="227133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D99903-E63E-AF73-8700-B3E309798EB0}"/>
              </a:ext>
            </a:extLst>
          </p:cNvPr>
          <p:cNvSpPr txBox="1"/>
          <p:nvPr/>
        </p:nvSpPr>
        <p:spPr>
          <a:xfrm>
            <a:off x="5021490" y="-6110134"/>
            <a:ext cx="3889419" cy="23802350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Missing Data: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Remove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fill</a:t>
            </a:r>
            <a:r>
              <a:rPr lang="en-US" sz="1400" dirty="0">
                <a:solidFill>
                  <a:schemeClr val="bg1"/>
                </a:solidFill>
              </a:rPr>
              <a:t> missing values using techniques like mean, median, or forward fill.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functions: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df.fillna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Removing Duplicates: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Ensure there are no duplicate records in your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df.drop_duplicates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Data Transformation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Convert data types where necessary (e.g., strings to integers or dates).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df.astype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Outliers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Identify and handle outliers to prevent them from skewing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b="1" dirty="0">
                <a:solidFill>
                  <a:schemeClr val="bg1"/>
                </a:solidFill>
              </a:rPr>
              <a:t>IQR (Interquartile Range)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Z-scores</a:t>
            </a:r>
            <a:r>
              <a:rPr lang="en-US" sz="1400" dirty="0">
                <a:solidFill>
                  <a:schemeClr val="bg1"/>
                </a:solidFill>
              </a:rPr>
              <a:t> for detection.</a:t>
            </a: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Normalizing &amp; Scaling Data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 dirty="0">
                <a:solidFill>
                  <a:schemeClr val="bg1"/>
                </a:solidFill>
              </a:rPr>
              <a:t>Data normalization</a:t>
            </a:r>
            <a:r>
              <a:rPr lang="en-US" dirty="0">
                <a:solidFill>
                  <a:schemeClr val="bg1"/>
                </a:solidFill>
              </a:rPr>
              <a:t> is the process of organizing data into multiple related tables to eliminate duplication, minimize redundancy, and ensure logical data storage. This is achieved by applying a series of rules known as </a:t>
            </a:r>
            <a:r>
              <a:rPr lang="en-US" b="1" dirty="0">
                <a:solidFill>
                  <a:schemeClr val="bg1"/>
                </a:solidFill>
              </a:rPr>
              <a:t>normal forms (NF)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630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F3AE-B18F-AA67-C2F9-5528C88C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train on a bridge over a waterfall&#10;&#10;AI-generated content may be incorrect.">
            <a:extLst>
              <a:ext uri="{FF2B5EF4-FFF2-40B4-BE49-F238E27FC236}">
                <a16:creationId xmlns:a16="http://schemas.microsoft.com/office/drawing/2014/main" id="{8B38CEEE-75EC-1E4C-9E14-A55505A71C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5" b="11852"/>
          <a:stretch/>
        </p:blipFill>
        <p:spPr>
          <a:xfrm>
            <a:off x="-696048" y="0"/>
            <a:ext cx="11322950" cy="5158233"/>
          </a:xfrm>
          <a:prstGeom prst="rect">
            <a:avLst/>
          </a:prstGeom>
          <a:ln>
            <a:solidFill>
              <a:srgbClr val="3877F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88687E-A92D-9715-1C5B-62C993492CA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18EC2E-B51C-10D9-921D-A7FFA7253207}"/>
              </a:ext>
            </a:extLst>
          </p:cNvPr>
          <p:cNvSpPr/>
          <p:nvPr/>
        </p:nvSpPr>
        <p:spPr>
          <a:xfrm>
            <a:off x="971550" y="1314450"/>
            <a:ext cx="2390775" cy="2390775"/>
          </a:xfrm>
          <a:prstGeom prst="ellipse">
            <a:avLst/>
          </a:prstGeom>
          <a:gradFill flip="none" rotWithShape="1">
            <a:gsLst>
              <a:gs pos="0">
                <a:srgbClr val="3877F2"/>
              </a:gs>
              <a:gs pos="100000">
                <a:srgbClr val="8FA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00" b="1" dirty="0">
                <a:solidFill>
                  <a:schemeClr val="bg1"/>
                </a:solidFill>
              </a:rPr>
              <a:t>Data Cleaning &amp; Wrangling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0B687-75C5-9C7D-23B7-828C67FF07AB}"/>
              </a:ext>
            </a:extLst>
          </p:cNvPr>
          <p:cNvGrpSpPr/>
          <p:nvPr/>
        </p:nvGrpSpPr>
        <p:grpSpPr>
          <a:xfrm rot="20729401">
            <a:off x="-2976564" y="-1107282"/>
            <a:ext cx="7510463" cy="7358064"/>
            <a:chOff x="-2976564" y="-1107282"/>
            <a:chExt cx="7510463" cy="73580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DCC2BAA-BBA6-27DF-A60A-B66068E011D7}"/>
                </a:ext>
              </a:extLst>
            </p:cNvPr>
            <p:cNvSpPr/>
            <p:nvPr/>
          </p:nvSpPr>
          <p:spPr>
            <a:xfrm>
              <a:off x="-2976564" y="-1107282"/>
              <a:ext cx="7358064" cy="735806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7766882-4424-3ADC-8646-5B0901A23F1B}"/>
                </a:ext>
              </a:extLst>
            </p:cNvPr>
            <p:cNvSpPr/>
            <p:nvPr/>
          </p:nvSpPr>
          <p:spPr>
            <a:xfrm>
              <a:off x="3362325" y="714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92ED07A-A6F8-296D-DABD-9ED423B373A2}"/>
                </a:ext>
              </a:extLst>
            </p:cNvPr>
            <p:cNvSpPr/>
            <p:nvPr/>
          </p:nvSpPr>
          <p:spPr>
            <a:xfrm>
              <a:off x="4067173" y="163115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7BD297-99DB-2AFB-BED2-D7C6788586B5}"/>
                </a:ext>
              </a:extLst>
            </p:cNvPr>
            <p:cNvSpPr/>
            <p:nvPr/>
          </p:nvSpPr>
          <p:spPr>
            <a:xfrm>
              <a:off x="4124324" y="313372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4B2570A-1848-A421-5A8A-2E4602612F22}"/>
                </a:ext>
              </a:extLst>
            </p:cNvPr>
            <p:cNvSpPr/>
            <p:nvPr/>
          </p:nvSpPr>
          <p:spPr>
            <a:xfrm>
              <a:off x="3589010" y="432979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AE7800-9CD1-1318-2620-73BE5B7C5C1E}"/>
                </a:ext>
              </a:extLst>
            </p:cNvPr>
            <p:cNvSpPr/>
            <p:nvPr/>
          </p:nvSpPr>
          <p:spPr>
            <a:xfrm>
              <a:off x="2533650" y="54435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D50B4C4-B1B6-02CD-761D-A0760EBE90B7}"/>
              </a:ext>
            </a:extLst>
          </p:cNvPr>
          <p:cNvSpPr txBox="1"/>
          <p:nvPr/>
        </p:nvSpPr>
        <p:spPr>
          <a:xfrm>
            <a:off x="1976471" y="-511482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0404F-6683-F3E7-58B9-77347C65FCDC}"/>
              </a:ext>
            </a:extLst>
          </p:cNvPr>
          <p:cNvSpPr txBox="1"/>
          <p:nvPr/>
        </p:nvSpPr>
        <p:spPr>
          <a:xfrm>
            <a:off x="3437052" y="228957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A356FF-1F16-2496-91BB-11F3AD67E335}"/>
              </a:ext>
            </a:extLst>
          </p:cNvPr>
          <p:cNvSpPr txBox="1"/>
          <p:nvPr/>
        </p:nvSpPr>
        <p:spPr>
          <a:xfrm>
            <a:off x="3235148" y="3558703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5156D-3CF1-E348-89B8-1021B080B6D9}"/>
              </a:ext>
            </a:extLst>
          </p:cNvPr>
          <p:cNvSpPr txBox="1"/>
          <p:nvPr/>
        </p:nvSpPr>
        <p:spPr>
          <a:xfrm>
            <a:off x="2506231" y="500495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4672D9-B012-ED3B-F352-EEF0E7CE1F9E}"/>
              </a:ext>
            </a:extLst>
          </p:cNvPr>
          <p:cNvSpPr txBox="1"/>
          <p:nvPr/>
        </p:nvSpPr>
        <p:spPr>
          <a:xfrm>
            <a:off x="2990338" y="836046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18AD6-508D-3E2F-E977-F6A806FE6895}"/>
              </a:ext>
            </a:extLst>
          </p:cNvPr>
          <p:cNvSpPr txBox="1"/>
          <p:nvPr/>
        </p:nvSpPr>
        <p:spPr>
          <a:xfrm>
            <a:off x="5021490" y="-10400784"/>
            <a:ext cx="3889419" cy="23802350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Missing Data: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Remove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fill</a:t>
            </a:r>
            <a:r>
              <a:rPr lang="en-US" sz="1400" dirty="0">
                <a:solidFill>
                  <a:schemeClr val="bg1"/>
                </a:solidFill>
              </a:rPr>
              <a:t> missing values using techniques like mean, median, or forward fill.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functions: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df.fillna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Removing Duplicates: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Ensure there are no duplicate records in your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df.drop_duplicates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Data Transformation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Convert data types where necessary (e.g., strings to integers or dates).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df.astype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Outliers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Identify and handle outliers to prevent them from skewing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b="1" dirty="0">
                <a:solidFill>
                  <a:schemeClr val="bg1"/>
                </a:solidFill>
              </a:rPr>
              <a:t>IQR (Interquartile Range)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Z-scores</a:t>
            </a:r>
            <a:r>
              <a:rPr lang="en-US" sz="1400" dirty="0">
                <a:solidFill>
                  <a:schemeClr val="bg1"/>
                </a:solidFill>
              </a:rPr>
              <a:t> for detection.</a:t>
            </a: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Normalizing &amp; Scaling Data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 dirty="0">
                <a:solidFill>
                  <a:schemeClr val="bg1"/>
                </a:solidFill>
              </a:rPr>
              <a:t>Data normalization</a:t>
            </a:r>
            <a:r>
              <a:rPr lang="en-US" dirty="0">
                <a:solidFill>
                  <a:schemeClr val="bg1"/>
                </a:solidFill>
              </a:rPr>
              <a:t> is the process of organizing data into multiple related tables to eliminate duplication, minimize redundancy, and ensure logical data storage. This is achieved by applying a series of rules known as </a:t>
            </a:r>
            <a:r>
              <a:rPr lang="en-US" b="1" dirty="0">
                <a:solidFill>
                  <a:schemeClr val="bg1"/>
                </a:solidFill>
              </a:rPr>
              <a:t>normal forms (NF)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80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DFCA-428A-3503-5270-E2A174B1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train on a bridge over a waterfall&#10;&#10;AI-generated content may be incorrect.">
            <a:extLst>
              <a:ext uri="{FF2B5EF4-FFF2-40B4-BE49-F238E27FC236}">
                <a16:creationId xmlns:a16="http://schemas.microsoft.com/office/drawing/2014/main" id="{5DA375E0-AF81-0F42-1002-EDAC4E490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5" b="11852"/>
          <a:stretch/>
        </p:blipFill>
        <p:spPr>
          <a:xfrm>
            <a:off x="-1378437" y="0"/>
            <a:ext cx="11322950" cy="5158233"/>
          </a:xfrm>
          <a:prstGeom prst="rect">
            <a:avLst/>
          </a:prstGeom>
          <a:ln>
            <a:solidFill>
              <a:srgbClr val="3877F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3D570A-FE67-659B-C3E9-ABFA5C2A91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B8160D-94D7-9542-9C50-5BA41D920899}"/>
              </a:ext>
            </a:extLst>
          </p:cNvPr>
          <p:cNvSpPr/>
          <p:nvPr/>
        </p:nvSpPr>
        <p:spPr>
          <a:xfrm>
            <a:off x="971550" y="1314450"/>
            <a:ext cx="2390775" cy="2390775"/>
          </a:xfrm>
          <a:prstGeom prst="ellipse">
            <a:avLst/>
          </a:prstGeom>
          <a:gradFill flip="none" rotWithShape="1">
            <a:gsLst>
              <a:gs pos="0">
                <a:srgbClr val="3877F2"/>
              </a:gs>
              <a:gs pos="100000">
                <a:srgbClr val="8FA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00" b="1" dirty="0">
                <a:solidFill>
                  <a:schemeClr val="bg1"/>
                </a:solidFill>
              </a:rPr>
              <a:t>Data Cleaning &amp; Wrangling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934A63-006C-F7E9-F2B0-ADFB22C96CCB}"/>
              </a:ext>
            </a:extLst>
          </p:cNvPr>
          <p:cNvGrpSpPr/>
          <p:nvPr/>
        </p:nvGrpSpPr>
        <p:grpSpPr>
          <a:xfrm rot="19473256">
            <a:off x="-2976564" y="-1107282"/>
            <a:ext cx="7510463" cy="7358064"/>
            <a:chOff x="-2976564" y="-1107282"/>
            <a:chExt cx="7510463" cy="73580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923A65-652F-1E91-63BE-4863B10EEAA5}"/>
                </a:ext>
              </a:extLst>
            </p:cNvPr>
            <p:cNvSpPr/>
            <p:nvPr/>
          </p:nvSpPr>
          <p:spPr>
            <a:xfrm>
              <a:off x="-2976564" y="-1107282"/>
              <a:ext cx="7358064" cy="735806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F1763E2-C81A-F0A2-AA56-ADCED05A422F}"/>
                </a:ext>
              </a:extLst>
            </p:cNvPr>
            <p:cNvSpPr/>
            <p:nvPr/>
          </p:nvSpPr>
          <p:spPr>
            <a:xfrm>
              <a:off x="3362325" y="714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787CDF-B05B-E695-E01C-22BDF913A2CE}"/>
                </a:ext>
              </a:extLst>
            </p:cNvPr>
            <p:cNvSpPr/>
            <p:nvPr/>
          </p:nvSpPr>
          <p:spPr>
            <a:xfrm>
              <a:off x="4067173" y="163115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E0DC95-3973-6C5D-AB17-AC90ACFC0602}"/>
                </a:ext>
              </a:extLst>
            </p:cNvPr>
            <p:cNvSpPr/>
            <p:nvPr/>
          </p:nvSpPr>
          <p:spPr>
            <a:xfrm>
              <a:off x="4124324" y="313372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6BB60E0-E4E8-04D7-45DF-B65B6373E91C}"/>
                </a:ext>
              </a:extLst>
            </p:cNvPr>
            <p:cNvSpPr/>
            <p:nvPr/>
          </p:nvSpPr>
          <p:spPr>
            <a:xfrm>
              <a:off x="3589010" y="432979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82C0F6-1EDF-80F3-6A9C-0ED24D36C08F}"/>
                </a:ext>
              </a:extLst>
            </p:cNvPr>
            <p:cNvSpPr/>
            <p:nvPr/>
          </p:nvSpPr>
          <p:spPr>
            <a:xfrm>
              <a:off x="2533650" y="54435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402EA31-4FE2-2B0F-6C08-28E4A5D58B7F}"/>
              </a:ext>
            </a:extLst>
          </p:cNvPr>
          <p:cNvSpPr txBox="1"/>
          <p:nvPr/>
        </p:nvSpPr>
        <p:spPr>
          <a:xfrm>
            <a:off x="442872" y="-860376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4FC15-D3D5-4D23-B019-F25154DAD50D}"/>
              </a:ext>
            </a:extLst>
          </p:cNvPr>
          <p:cNvSpPr txBox="1"/>
          <p:nvPr/>
        </p:nvSpPr>
        <p:spPr>
          <a:xfrm>
            <a:off x="3148877" y="99212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B31CAB-7A20-F8DD-4BE4-91DEBA0B73C6}"/>
              </a:ext>
            </a:extLst>
          </p:cNvPr>
          <p:cNvSpPr txBox="1"/>
          <p:nvPr/>
        </p:nvSpPr>
        <p:spPr>
          <a:xfrm>
            <a:off x="3454373" y="227477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679F8E-C291-7F19-99F5-F19C34ACABA2}"/>
              </a:ext>
            </a:extLst>
          </p:cNvPr>
          <p:cNvSpPr txBox="1"/>
          <p:nvPr/>
        </p:nvSpPr>
        <p:spPr>
          <a:xfrm>
            <a:off x="3197813" y="3855601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AF2800-B4D1-638E-F6AA-18F598EC1429}"/>
              </a:ext>
            </a:extLst>
          </p:cNvPr>
          <p:cNvSpPr txBox="1"/>
          <p:nvPr/>
        </p:nvSpPr>
        <p:spPr>
          <a:xfrm>
            <a:off x="2166937" y="-323987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AA1E8-DB56-1236-12A6-FFF73D6B8C75}"/>
              </a:ext>
            </a:extLst>
          </p:cNvPr>
          <p:cNvSpPr txBox="1"/>
          <p:nvPr/>
        </p:nvSpPr>
        <p:spPr>
          <a:xfrm>
            <a:off x="5021490" y="-14225431"/>
            <a:ext cx="3889419" cy="23802350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Missing Data: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Remove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fill</a:t>
            </a:r>
            <a:r>
              <a:rPr lang="en-US" sz="1400" dirty="0">
                <a:solidFill>
                  <a:schemeClr val="bg1"/>
                </a:solidFill>
              </a:rPr>
              <a:t> missing values using techniques like mean, median, or forward fill.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functions: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df.fillna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Removing Duplicates: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Ensure there are no duplicate records in your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df.drop_duplicates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Data Transformation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Convert data types where necessary (e.g., strings to integers or dates).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df.astype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Outliers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Identify and handle outliers to prevent them from skewing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b="1" dirty="0">
                <a:solidFill>
                  <a:schemeClr val="bg1"/>
                </a:solidFill>
              </a:rPr>
              <a:t>IQR (Interquartile Range)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Z-scores</a:t>
            </a:r>
            <a:r>
              <a:rPr lang="en-US" sz="1400" dirty="0">
                <a:solidFill>
                  <a:schemeClr val="bg1"/>
                </a:solidFill>
              </a:rPr>
              <a:t> for detection.</a:t>
            </a: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Normalizing &amp; Scaling Data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 dirty="0">
                <a:solidFill>
                  <a:schemeClr val="bg1"/>
                </a:solidFill>
              </a:rPr>
              <a:t>Data normalization</a:t>
            </a:r>
            <a:r>
              <a:rPr lang="en-US" dirty="0">
                <a:solidFill>
                  <a:schemeClr val="bg1"/>
                </a:solidFill>
              </a:rPr>
              <a:t> is the process of organizing data into multiple related tables to eliminate duplication, minimize redundancy, and ensure logical data storage. This is achieved by applying a series of rules known as </a:t>
            </a:r>
            <a:r>
              <a:rPr lang="en-US" b="1" dirty="0">
                <a:solidFill>
                  <a:schemeClr val="bg1"/>
                </a:solidFill>
              </a:rPr>
              <a:t>normal forms (NF)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237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C8E9-163B-F6F3-F41C-2BABA63D1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train on a bridge over a waterfall&#10;&#10;AI-generated content may be incorrect.">
            <a:extLst>
              <a:ext uri="{FF2B5EF4-FFF2-40B4-BE49-F238E27FC236}">
                <a16:creationId xmlns:a16="http://schemas.microsoft.com/office/drawing/2014/main" id="{C73B70F4-60D7-8C14-6B87-AC45EB9B3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815" b="11852"/>
          <a:stretch/>
        </p:blipFill>
        <p:spPr>
          <a:xfrm>
            <a:off x="-2129069" y="0"/>
            <a:ext cx="11322950" cy="5158233"/>
          </a:xfrm>
          <a:prstGeom prst="rect">
            <a:avLst/>
          </a:prstGeom>
          <a:ln>
            <a:solidFill>
              <a:srgbClr val="3877F2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3F8EFCD-D85C-A702-6AA2-99E1A710B41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F9A077-6FC1-5440-7DB1-CE44A64CE4CC}"/>
              </a:ext>
            </a:extLst>
          </p:cNvPr>
          <p:cNvSpPr/>
          <p:nvPr/>
        </p:nvSpPr>
        <p:spPr>
          <a:xfrm>
            <a:off x="971550" y="1314450"/>
            <a:ext cx="2390775" cy="2390775"/>
          </a:xfrm>
          <a:prstGeom prst="ellipse">
            <a:avLst/>
          </a:prstGeom>
          <a:gradFill flip="none" rotWithShape="1">
            <a:gsLst>
              <a:gs pos="0">
                <a:srgbClr val="3877F2"/>
              </a:gs>
              <a:gs pos="100000">
                <a:srgbClr val="8FAE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00" b="1" dirty="0">
                <a:solidFill>
                  <a:schemeClr val="bg1"/>
                </a:solidFill>
              </a:rPr>
              <a:t>Data Cleaning &amp; Wrangling</a:t>
            </a:r>
            <a:endParaRPr lang="en-US" sz="18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7B3946-6EBF-C680-4B86-3179300F40FE}"/>
              </a:ext>
            </a:extLst>
          </p:cNvPr>
          <p:cNvGrpSpPr/>
          <p:nvPr/>
        </p:nvGrpSpPr>
        <p:grpSpPr>
          <a:xfrm rot="17987097">
            <a:off x="-2976564" y="-1107282"/>
            <a:ext cx="7510463" cy="7358064"/>
            <a:chOff x="-2976564" y="-1107282"/>
            <a:chExt cx="7510463" cy="73580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FE5CA89-916C-507C-152A-D64B98013C24}"/>
                </a:ext>
              </a:extLst>
            </p:cNvPr>
            <p:cNvSpPr/>
            <p:nvPr/>
          </p:nvSpPr>
          <p:spPr>
            <a:xfrm>
              <a:off x="-2976564" y="-1107282"/>
              <a:ext cx="7358064" cy="7358064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48A333C-98ED-13B8-8F94-D407C4FDA423}"/>
                </a:ext>
              </a:extLst>
            </p:cNvPr>
            <p:cNvSpPr/>
            <p:nvPr/>
          </p:nvSpPr>
          <p:spPr>
            <a:xfrm>
              <a:off x="3362325" y="714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31B14B-35B8-5058-EFD6-C31960694FA5}"/>
                </a:ext>
              </a:extLst>
            </p:cNvPr>
            <p:cNvSpPr/>
            <p:nvPr/>
          </p:nvSpPr>
          <p:spPr>
            <a:xfrm>
              <a:off x="4067173" y="163115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CE3FFD1-86C0-81E2-56E2-D02E28DB5970}"/>
                </a:ext>
              </a:extLst>
            </p:cNvPr>
            <p:cNvSpPr/>
            <p:nvPr/>
          </p:nvSpPr>
          <p:spPr>
            <a:xfrm>
              <a:off x="4124324" y="313372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A6C282-F6BD-EDC7-2866-91BBC4451B92}"/>
                </a:ext>
              </a:extLst>
            </p:cNvPr>
            <p:cNvSpPr/>
            <p:nvPr/>
          </p:nvSpPr>
          <p:spPr>
            <a:xfrm>
              <a:off x="3589010" y="4329795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BAFA85-35F1-188E-7A58-78BAD1AC0DA9}"/>
                </a:ext>
              </a:extLst>
            </p:cNvPr>
            <p:cNvSpPr/>
            <p:nvPr/>
          </p:nvSpPr>
          <p:spPr>
            <a:xfrm>
              <a:off x="2533650" y="5443537"/>
              <a:ext cx="409575" cy="4095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86A66C6-9765-968D-8BD7-DCEB1DEBF55D}"/>
              </a:ext>
            </a:extLst>
          </p:cNvPr>
          <p:cNvSpPr txBox="1"/>
          <p:nvPr/>
        </p:nvSpPr>
        <p:spPr>
          <a:xfrm>
            <a:off x="442872" y="-860376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1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6FBFC-F8D3-6003-B45B-1AF7E93AB5EE}"/>
              </a:ext>
            </a:extLst>
          </p:cNvPr>
          <p:cNvSpPr txBox="1"/>
          <p:nvPr/>
        </p:nvSpPr>
        <p:spPr>
          <a:xfrm>
            <a:off x="2401626" y="-282669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38E55-AA02-58DD-86B5-BEA06CA0B74A}"/>
              </a:ext>
            </a:extLst>
          </p:cNvPr>
          <p:cNvSpPr txBox="1"/>
          <p:nvPr/>
        </p:nvSpPr>
        <p:spPr>
          <a:xfrm>
            <a:off x="2969648" y="777597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73981B-5EBC-DE3B-3F1E-ECB9743560D5}"/>
              </a:ext>
            </a:extLst>
          </p:cNvPr>
          <p:cNvSpPr txBox="1"/>
          <p:nvPr/>
        </p:nvSpPr>
        <p:spPr>
          <a:xfrm>
            <a:off x="3487269" y="2245260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21801-F4F9-AC8C-7A8D-67561B40407B}"/>
              </a:ext>
            </a:extLst>
          </p:cNvPr>
          <p:cNvSpPr txBox="1"/>
          <p:nvPr/>
        </p:nvSpPr>
        <p:spPr>
          <a:xfrm>
            <a:off x="1359309" y="-662358"/>
            <a:ext cx="990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1B8AA-40E1-3ECC-28E6-383B03D93A0C}"/>
              </a:ext>
            </a:extLst>
          </p:cNvPr>
          <p:cNvSpPr txBox="1"/>
          <p:nvPr/>
        </p:nvSpPr>
        <p:spPr>
          <a:xfrm>
            <a:off x="5021490" y="-18058875"/>
            <a:ext cx="3889419" cy="23802350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ar-EG" sz="1800" b="1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Missing Data: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Remove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fill</a:t>
            </a:r>
            <a:r>
              <a:rPr lang="en-US" sz="1400" dirty="0">
                <a:solidFill>
                  <a:schemeClr val="bg1"/>
                </a:solidFill>
              </a:rPr>
              <a:t> missing values using techniques like mean, median, or forward fill.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functions: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df.fillna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Removing Duplicates: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Ensure there are no duplicate records in your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df.drop_duplicates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Data Transformation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Convert data types where necessary (e.g., strings to integers or dates).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b="1" dirty="0">
                <a:solidFill>
                  <a:schemeClr val="bg1"/>
                </a:solidFill>
              </a:rPr>
              <a:t>pandas</a:t>
            </a:r>
            <a:r>
              <a:rPr lang="en-US" sz="1400" dirty="0">
                <a:solidFill>
                  <a:schemeClr val="bg1"/>
                </a:solidFill>
              </a:rPr>
              <a:t> function: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df.astype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pd.to_datetime</a:t>
            </a:r>
            <a:r>
              <a:rPr lang="en-US" sz="14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Handling Outliers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Identify and handle outliers to prevent them from skewing analysis.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Use </a:t>
            </a:r>
            <a:r>
              <a:rPr lang="en-US" sz="1400" b="1" dirty="0">
                <a:solidFill>
                  <a:schemeClr val="bg1"/>
                </a:solidFill>
              </a:rPr>
              <a:t>IQR (Interquartile Range)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Z-scores</a:t>
            </a:r>
            <a:r>
              <a:rPr lang="en-US" sz="1400" dirty="0">
                <a:solidFill>
                  <a:schemeClr val="bg1"/>
                </a:solidFill>
              </a:rPr>
              <a:t> for detection.</a:t>
            </a:r>
            <a:endParaRPr lang="en-US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1587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Normalizing &amp; Scaling Data</a:t>
            </a:r>
            <a:r>
              <a:rPr lang="en-US" sz="1800" dirty="0">
                <a:solidFill>
                  <a:schemeClr val="bg1"/>
                </a:solidFill>
              </a:rPr>
              <a:t>: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b="1" dirty="0">
                <a:solidFill>
                  <a:schemeClr val="bg1"/>
                </a:solidFill>
              </a:rPr>
              <a:t>Data normalization</a:t>
            </a:r>
            <a:r>
              <a:rPr lang="en-US" dirty="0">
                <a:solidFill>
                  <a:schemeClr val="bg1"/>
                </a:solidFill>
              </a:rPr>
              <a:t> is the process of organizing data into multiple related tables to eliminate duplication, minimize redundancy, and ensure logical data storage. This is achieved by applying a series of rules known as </a:t>
            </a:r>
            <a:r>
              <a:rPr lang="en-US" b="1" dirty="0">
                <a:solidFill>
                  <a:schemeClr val="bg1"/>
                </a:solidFill>
              </a:rPr>
              <a:t>normal forms (NF)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ar-EG" dirty="0">
              <a:solidFill>
                <a:schemeClr val="bg1"/>
              </a:solidFill>
              <a:latin typeface="Roboto Mono"/>
              <a:ea typeface="Roboto Mono"/>
              <a:sym typeface="Roboto Mon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98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/>
        </p:nvSpPr>
        <p:spPr>
          <a:xfrm>
            <a:off x="3688834" y="35743"/>
            <a:ext cx="3002400" cy="68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Importing Required Libraries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672528" y="734955"/>
            <a:ext cx="7097971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These are the core Python libraries used for </a:t>
            </a:r>
            <a:r>
              <a:rPr lang="en" sz="1100" b="1" dirty="0">
                <a:solidFill>
                  <a:schemeClr val="dk1"/>
                </a:solidFill>
              </a:rPr>
              <a:t>data manipulation</a:t>
            </a:r>
            <a:r>
              <a:rPr lang="en" sz="1100" dirty="0">
                <a:solidFill>
                  <a:schemeClr val="dk1"/>
                </a:solidFill>
              </a:rPr>
              <a:t> (pandas, numpy) and </a:t>
            </a:r>
            <a:r>
              <a:rPr lang="en" sz="1100" b="1" dirty="0">
                <a:solidFill>
                  <a:schemeClr val="dk1"/>
                </a:solidFill>
              </a:rPr>
              <a:t>visualization</a:t>
            </a:r>
            <a:r>
              <a:rPr lang="en" sz="1100" dirty="0">
                <a:solidFill>
                  <a:schemeClr val="dk1"/>
                </a:solidFill>
              </a:rPr>
              <a:t> (matplotlib, seaborn).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01" name="Google Shape;20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254" y="1350256"/>
            <a:ext cx="2623980" cy="12706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3" name="Google Shape;203;p24" title="MC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1262859-21A9-D5DC-E532-A0152033E60F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AF7B2FB-3DF4-95F7-0603-0C97BF52CC69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96A2EB-152E-FEA8-4118-6DBC8059872F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C75A0F49-1A11-42A8-4DE2-AA470A16C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90F020F-4C67-544B-D538-B0A10E4B24A6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2B3B722A-DAB3-7F9C-0107-0430165BEDC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5;p25">
            <a:extLst>
              <a:ext uri="{FF2B5EF4-FFF2-40B4-BE49-F238E27FC236}">
                <a16:creationId xmlns:a16="http://schemas.microsoft.com/office/drawing/2014/main" id="{CAACA1DB-755F-396C-A3B1-B74D8ED91500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09960" y="1350256"/>
            <a:ext cx="2057437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6;p25">
            <a:extLst>
              <a:ext uri="{FF2B5EF4-FFF2-40B4-BE49-F238E27FC236}">
                <a16:creationId xmlns:a16="http://schemas.microsoft.com/office/drawing/2014/main" id="{BD539BD5-09AF-0F27-097C-95A84E99481C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09960" y="1681537"/>
            <a:ext cx="24384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14;p25">
            <a:extLst>
              <a:ext uri="{FF2B5EF4-FFF2-40B4-BE49-F238E27FC236}">
                <a16:creationId xmlns:a16="http://schemas.microsoft.com/office/drawing/2014/main" id="{57A5837F-67F2-FFD1-E691-4BF55537AE3D}"/>
              </a:ext>
            </a:extLst>
          </p:cNvPr>
          <p:cNvSpPr txBox="1"/>
          <p:nvPr/>
        </p:nvSpPr>
        <p:spPr>
          <a:xfrm>
            <a:off x="1749668" y="2714497"/>
            <a:ext cx="5501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🔍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df.head()</a:t>
            </a:r>
            <a:r>
              <a:rPr lang="en" sz="1100" dirty="0">
                <a:solidFill>
                  <a:schemeClr val="dk1"/>
                </a:solidFill>
              </a:rPr>
              <a:t>: Provides a snapshot of the data format and column names.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11" name="Google Shape;217;p25">
            <a:extLst>
              <a:ext uri="{FF2B5EF4-FFF2-40B4-BE49-F238E27FC236}">
                <a16:creationId xmlns:a16="http://schemas.microsoft.com/office/drawing/2014/main" id="{3B119FEF-9273-D4F0-4346-0F1FC580ADCA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60088" y="3191118"/>
            <a:ext cx="5501700" cy="1856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6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350" y="1380990"/>
            <a:ext cx="1837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2393" y="1813279"/>
            <a:ext cx="2972396" cy="289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6" name="Google Shape;22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9722" y="1363263"/>
            <a:ext cx="18764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92293" y="1795552"/>
            <a:ext cx="2871284" cy="2879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26532FC-286E-7A67-8E37-C5FF7F2C3C72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3C1669E-E4C0-F141-B020-69EA1C847394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47821A4-8882-E5B7-A31B-1D8B05F2D8CE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61769E98-FAAD-3C45-6D11-2AB1C257E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CF3D85B0-C318-2AC6-B2C3-4E46DA05CAB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ED9DE3B9-9F3E-D164-558B-AF01B4389CE4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11;p25">
            <a:extLst>
              <a:ext uri="{FF2B5EF4-FFF2-40B4-BE49-F238E27FC236}">
                <a16:creationId xmlns:a16="http://schemas.microsoft.com/office/drawing/2014/main" id="{21727532-78C4-3628-5D30-5C2CE25BDCBE}"/>
              </a:ext>
            </a:extLst>
          </p:cNvPr>
          <p:cNvSpPr txBox="1"/>
          <p:nvPr/>
        </p:nvSpPr>
        <p:spPr>
          <a:xfrm>
            <a:off x="3610938" y="5803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Overview of data and null Values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7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7"/>
          <p:cNvSpPr txBox="1"/>
          <p:nvPr/>
        </p:nvSpPr>
        <p:spPr>
          <a:xfrm>
            <a:off x="2623037" y="694878"/>
            <a:ext cx="5527431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🧾 Step 5: Checking Unique Values in Categorical Columns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2076449" y="1386805"/>
            <a:ext cx="6682800" cy="14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📏 </a:t>
            </a:r>
            <a:r>
              <a:rPr lang="en" sz="1100" b="1" dirty="0">
                <a:solidFill>
                  <a:schemeClr val="dk1"/>
                </a:solidFill>
              </a:rPr>
              <a:t>Why?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Checks and prints </a:t>
            </a:r>
            <a:r>
              <a:rPr lang="en" sz="1100" b="1" dirty="0">
                <a:solidFill>
                  <a:schemeClr val="dk1"/>
                </a:solidFill>
              </a:rPr>
              <a:t>unique values</a:t>
            </a:r>
            <a:r>
              <a:rPr lang="en" sz="1100" dirty="0">
                <a:solidFill>
                  <a:schemeClr val="dk1"/>
                </a:solidFill>
              </a:rPr>
              <a:t> in specified categorical columns.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📋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categorical_columns</a:t>
            </a:r>
            <a:r>
              <a:rPr lang="en" sz="1100" dirty="0">
                <a:solidFill>
                  <a:schemeClr val="dk1"/>
                </a:solidFill>
              </a:rPr>
              <a:t>: A list of columns with text or non-numeric data.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🔁 For loop</a:t>
            </a:r>
            <a:r>
              <a:rPr lang="en" sz="1100" dirty="0">
                <a:solidFill>
                  <a:schemeClr val="dk1"/>
                </a:solidFill>
              </a:rPr>
              <a:t>: Goes through each column to extract its unique values.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🔎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df[col].unique()</a:t>
            </a:r>
            <a:r>
              <a:rPr lang="en" sz="1100" dirty="0">
                <a:solidFill>
                  <a:schemeClr val="dk1"/>
                </a:solidFill>
              </a:rPr>
              <a:t>: Returns distinct values in each column.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36" name="Google Shape;2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8718" y="3040445"/>
            <a:ext cx="7010401" cy="19171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A39FF97-BEC2-8BDE-2B90-89005EC46B87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5638F9-F4C0-CC85-EB8D-F6A899C45336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425DAC-F7D7-4351-AC9F-28B650F7C2A5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03132156-56EA-4B7D-EC29-76BC383E7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D6C95571-41B8-E75E-AB64-FAA818EFC9B6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D0AD370C-360D-7A2D-C9BA-63264D59EAC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710" y="1387660"/>
            <a:ext cx="3891537" cy="16105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4" name="Google Shape;244;p28"/>
          <p:cNvSpPr txBox="1"/>
          <p:nvPr/>
        </p:nvSpPr>
        <p:spPr>
          <a:xfrm>
            <a:off x="2362200" y="228600"/>
            <a:ext cx="425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🔄 Standardizing Categorical Values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245" name="Google Shape;245;p28"/>
          <p:cNvSpPr txBox="1"/>
          <p:nvPr/>
        </p:nvSpPr>
        <p:spPr>
          <a:xfrm>
            <a:off x="1477483" y="716028"/>
            <a:ext cx="72609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Ensure consistency in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"Reason for Delay"</a:t>
            </a:r>
            <a:r>
              <a:rPr lang="en" sz="1100" dirty="0">
                <a:solidFill>
                  <a:schemeClr val="dk1"/>
                </a:solidFill>
              </a:rPr>
              <a:t> column by cleaning and unifying categorical entries.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What We Did:</a:t>
            </a:r>
            <a:r>
              <a:rPr lang="en" sz="1100" dirty="0">
                <a:solidFill>
                  <a:schemeClr val="dk1"/>
                </a:solidFill>
              </a:rPr>
              <a:t> Used a dictionary to replace inconsistent entries with standardized labels: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1608992" y="1269452"/>
            <a:ext cx="3656908" cy="204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Fixes inconsistencies in capitalization and terminology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Helps ensure reliable grouping and analysis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Prepares data for cleaner visuals and accurate modeling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48" name="Google Shape;24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3948" y="3235427"/>
            <a:ext cx="5227027" cy="1820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48B76A8-6A9D-F209-0E0F-2C382DB84988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97E47F-1028-8E7A-6CCC-770C24AF95E6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5573CE8-FFF1-10C1-CD57-5E55DA28B1AD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BE02261B-542D-4343-6FFA-5B2C1A3FB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95B251BA-9849-1C87-B621-EB954E1C0E8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C8AE649A-64B0-1022-C6CD-C7E317F6ECD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9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/>
        </p:nvSpPr>
        <p:spPr>
          <a:xfrm>
            <a:off x="2362200" y="152400"/>
            <a:ext cx="4709400" cy="5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470535" lvl="0" indent="0" algn="ctr" rtl="0">
              <a:lnSpc>
                <a:spcPct val="105416"/>
              </a:lnSpc>
              <a:spcBef>
                <a:spcPts val="0"/>
              </a:spcBef>
              <a:spcAft>
                <a:spcPts val="1025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🧼</a:t>
            </a:r>
            <a:r>
              <a:rPr lang="en" sz="1100" b="1">
                <a:solidFill>
                  <a:schemeClr val="dk1"/>
                </a:solidFill>
              </a:rPr>
              <a:t> Handling Missing Values in Categorical Columns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1676400" y="685800"/>
            <a:ext cx="595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🎯 Objective: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Fill missing values in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"Railcard"</a:t>
            </a:r>
            <a:r>
              <a:rPr lang="en" sz="1100">
                <a:solidFill>
                  <a:schemeClr val="dk1"/>
                </a:solidFill>
              </a:rPr>
              <a:t> column with a meaningful default category.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57" name="Google Shape;25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578" y="3048199"/>
            <a:ext cx="2744091" cy="647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8" name="Google Shape;258;p29"/>
          <p:cNvSpPr txBox="1"/>
          <p:nvPr/>
        </p:nvSpPr>
        <p:spPr>
          <a:xfrm>
            <a:off x="1977448" y="1169738"/>
            <a:ext cx="5807100" cy="1660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Fills null or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NaN</a:t>
            </a:r>
            <a:r>
              <a:rPr lang="en" sz="1100" dirty="0">
                <a:solidFill>
                  <a:schemeClr val="dk1"/>
                </a:solidFill>
              </a:rPr>
              <a:t> values in ‘Railcard ’with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'No card'</a:t>
            </a:r>
            <a:r>
              <a:rPr lang="en" sz="1100" dirty="0">
                <a:solidFill>
                  <a:schemeClr val="dk1"/>
                </a:solidFill>
              </a:rPr>
              <a:t> to represent passengers without a railcard, and in “Reason for Delay”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'No delay’</a:t>
            </a:r>
            <a:r>
              <a:rPr lang="en" sz="1100" dirty="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 dirty="0">
                <a:solidFill>
                  <a:schemeClr val="dk1"/>
                </a:solidFill>
                <a:sym typeface="Roboto Mono"/>
              </a:rPr>
              <a:t>for on-time journeys.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Prevents issues during analysis and modeling that rely on complete data.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inplace=True</a:t>
            </a:r>
            <a:r>
              <a:rPr lang="en" sz="1100" dirty="0">
                <a:solidFill>
                  <a:schemeClr val="dk1"/>
                </a:solidFill>
              </a:rPr>
              <a:t> ensures the original DataFrame is updated directly.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61" name="Google Shape;26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4578" y="4149827"/>
            <a:ext cx="3371475" cy="548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B1DA8E0-2232-DF11-DE18-BC8B8D46E929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5F519C2-EE32-A6F3-3E80-8EB52E6B19D4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354219-DA1B-5BF9-219B-ACD6F0A7BD5B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F75ED573-7F06-64C1-09F6-BF3F3558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93FDFDA-31CD-4BDF-793B-61EBE6F0E9FA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D971B631-28B3-3F8B-8E64-A73D1165AB6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2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2"/>
          <p:cNvSpPr txBox="1"/>
          <p:nvPr/>
        </p:nvSpPr>
        <p:spPr>
          <a:xfrm>
            <a:off x="2438400" y="304800"/>
            <a:ext cx="3934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🛤 Creating a Route Column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291" name="Google Shape;291;p32"/>
          <p:cNvSpPr txBox="1"/>
          <p:nvPr/>
        </p:nvSpPr>
        <p:spPr>
          <a:xfrm>
            <a:off x="1724873" y="552835"/>
            <a:ext cx="71238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Generate a clear and human-readable trip route in one column by combining departure and arrival locations.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92" name="Google Shape;292;p32"/>
          <p:cNvSpPr txBox="1"/>
          <p:nvPr/>
        </p:nvSpPr>
        <p:spPr>
          <a:xfrm>
            <a:off x="1724873" y="1051809"/>
            <a:ext cx="3524308" cy="2110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Merged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"Departure Station"</a:t>
            </a:r>
            <a:r>
              <a:rPr lang="en" sz="1100" dirty="0">
                <a:solidFill>
                  <a:schemeClr val="dk1"/>
                </a:solidFill>
              </a:rPr>
              <a:t> and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"Arrival Destination"</a:t>
            </a:r>
            <a:r>
              <a:rPr lang="en" sz="1100" dirty="0">
                <a:solidFill>
                  <a:schemeClr val="dk1"/>
                </a:solidFill>
              </a:rPr>
              <a:t>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 to '</a:t>
            </a:r>
            <a:r>
              <a:rPr lang="en" sz="1100" dirty="0">
                <a:solidFill>
                  <a:schemeClr val="dk1"/>
                </a:solidFill>
              </a:rPr>
              <a:t> as a separator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Created a new column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"Route"</a:t>
            </a:r>
            <a:r>
              <a:rPr lang="en" sz="1100" dirty="0">
                <a:solidFill>
                  <a:schemeClr val="dk1"/>
                </a:solidFill>
              </a:rPr>
              <a:t> with values like: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London Euston to Manchester Piccadilly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5249181" y="1280175"/>
            <a:ext cx="41865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Simplifies visualizations and route-based analysis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Useful for grouping trips by origin–destination pair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Enhances readability for dashboards and reports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FDCD9-5B12-272E-3BB0-8A4DA791D934}"/>
              </a:ext>
            </a:extLst>
          </p:cNvPr>
          <p:cNvGrpSpPr/>
          <p:nvPr/>
        </p:nvGrpSpPr>
        <p:grpSpPr>
          <a:xfrm>
            <a:off x="1970947" y="3034530"/>
            <a:ext cx="6243955" cy="1732442"/>
            <a:chOff x="1907928" y="3036544"/>
            <a:chExt cx="6611816" cy="2092155"/>
          </a:xfrm>
        </p:grpSpPr>
        <p:pic>
          <p:nvPicPr>
            <p:cNvPr id="294" name="Google Shape;2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07928" y="3036544"/>
              <a:ext cx="4440298" cy="4656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95" name="Google Shape;295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07928" y="3502150"/>
              <a:ext cx="6611816" cy="162654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862346C-2470-5679-C556-763399CBD9F3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9DEA052-2262-97AF-6266-2DE7F0F524DC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4A6ADB-84A1-1889-897D-928DC949EED6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E8BBD9A1-A2C5-C4C8-4F29-A42C497E0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B786B41-0346-61E2-D8BB-500F1633B029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FFD61CDC-7473-0E89-4B1A-BBE40BC3713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4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4"/>
          <p:cNvSpPr txBox="1"/>
          <p:nvPr/>
        </p:nvSpPr>
        <p:spPr>
          <a:xfrm>
            <a:off x="3124200" y="228600"/>
            <a:ext cx="264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⏱ Calculating Delay in Minutes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314" name="Google Shape;314;p34"/>
          <p:cNvSpPr txBox="1"/>
          <p:nvPr/>
        </p:nvSpPr>
        <p:spPr>
          <a:xfrm>
            <a:off x="1794651" y="1015822"/>
            <a:ext cx="7023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Measure the actual delay for each journey in </a:t>
            </a:r>
            <a:r>
              <a:rPr lang="en" sz="1100" b="1" dirty="0">
                <a:solidFill>
                  <a:schemeClr val="dk1"/>
                </a:solidFill>
              </a:rPr>
              <a:t>minutes</a:t>
            </a:r>
            <a:r>
              <a:rPr lang="en" sz="1100" dirty="0">
                <a:solidFill>
                  <a:schemeClr val="dk1"/>
                </a:solidFill>
              </a:rPr>
              <a:t>, using the scheduled and actual arrival times.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315" name="Google Shape;315;p34"/>
          <p:cNvSpPr txBox="1"/>
          <p:nvPr/>
        </p:nvSpPr>
        <p:spPr>
          <a:xfrm>
            <a:off x="1849315" y="1839099"/>
            <a:ext cx="59412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Provides a clear, quantitative measure of delay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Enables analysis of delay distribution, averages, and outliers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Critical for performance evaluation across routes, dates, or operators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316" name="Google Shape;31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4582" y="3578979"/>
            <a:ext cx="6897724" cy="774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7C0CD6F-FE7C-D3FE-2A42-447320C3F3A9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D1C28B-2A84-232B-65EE-A7C2664559CF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74041D-1274-A623-AC29-6885BED74C87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3424216B-5C1B-891A-38A8-908628650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873AF40-6243-B7B5-3584-A6DCE066B44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1DFB7966-2177-06DA-5376-2709948DA0B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848EA5F-EA41-DC23-5676-5D35F685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737" y="2650309"/>
            <a:ext cx="6086475" cy="2040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1" name="Google Shape;331;p36" title="MC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6"/>
          <p:cNvSpPr txBox="1"/>
          <p:nvPr/>
        </p:nvSpPr>
        <p:spPr>
          <a:xfrm>
            <a:off x="2057400" y="304800"/>
            <a:ext cx="4851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🚨 Checking for Duplicate Entries Based on Key Columns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1969650" y="994622"/>
            <a:ext cx="6977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Identify and review duplicate entries based on key columns: </a:t>
            </a:r>
            <a:r>
              <a:rPr lang="en" sz="1100" b="1" dirty="0">
                <a:solidFill>
                  <a:schemeClr val="dk1"/>
                </a:solidFill>
              </a:rPr>
              <a:t>Route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b="1" dirty="0">
                <a:solidFill>
                  <a:schemeClr val="dk1"/>
                </a:solidFill>
              </a:rPr>
              <a:t>Date of Journey</a:t>
            </a:r>
            <a:r>
              <a:rPr lang="en" sz="1100" dirty="0">
                <a:solidFill>
                  <a:schemeClr val="dk1"/>
                </a:solidFill>
              </a:rPr>
              <a:t>, and </a:t>
            </a:r>
            <a:r>
              <a:rPr lang="en" sz="1100" b="1" dirty="0">
                <a:solidFill>
                  <a:schemeClr val="dk1"/>
                </a:solidFill>
              </a:rPr>
              <a:t>Departure Time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334" name="Google Shape;334;p36"/>
          <p:cNvSpPr txBox="1"/>
          <p:nvPr/>
        </p:nvSpPr>
        <p:spPr>
          <a:xfrm>
            <a:off x="2046019" y="1306568"/>
            <a:ext cx="6900731" cy="1271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Checked for duplicates based on the combination of </a:t>
            </a:r>
            <a:r>
              <a:rPr lang="en" sz="1100" b="1" dirty="0">
                <a:solidFill>
                  <a:schemeClr val="dk1"/>
                </a:solidFill>
              </a:rPr>
              <a:t>Route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b="1" dirty="0">
                <a:solidFill>
                  <a:schemeClr val="dk1"/>
                </a:solidFill>
              </a:rPr>
              <a:t>Date of Journey</a:t>
            </a:r>
            <a:r>
              <a:rPr lang="en" sz="1100" dirty="0">
                <a:solidFill>
                  <a:schemeClr val="dk1"/>
                </a:solidFill>
              </a:rPr>
              <a:t>, and </a:t>
            </a:r>
            <a:r>
              <a:rPr lang="en" sz="1100" b="1" dirty="0">
                <a:solidFill>
                  <a:schemeClr val="dk1"/>
                </a:solidFill>
              </a:rPr>
              <a:t>Departure Time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Used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keep=False</a:t>
            </a:r>
            <a:r>
              <a:rPr lang="en" sz="1100" dirty="0">
                <a:solidFill>
                  <a:schemeClr val="dk1"/>
                </a:solidFill>
              </a:rPr>
              <a:t> to mark all duplicates (not just the second occurrence)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Displayed the rows that are identified as duplicates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289FFD-3A17-CDF5-384F-4F7803B7426A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CF22EB-1830-8007-F18D-7228C9FD2010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12574EE-BEF4-7A33-9C8C-8F9D104FF452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6" name="Graphic 5" descr="Tools with solid fill">
              <a:extLst>
                <a:ext uri="{FF2B5EF4-FFF2-40B4-BE49-F238E27FC236}">
                  <a16:creationId xmlns:a16="http://schemas.microsoft.com/office/drawing/2014/main" id="{956D329B-007B-839D-05FA-BD7DBBD43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2211BCA8-72DC-610C-7F11-3266D4415915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24FB1E38-27FC-BDC8-8F10-B551A0EDE86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863F6DF-DFD5-0C4B-F38A-919307EDA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>
            <a:extLst>
              <a:ext uri="{FF2B5EF4-FFF2-40B4-BE49-F238E27FC236}">
                <a16:creationId xmlns:a16="http://schemas.microsoft.com/office/drawing/2014/main" id="{FB239C0A-B430-AC56-7D2E-C48CE1A2A4E9}"/>
              </a:ext>
            </a:extLst>
          </p:cNvPr>
          <p:cNvSpPr txBox="1"/>
          <p:nvPr/>
        </p:nvSpPr>
        <p:spPr>
          <a:xfrm>
            <a:off x="3961971" y="1416165"/>
            <a:ext cx="2905125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800" b="1" dirty="0">
                <a:solidFill>
                  <a:schemeClr val="dk1"/>
                </a:solidFill>
              </a:rPr>
              <a:t>📊Normalization 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343" name="Google Shape;343;p37">
            <a:extLst>
              <a:ext uri="{FF2B5EF4-FFF2-40B4-BE49-F238E27FC236}">
                <a16:creationId xmlns:a16="http://schemas.microsoft.com/office/drawing/2014/main" id="{8C6DEDE7-8846-5E29-90C3-7114904273DE}"/>
              </a:ext>
            </a:extLst>
          </p:cNvPr>
          <p:cNvSpPr txBox="1"/>
          <p:nvPr/>
        </p:nvSpPr>
        <p:spPr>
          <a:xfrm>
            <a:off x="3496708" y="2196465"/>
            <a:ext cx="3568096" cy="128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dirty="0"/>
              <a:t>Data normalization</a:t>
            </a:r>
            <a:r>
              <a:rPr lang="en-US" sz="1400" dirty="0"/>
              <a:t> is the process of organizing data into multiple related tables to eliminate duplication, minimize redundancy, and ensure logical data storage.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A89EFB2-41B7-07EB-951A-CB4BD803D0C2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AF82D2-617C-4BBD-C141-727A3E157C94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C9B1B7-38C0-9038-ABA5-29AC76C82797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6D865FC0-23B5-C46A-3FFF-9C72B3AEB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9EEFA29-2E47-6961-0B39-A8D35A8D5FA4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7E30660D-D140-A284-BEF4-416EF156C7C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31;p36" title="MCAR.png">
            <a:extLst>
              <a:ext uri="{FF2B5EF4-FFF2-40B4-BE49-F238E27FC236}">
                <a16:creationId xmlns:a16="http://schemas.microsoft.com/office/drawing/2014/main" id="{DB8AF89A-018B-42DE-1208-361786E446D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6423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9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9"/>
          <p:cNvSpPr txBox="1"/>
          <p:nvPr/>
        </p:nvSpPr>
        <p:spPr>
          <a:xfrm>
            <a:off x="2609850" y="989367"/>
            <a:ext cx="5684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🔄 Preparing the Trips Table by Removing Duplicates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364" name="Google Shape;364;p39"/>
          <p:cNvSpPr txBox="1"/>
          <p:nvPr/>
        </p:nvSpPr>
        <p:spPr>
          <a:xfrm>
            <a:off x="2665987" y="1374267"/>
            <a:ext cx="6421875" cy="72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365" name="Google Shape;36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8575" y="2532163"/>
            <a:ext cx="6534150" cy="542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57EB05D-3825-1539-CB3D-59D6FC0C464B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100BDE-D76E-FDD9-F674-24261C511DC2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3A4282-B2A7-07B7-15C2-3C5CCCA78ED2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C2A631ED-AAFF-5650-E4D1-83206400F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6B6211B-4A26-CB3C-C7CF-81BB89B3AC6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3A8A3C71-DCC8-8FF9-B1DD-537446AD888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6;p40">
            <a:extLst>
              <a:ext uri="{FF2B5EF4-FFF2-40B4-BE49-F238E27FC236}">
                <a16:creationId xmlns:a16="http://schemas.microsoft.com/office/drawing/2014/main" id="{1C931353-F841-680B-1C6D-765321E807C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8575" y="3235427"/>
            <a:ext cx="4448175" cy="485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2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2"/>
          <p:cNvSpPr txBox="1"/>
          <p:nvPr/>
        </p:nvSpPr>
        <p:spPr>
          <a:xfrm>
            <a:off x="3318500" y="1260575"/>
            <a:ext cx="4579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🔗 Merging "Trip ID" into the Original DataFrame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392" name="Google Shape;392;p42"/>
          <p:cNvSpPr txBox="1"/>
          <p:nvPr/>
        </p:nvSpPr>
        <p:spPr>
          <a:xfrm>
            <a:off x="2371723" y="1863075"/>
            <a:ext cx="6686476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Merge the </a:t>
            </a:r>
            <a:r>
              <a:rPr lang="en" sz="1100" b="1" dirty="0">
                <a:solidFill>
                  <a:schemeClr val="dk1"/>
                </a:solidFill>
              </a:rPr>
              <a:t>Trip ID</a:t>
            </a:r>
            <a:r>
              <a:rPr lang="en" sz="1100" dirty="0">
                <a:solidFill>
                  <a:schemeClr val="dk1"/>
                </a:solidFill>
              </a:rPr>
              <a:t> from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trips</a:t>
            </a:r>
            <a:r>
              <a:rPr lang="en" sz="1100" dirty="0">
                <a:solidFill>
                  <a:schemeClr val="dk1"/>
                </a:solidFill>
              </a:rPr>
              <a:t> DataFrame into the original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lang="en" sz="1100" dirty="0">
                <a:solidFill>
                  <a:schemeClr val="dk1"/>
                </a:solidFill>
              </a:rPr>
              <a:t> DataFrame based on matching </a:t>
            </a:r>
            <a:r>
              <a:rPr lang="en" sz="1100" b="1" dirty="0">
                <a:solidFill>
                  <a:schemeClr val="dk1"/>
                </a:solidFill>
              </a:rPr>
              <a:t>Route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b="1" dirty="0">
                <a:solidFill>
                  <a:schemeClr val="dk1"/>
                </a:solidFill>
              </a:rPr>
              <a:t>Date of Journey</a:t>
            </a:r>
            <a:r>
              <a:rPr lang="en" sz="1100" dirty="0">
                <a:solidFill>
                  <a:schemeClr val="dk1"/>
                </a:solidFill>
              </a:rPr>
              <a:t>, and </a:t>
            </a:r>
            <a:r>
              <a:rPr lang="en" sz="1100" b="1" dirty="0">
                <a:solidFill>
                  <a:schemeClr val="dk1"/>
                </a:solidFill>
              </a:rPr>
              <a:t>Departure Time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393" name="Google Shape;393;p42"/>
          <p:cNvSpPr txBox="1"/>
          <p:nvPr/>
        </p:nvSpPr>
        <p:spPr>
          <a:xfrm>
            <a:off x="1590332" y="2298275"/>
            <a:ext cx="7334518" cy="2244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Unique Identification</a:t>
            </a:r>
            <a:r>
              <a:rPr lang="en" sz="1100" dirty="0">
                <a:solidFill>
                  <a:schemeClr val="dk1"/>
                </a:solidFill>
              </a:rPr>
              <a:t>: Merging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Trip ID</a:t>
            </a:r>
            <a:r>
              <a:rPr lang="en" sz="1100" dirty="0">
                <a:solidFill>
                  <a:schemeClr val="dk1"/>
                </a:solidFill>
              </a:rPr>
              <a:t> allows each row in the original dataset (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lang="en" sz="1100" dirty="0">
                <a:solidFill>
                  <a:schemeClr val="dk1"/>
                </a:solidFill>
              </a:rPr>
              <a:t>) to have a unique identifier, making it easier to track and reference individual trips.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Facilitates Analysis</a:t>
            </a:r>
            <a:r>
              <a:rPr lang="en" sz="1100" dirty="0">
                <a:solidFill>
                  <a:schemeClr val="dk1"/>
                </a:solidFill>
              </a:rPr>
              <a:t>: With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Trip ID</a:t>
            </a:r>
            <a:r>
              <a:rPr lang="en" sz="1100" dirty="0">
                <a:solidFill>
                  <a:schemeClr val="dk1"/>
                </a:solidFill>
              </a:rPr>
              <a:t> added to the original data, you can easily link trips across different datasets or perform detailed analysis using a consistent identifier.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Ensures Data Integrity</a:t>
            </a:r>
            <a:r>
              <a:rPr lang="en" sz="1100" dirty="0">
                <a:solidFill>
                  <a:schemeClr val="dk1"/>
                </a:solidFill>
              </a:rPr>
              <a:t>: The </a:t>
            </a:r>
            <a:r>
              <a:rPr lang="en" sz="1100" b="1" dirty="0">
                <a:solidFill>
                  <a:schemeClr val="dk1"/>
                </a:solidFill>
              </a:rPr>
              <a:t>left join</a:t>
            </a:r>
            <a:r>
              <a:rPr lang="en" sz="1100" dirty="0">
                <a:solidFill>
                  <a:schemeClr val="dk1"/>
                </a:solidFill>
              </a:rPr>
              <a:t> ensures that no records are lost in the merging process, and only matching rows are brought in, preserving the integrity of the data.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Optimizes Future Data Operations</a:t>
            </a:r>
            <a:r>
              <a:rPr lang="en" sz="1100" dirty="0">
                <a:solidFill>
                  <a:schemeClr val="dk1"/>
                </a:solidFill>
              </a:rPr>
              <a:t>: Having a unique </a:t>
            </a:r>
            <a:r>
              <a:rPr lang="en" sz="1100" b="1" dirty="0">
                <a:solidFill>
                  <a:schemeClr val="dk1"/>
                </a:solidFill>
              </a:rPr>
              <a:t>Trip ID</a:t>
            </a:r>
            <a:r>
              <a:rPr lang="en" sz="1100" dirty="0">
                <a:solidFill>
                  <a:schemeClr val="dk1"/>
                </a:solidFill>
              </a:rPr>
              <a:t> simplifies subsequent operations like filtering, grouping, or creating visualizations by referencing individual trips.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DBC4C7F-E2B4-C81A-DCEB-93F6E81F6EE0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0F20D0-B63D-CB7D-D42D-627838C29DFF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2874AF-C441-AC1B-7EFF-F47B27FB6279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EA3B2EDE-2C8E-AFAB-40CC-D3572FC43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6949AD8-690B-D9B8-B95C-3C0B9B271CA2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C78D3155-8923-83DC-2A30-6FB0FE7DBD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/>
      <p:bldP spid="392" grpId="0"/>
      <p:bldP spid="39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3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3"/>
          <p:cNvSpPr txBox="1"/>
          <p:nvPr/>
        </p:nvSpPr>
        <p:spPr>
          <a:xfrm>
            <a:off x="1771650" y="873481"/>
            <a:ext cx="6019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🔍 Identifying Unique Departure and Arrival Stations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402" name="Google Shape;402;p43"/>
          <p:cNvSpPr txBox="1"/>
          <p:nvPr/>
        </p:nvSpPr>
        <p:spPr>
          <a:xfrm>
            <a:off x="1388150" y="1263437"/>
            <a:ext cx="7753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Extract unique values from the </a:t>
            </a:r>
            <a:r>
              <a:rPr lang="en" sz="1100" b="1" dirty="0">
                <a:solidFill>
                  <a:schemeClr val="dk1"/>
                </a:solidFill>
              </a:rPr>
              <a:t>Departure Station</a:t>
            </a:r>
            <a:r>
              <a:rPr lang="en" sz="1100" dirty="0">
                <a:solidFill>
                  <a:schemeClr val="dk1"/>
                </a:solidFill>
              </a:rPr>
              <a:t> and </a:t>
            </a:r>
            <a:r>
              <a:rPr lang="en" sz="1100" b="1" dirty="0">
                <a:solidFill>
                  <a:schemeClr val="dk1"/>
                </a:solidFill>
              </a:rPr>
              <a:t>Arrival Destination</a:t>
            </a:r>
            <a:r>
              <a:rPr lang="en" sz="1100" dirty="0">
                <a:solidFill>
                  <a:schemeClr val="dk1"/>
                </a:solidFill>
              </a:rPr>
              <a:t> columns and store them in separate arrays.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03" name="Google Shape;403;p43"/>
          <p:cNvSpPr txBox="1"/>
          <p:nvPr/>
        </p:nvSpPr>
        <p:spPr>
          <a:xfrm>
            <a:off x="1475023" y="1570064"/>
            <a:ext cx="7552327" cy="239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Used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df['Departure Station'].unique()</a:t>
            </a:r>
            <a:r>
              <a:rPr lang="en" sz="1100" dirty="0">
                <a:solidFill>
                  <a:schemeClr val="dk1"/>
                </a:solidFill>
              </a:rPr>
              <a:t> to return an array of unique departure stations in the dataset.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Used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df['Arrival Destination'].unique()</a:t>
            </a:r>
            <a:r>
              <a:rPr lang="en" sz="1100" dirty="0">
                <a:solidFill>
                  <a:schemeClr val="dk1"/>
                </a:solidFill>
              </a:rPr>
              <a:t> to return an array of unique arrival destinations in the dataset.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Merged the two arrays of unique departure stations and unique arrival destinations.</a:t>
            </a:r>
            <a:br>
              <a:rPr lang="en-US" sz="1100" dirty="0">
                <a:solidFill>
                  <a:schemeClr val="dk1"/>
                </a:solidFill>
              </a:rPr>
            </a:br>
            <a:endParaRPr lang="en-US"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</a:rPr>
              <a:t>Combined array to extract the unique values, ensuring no station is repeated in the final list.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405" name="Google Shape;405;p43"/>
          <p:cNvPicPr preferRelativeResize="0"/>
          <p:nvPr/>
        </p:nvPicPr>
        <p:blipFill>
          <a:blip r:embed="rId4">
            <a:alphaModFix/>
          </a:blip>
          <a:srcRect r="10508"/>
          <a:stretch/>
        </p:blipFill>
        <p:spPr>
          <a:xfrm>
            <a:off x="1672529" y="3692627"/>
            <a:ext cx="5540619" cy="6762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D6BD566-813B-B182-2EDB-34F8291F42B9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9611E31-4ACA-493B-923A-292F8DD1B050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98F3DC6-1196-B59C-2CE1-457072EA8347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DF140F45-BA4E-1972-63FE-906EAAC67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67E1140-7EEB-C4C7-9DA5-C16695CE8D9A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97E024D0-877C-70A6-8441-594B856BABA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16;p44">
            <a:extLst>
              <a:ext uri="{FF2B5EF4-FFF2-40B4-BE49-F238E27FC236}">
                <a16:creationId xmlns:a16="http://schemas.microsoft.com/office/drawing/2014/main" id="{588944BB-AEC1-C428-C74A-8187269AE03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2529" y="4488971"/>
            <a:ext cx="6910754" cy="429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6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6"/>
          <p:cNvSpPr txBox="1"/>
          <p:nvPr/>
        </p:nvSpPr>
        <p:spPr>
          <a:xfrm>
            <a:off x="1609725" y="1331901"/>
            <a:ext cx="3544862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🛠 Installing Geopy for Geospatial Operations to prepare for geospatial anallsysi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433" name="Google Shape;433;p46"/>
          <p:cNvSpPr txBox="1"/>
          <p:nvPr/>
        </p:nvSpPr>
        <p:spPr>
          <a:xfrm>
            <a:off x="1518363" y="3299249"/>
            <a:ext cx="3544862" cy="85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Install the </a:t>
            </a:r>
            <a:r>
              <a:rPr lang="en" sz="1100" b="1" dirty="0">
                <a:solidFill>
                  <a:schemeClr val="dk1"/>
                </a:solidFill>
              </a:rPr>
              <a:t>Geopy</a:t>
            </a:r>
            <a:r>
              <a:rPr lang="en" sz="1100" dirty="0">
                <a:solidFill>
                  <a:schemeClr val="dk1"/>
                </a:solidFill>
              </a:rPr>
              <a:t> library to enable geospatial operations such as geocoding and distance calculations.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435" name="Google Shape;43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6450" y="4166841"/>
            <a:ext cx="28384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Picture 2" descr="Location, location, location – tapping the economic potential of geospatial  data – Civil Service Quarterly">
            <a:extLst>
              <a:ext uri="{FF2B5EF4-FFF2-40B4-BE49-F238E27FC236}">
                <a16:creationId xmlns:a16="http://schemas.microsoft.com/office/drawing/2014/main" id="{04D180C4-0E21-3280-D2F0-2E475864B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6" r="18025"/>
          <a:stretch/>
        </p:blipFill>
        <p:spPr bwMode="auto">
          <a:xfrm>
            <a:off x="5211550" y="971550"/>
            <a:ext cx="39324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338D65A-72FE-9CD6-A517-6C97DEF69783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BB22AF6-CBDE-6221-5DB9-A89A2DD86343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E0A372-9815-A2AC-0B65-65CC7EB355F5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FC64D5CE-37E5-4CE4-E903-908E72DC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EC0F928-31E7-403D-755D-F70A974E7A00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13B6F5C0-B8F0-84DD-C19A-625EA33D268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6BE05015-BE29-4442-6364-3E104B193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7" title="MCAR.png">
            <a:extLst>
              <a:ext uri="{FF2B5EF4-FFF2-40B4-BE49-F238E27FC236}">
                <a16:creationId xmlns:a16="http://schemas.microsoft.com/office/drawing/2014/main" id="{DE5DF8E6-1D91-4F6A-86F9-9588D8039B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47">
            <a:extLst>
              <a:ext uri="{FF2B5EF4-FFF2-40B4-BE49-F238E27FC236}">
                <a16:creationId xmlns:a16="http://schemas.microsoft.com/office/drawing/2014/main" id="{95380C50-CAF8-EAE6-E5A4-3B70577A3F20}"/>
              </a:ext>
            </a:extLst>
          </p:cNvPr>
          <p:cNvSpPr txBox="1"/>
          <p:nvPr/>
        </p:nvSpPr>
        <p:spPr>
          <a:xfrm>
            <a:off x="2350788" y="244900"/>
            <a:ext cx="429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🌍 Fetching Coordinates for Stations Using Geopy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443" name="Google Shape;443;p47">
            <a:extLst>
              <a:ext uri="{FF2B5EF4-FFF2-40B4-BE49-F238E27FC236}">
                <a16:creationId xmlns:a16="http://schemas.microsoft.com/office/drawing/2014/main" id="{CEE45EF1-A3C7-8517-9CA7-73DFB7A87B00}"/>
              </a:ext>
            </a:extLst>
          </p:cNvPr>
          <p:cNvSpPr txBox="1"/>
          <p:nvPr/>
        </p:nvSpPr>
        <p:spPr>
          <a:xfrm>
            <a:off x="1360200" y="544150"/>
            <a:ext cx="6271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🎯 Objective: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 b="1">
                <a:solidFill>
                  <a:schemeClr val="dk1"/>
                </a:solidFill>
              </a:rPr>
              <a:t>Geopy</a:t>
            </a:r>
            <a:r>
              <a:rPr lang="en" sz="1100">
                <a:solidFill>
                  <a:schemeClr val="dk1"/>
                </a:solidFill>
              </a:rPr>
              <a:t> to fetch the geographical coordinates (latitude and longitude) of various stations.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44" name="Google Shape;444;p47">
            <a:extLst>
              <a:ext uri="{FF2B5EF4-FFF2-40B4-BE49-F238E27FC236}">
                <a16:creationId xmlns:a16="http://schemas.microsoft.com/office/drawing/2014/main" id="{4DC96991-FF81-E6F8-B0E5-3A2B41390B5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4603" y="1231341"/>
            <a:ext cx="6419836" cy="3674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973C23-27E8-147D-A5B4-E0BA12A9657E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2A0FE6-0F2E-C0E6-8BD2-EB7EE6A2AB2F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3B290E-95CF-AFA7-A3DA-CF2C47553DEA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55BA8A32-CDFE-C549-C9F7-491F87BFF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AC3D57D-4E8D-B83F-50EF-D509B0B23F5F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CBF7BBC5-B631-168E-8CAE-339867CCB16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7218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50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50"/>
          <p:cNvSpPr txBox="1"/>
          <p:nvPr/>
        </p:nvSpPr>
        <p:spPr>
          <a:xfrm>
            <a:off x="1666875" y="76200"/>
            <a:ext cx="5577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Extracting Unique Trip Combinations to Create New Routes Table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475" name="Google Shape;475;p50"/>
          <p:cNvSpPr txBox="1"/>
          <p:nvPr/>
        </p:nvSpPr>
        <p:spPr>
          <a:xfrm>
            <a:off x="1371600" y="535375"/>
            <a:ext cx="71628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Create a new </a:t>
            </a:r>
            <a:r>
              <a:rPr lang="en" sz="1100" b="1" dirty="0">
                <a:solidFill>
                  <a:schemeClr val="dk1"/>
                </a:solidFill>
              </a:rPr>
              <a:t>routes</a:t>
            </a:r>
            <a:r>
              <a:rPr lang="en" sz="1100" dirty="0">
                <a:solidFill>
                  <a:schemeClr val="dk1"/>
                </a:solidFill>
              </a:rPr>
              <a:t> DataFrame that contains only unique combinations of </a:t>
            </a:r>
            <a:r>
              <a:rPr lang="en" sz="1100" b="1" dirty="0">
                <a:solidFill>
                  <a:schemeClr val="dk1"/>
                </a:solidFill>
              </a:rPr>
              <a:t>Departure Station</a:t>
            </a:r>
            <a:r>
              <a:rPr lang="en" sz="1100" dirty="0">
                <a:solidFill>
                  <a:schemeClr val="dk1"/>
                </a:solidFill>
              </a:rPr>
              <a:t>, </a:t>
            </a:r>
            <a:r>
              <a:rPr lang="en" sz="1100" b="1" dirty="0">
                <a:solidFill>
                  <a:schemeClr val="dk1"/>
                </a:solidFill>
              </a:rPr>
              <a:t>Arrival Destination</a:t>
            </a:r>
            <a:r>
              <a:rPr lang="en" sz="1100" dirty="0">
                <a:solidFill>
                  <a:schemeClr val="dk1"/>
                </a:solidFill>
              </a:rPr>
              <a:t>, and </a:t>
            </a:r>
            <a:r>
              <a:rPr lang="en" sz="1100" b="1" dirty="0">
                <a:solidFill>
                  <a:schemeClr val="dk1"/>
                </a:solidFill>
              </a:rPr>
              <a:t>Route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76" name="Google Shape;476;p50"/>
          <p:cNvSpPr txBox="1"/>
          <p:nvPr/>
        </p:nvSpPr>
        <p:spPr>
          <a:xfrm>
            <a:off x="2020666" y="1205189"/>
            <a:ext cx="3183525" cy="3607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Unique Trip Routes</a:t>
            </a:r>
            <a:r>
              <a:rPr lang="en" sz="1100" dirty="0">
                <a:solidFill>
                  <a:schemeClr val="dk1"/>
                </a:solidFill>
              </a:rPr>
              <a:t>: This step creates a clean dataset that contains only unique </a:t>
            </a:r>
            <a:r>
              <a:rPr lang="en" sz="1100" b="1" dirty="0">
                <a:solidFill>
                  <a:schemeClr val="dk1"/>
                </a:solidFill>
              </a:rPr>
              <a:t>trip combinations</a:t>
            </a:r>
            <a:r>
              <a:rPr lang="en" sz="1100" dirty="0">
                <a:solidFill>
                  <a:schemeClr val="dk1"/>
                </a:solidFill>
              </a:rPr>
              <a:t>, ensuring that each route appears once.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Useful for Visualizations</a:t>
            </a:r>
            <a:r>
              <a:rPr lang="en" sz="1100" dirty="0">
                <a:solidFill>
                  <a:schemeClr val="dk1"/>
                </a:solidFill>
              </a:rPr>
              <a:t>: The unique routes dataset is helpful for creating </a:t>
            </a:r>
            <a:r>
              <a:rPr lang="en" sz="1100" b="1" dirty="0">
                <a:solidFill>
                  <a:schemeClr val="dk1"/>
                </a:solidFill>
              </a:rPr>
              <a:t>visualizations</a:t>
            </a:r>
            <a:r>
              <a:rPr lang="en" sz="1100" dirty="0">
                <a:solidFill>
                  <a:schemeClr val="dk1"/>
                </a:solidFill>
              </a:rPr>
              <a:t> such as route maps or charts that display trip frequencies.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Data Aggregation</a:t>
            </a:r>
            <a:r>
              <a:rPr lang="en" sz="1100" dirty="0">
                <a:solidFill>
                  <a:schemeClr val="dk1"/>
                </a:solidFill>
              </a:rPr>
              <a:t>: This clean table of unique routes can be used for further </a:t>
            </a:r>
            <a:r>
              <a:rPr lang="en" sz="1100" b="1" dirty="0">
                <a:solidFill>
                  <a:schemeClr val="dk1"/>
                </a:solidFill>
              </a:rPr>
              <a:t>aggregation</a:t>
            </a:r>
            <a:r>
              <a:rPr lang="en" sz="1100" dirty="0">
                <a:solidFill>
                  <a:schemeClr val="dk1"/>
                </a:solidFill>
              </a:rPr>
              <a:t> or analysis, such as grouping trips by route or calculating metrics like average delays per route.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477" name="Google Shape;47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4072" y="1353050"/>
            <a:ext cx="3084311" cy="35203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1CFE382-2DE7-FC3F-D97A-2EC601951619}"/>
              </a:ext>
            </a:extLst>
          </p:cNvPr>
          <p:cNvGrpSpPr/>
          <p:nvPr/>
        </p:nvGrpSpPr>
        <p:grpSpPr>
          <a:xfrm>
            <a:off x="-824" y="0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2BE6B24-4FF7-2C91-6E1D-4ED5645FFFEB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F72E0BF-E1F1-F363-F02B-BE66F988A4E0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811EE9EA-AD09-D06E-F0EB-14FD4651E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7D006167-A6F1-BDB5-2498-CC8895CCE57F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008A30BE-2B43-3C86-B623-993E491BF02F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215" y="4342663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2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2"/>
          <p:cNvSpPr txBox="1"/>
          <p:nvPr/>
        </p:nvSpPr>
        <p:spPr>
          <a:xfrm>
            <a:off x="1600200" y="152400"/>
            <a:ext cx="5318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🗓 Defining a Function to Classify Days as Weekday or Weekend</a:t>
            </a:r>
            <a:endParaRPr/>
          </a:p>
        </p:txBody>
      </p:sp>
      <p:sp>
        <p:nvSpPr>
          <p:cNvPr id="495" name="Google Shape;495;p52"/>
          <p:cNvSpPr txBox="1"/>
          <p:nvPr/>
        </p:nvSpPr>
        <p:spPr>
          <a:xfrm>
            <a:off x="1466850" y="683128"/>
            <a:ext cx="7170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Define a function to classify a given date as either a </a:t>
            </a:r>
            <a:r>
              <a:rPr lang="en" sz="1100" b="1" dirty="0">
                <a:solidFill>
                  <a:schemeClr val="dk1"/>
                </a:solidFill>
              </a:rPr>
              <a:t>"Weekday"</a:t>
            </a:r>
            <a:r>
              <a:rPr lang="en" sz="1100" dirty="0">
                <a:solidFill>
                  <a:schemeClr val="dk1"/>
                </a:solidFill>
              </a:rPr>
              <a:t> or a </a:t>
            </a:r>
            <a:r>
              <a:rPr lang="en" sz="1100" b="1" dirty="0">
                <a:solidFill>
                  <a:schemeClr val="dk1"/>
                </a:solidFill>
              </a:rPr>
              <a:t>"Weekend</a:t>
            </a:r>
            <a:r>
              <a:rPr lang="en" sz="1100" dirty="0">
                <a:solidFill>
                  <a:schemeClr val="dk1"/>
                </a:solidFill>
              </a:rPr>
              <a:t>" based on the day of the week.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97" name="Google Shape;497;p52"/>
          <p:cNvSpPr txBox="1"/>
          <p:nvPr/>
        </p:nvSpPr>
        <p:spPr>
          <a:xfrm>
            <a:off x="1582163" y="997486"/>
            <a:ext cx="7571362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✅ Why It Matters:</a:t>
            </a:r>
            <a:endParaRPr sz="10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Categorizing Dates</a:t>
            </a:r>
            <a:r>
              <a:rPr lang="en" sz="1000" dirty="0">
                <a:solidFill>
                  <a:schemeClr val="dk1"/>
                </a:solidFill>
              </a:rPr>
              <a:t>: This function helps categorize dates into </a:t>
            </a:r>
            <a:r>
              <a:rPr lang="en" sz="1000" b="1" dirty="0">
                <a:solidFill>
                  <a:schemeClr val="dk1"/>
                </a:solidFill>
              </a:rPr>
              <a:t>Weekday</a:t>
            </a:r>
            <a:r>
              <a:rPr lang="en" sz="1000" dirty="0">
                <a:solidFill>
                  <a:schemeClr val="dk1"/>
                </a:solidFill>
              </a:rPr>
              <a:t> or </a:t>
            </a:r>
            <a:r>
              <a:rPr lang="en" sz="1000" b="1" dirty="0">
                <a:solidFill>
                  <a:schemeClr val="dk1"/>
                </a:solidFill>
              </a:rPr>
              <a:t>Weekend</a:t>
            </a:r>
            <a:r>
              <a:rPr lang="en" sz="1000" dirty="0">
                <a:solidFill>
                  <a:schemeClr val="dk1"/>
                </a:solidFill>
              </a:rPr>
              <a:t>, which is useful for analyzing behavior patterns.</a:t>
            </a:r>
            <a:br>
              <a:rPr lang="en" sz="1000" dirty="0">
                <a:solidFill>
                  <a:schemeClr val="dk1"/>
                </a:solidFill>
              </a:rPr>
            </a:br>
            <a:endParaRPr lang="en" sz="10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b="1" dirty="0">
                <a:solidFill>
                  <a:schemeClr val="dk1"/>
                </a:solidFill>
              </a:rPr>
              <a:t>Trend Analysis</a:t>
            </a:r>
            <a:r>
              <a:rPr lang="en-US" sz="1000" dirty="0">
                <a:solidFill>
                  <a:schemeClr val="dk1"/>
                </a:solidFill>
              </a:rPr>
              <a:t>: Important for identifying trends or patterns in </a:t>
            </a:r>
            <a:r>
              <a:rPr lang="en-US" sz="1000" b="1" dirty="0">
                <a:solidFill>
                  <a:schemeClr val="dk1"/>
                </a:solidFill>
              </a:rPr>
              <a:t>weekday vs. weekend</a:t>
            </a:r>
            <a:r>
              <a:rPr lang="en-US" sz="1000" dirty="0">
                <a:solidFill>
                  <a:schemeClr val="dk1"/>
                </a:solidFill>
              </a:rPr>
              <a:t> behavior, such as changes in </a:t>
            </a:r>
            <a:r>
              <a:rPr lang="en-US" sz="1000" b="1" dirty="0">
                <a:solidFill>
                  <a:schemeClr val="dk1"/>
                </a:solidFill>
              </a:rPr>
              <a:t>ticket sales</a:t>
            </a:r>
            <a:r>
              <a:rPr lang="en-US" sz="1000" dirty="0">
                <a:solidFill>
                  <a:schemeClr val="dk1"/>
                </a:solidFill>
              </a:rPr>
              <a:t>, </a:t>
            </a:r>
            <a:r>
              <a:rPr lang="en-US" sz="1000" b="1" dirty="0">
                <a:solidFill>
                  <a:schemeClr val="dk1"/>
                </a:solidFill>
              </a:rPr>
              <a:t>travel delays</a:t>
            </a:r>
            <a:r>
              <a:rPr lang="en-US" sz="1000" dirty="0">
                <a:solidFill>
                  <a:schemeClr val="dk1"/>
                </a:solidFill>
              </a:rPr>
              <a:t>, or passenger volume.</a:t>
            </a:r>
            <a:br>
              <a:rPr lang="en-US" sz="1000" dirty="0">
                <a:solidFill>
                  <a:schemeClr val="dk1"/>
                </a:solidFill>
              </a:rPr>
            </a:br>
            <a:endParaRPr lang="en-US" sz="10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b="1" dirty="0">
                <a:solidFill>
                  <a:schemeClr val="dk1"/>
                </a:solidFill>
              </a:rPr>
              <a:t>Simplified Analysis</a:t>
            </a:r>
            <a:r>
              <a:rPr lang="en-US" sz="1000" dirty="0">
                <a:solidFill>
                  <a:schemeClr val="dk1"/>
                </a:solidFill>
              </a:rPr>
              <a:t>: Makes it easier to perform </a:t>
            </a:r>
            <a:r>
              <a:rPr lang="en-US" sz="1000" b="1" dirty="0">
                <a:solidFill>
                  <a:schemeClr val="dk1"/>
                </a:solidFill>
              </a:rPr>
              <a:t>comparative analysis</a:t>
            </a:r>
            <a:r>
              <a:rPr lang="en-US" sz="1000" dirty="0">
                <a:solidFill>
                  <a:schemeClr val="dk1"/>
                </a:solidFill>
              </a:rPr>
              <a:t> between weekdays and weekends in terms of travel-related data or other metrics.</a:t>
            </a:r>
            <a:br>
              <a:rPr lang="en-US" sz="1000" dirty="0">
                <a:solidFill>
                  <a:schemeClr val="dk1"/>
                </a:solidFill>
              </a:rPr>
            </a:br>
            <a:endParaRPr lang="en-US" sz="10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b="1" dirty="0">
                <a:solidFill>
                  <a:schemeClr val="dk1"/>
                </a:solidFill>
              </a:rPr>
              <a:t>Behavioral Insights</a:t>
            </a:r>
            <a:r>
              <a:rPr lang="en-US" sz="1000" dirty="0">
                <a:solidFill>
                  <a:schemeClr val="dk1"/>
                </a:solidFill>
              </a:rPr>
              <a:t>: Helps distinguish between the types of activities that happen on weekdays versus weekends, enabling more accurate insights.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67DA1-8665-E796-6A5C-FA5B642026F4}"/>
              </a:ext>
            </a:extLst>
          </p:cNvPr>
          <p:cNvGrpSpPr/>
          <p:nvPr/>
        </p:nvGrpSpPr>
        <p:grpSpPr>
          <a:xfrm>
            <a:off x="3556466" y="3553669"/>
            <a:ext cx="5080684" cy="1468648"/>
            <a:chOff x="3556466" y="3553669"/>
            <a:chExt cx="5080684" cy="1468648"/>
          </a:xfrm>
        </p:grpSpPr>
        <p:pic>
          <p:nvPicPr>
            <p:cNvPr id="496" name="Google Shape;49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588900" y="3553669"/>
              <a:ext cx="5048250" cy="5715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" name="Google Shape;507;p53">
              <a:extLst>
                <a:ext uri="{FF2B5EF4-FFF2-40B4-BE49-F238E27FC236}">
                  <a16:creationId xmlns:a16="http://schemas.microsoft.com/office/drawing/2014/main" id="{DF1E1C87-7FBC-CC17-339F-E2C9879C0819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56466" y="4093217"/>
              <a:ext cx="4746856" cy="9291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0F02F99-29ED-04B7-143F-09BACCC1AB40}"/>
              </a:ext>
            </a:extLst>
          </p:cNvPr>
          <p:cNvGrpSpPr/>
          <p:nvPr/>
        </p:nvGrpSpPr>
        <p:grpSpPr>
          <a:xfrm>
            <a:off x="0" y="2336"/>
            <a:ext cx="1673352" cy="5143500"/>
            <a:chOff x="1828799" y="0"/>
            <a:chExt cx="1988581" cy="5143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AD5BF8-8672-5C84-68F7-B14BA9467911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9E6660-83FC-45F7-A59A-7E9093E20DAC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7" name="Graphic 6" descr="Tools with solid fill">
              <a:extLst>
                <a:ext uri="{FF2B5EF4-FFF2-40B4-BE49-F238E27FC236}">
                  <a16:creationId xmlns:a16="http://schemas.microsoft.com/office/drawing/2014/main" id="{89FE9A07-5AFF-D920-A15C-1CCF1D340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703D26B-5991-6CA8-5726-B833C4753871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Google Shape;180;p22" title="proAr.png">
            <a:extLst>
              <a:ext uri="{FF2B5EF4-FFF2-40B4-BE49-F238E27FC236}">
                <a16:creationId xmlns:a16="http://schemas.microsoft.com/office/drawing/2014/main" id="{6E03D8E2-0E58-A8A3-2DCF-D0EB1D3E1DA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6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56"/>
          <p:cNvSpPr txBox="1"/>
          <p:nvPr/>
        </p:nvSpPr>
        <p:spPr>
          <a:xfrm>
            <a:off x="2743200" y="22860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Trip Time Segmentation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537" name="Google Shape;537;p56"/>
          <p:cNvSpPr txBox="1"/>
          <p:nvPr/>
        </p:nvSpPr>
        <p:spPr>
          <a:xfrm>
            <a:off x="1780437" y="758828"/>
            <a:ext cx="7521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Classify departure times as either </a:t>
            </a:r>
            <a:r>
              <a:rPr lang="en" sz="1100" b="1" dirty="0">
                <a:solidFill>
                  <a:schemeClr val="dk1"/>
                </a:solidFill>
              </a:rPr>
              <a:t>"Rush Hour"</a:t>
            </a:r>
            <a:r>
              <a:rPr lang="en" sz="1100" dirty="0">
                <a:solidFill>
                  <a:schemeClr val="dk1"/>
                </a:solidFill>
              </a:rPr>
              <a:t> or </a:t>
            </a:r>
            <a:r>
              <a:rPr lang="en" sz="1100" b="1" dirty="0">
                <a:solidFill>
                  <a:schemeClr val="dk1"/>
                </a:solidFill>
              </a:rPr>
              <a:t>"Non-Rush Hour"</a:t>
            </a:r>
            <a:r>
              <a:rPr lang="en" sz="1100" dirty="0">
                <a:solidFill>
                  <a:schemeClr val="dk1"/>
                </a:solidFill>
              </a:rPr>
              <a:t> based on </a:t>
            </a:r>
            <a:r>
              <a:rPr lang="en" sz="1100" b="1" dirty="0">
                <a:solidFill>
                  <a:schemeClr val="dk1"/>
                </a:solidFill>
              </a:rPr>
              <a:t>Day Type</a:t>
            </a:r>
            <a:r>
              <a:rPr lang="en" sz="1100" dirty="0">
                <a:solidFill>
                  <a:schemeClr val="dk1"/>
                </a:solidFill>
              </a:rPr>
              <a:t> (Weekday/Weekend) and </a:t>
            </a:r>
            <a:r>
              <a:rPr lang="en" sz="1100" b="1" dirty="0">
                <a:solidFill>
                  <a:schemeClr val="dk1"/>
                </a:solidFill>
              </a:rPr>
              <a:t>Time of Departure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38" name="Google Shape;538;p56"/>
          <p:cNvSpPr txBox="1"/>
          <p:nvPr/>
        </p:nvSpPr>
        <p:spPr>
          <a:xfrm>
            <a:off x="5540937" y="1090082"/>
            <a:ext cx="3222913" cy="3023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Rush Hour Classification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Day Type (Weekday/Weekend)</a:t>
            </a:r>
            <a:r>
              <a:rPr lang="en" sz="1100" dirty="0">
                <a:solidFill>
                  <a:schemeClr val="dk1"/>
                </a:solidFill>
              </a:rPr>
              <a:t>: Rush hour typically occurs only on weekdays.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Time of Departure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 b="1" dirty="0">
                <a:solidFill>
                  <a:schemeClr val="dk1"/>
                </a:solidFill>
              </a:rPr>
              <a:t>Morning Rush Hour</a:t>
            </a:r>
            <a:r>
              <a:rPr lang="en" sz="1100" dirty="0">
                <a:solidFill>
                  <a:schemeClr val="dk1"/>
                </a:solidFill>
              </a:rPr>
              <a:t>: 6 AM – 9 AM</a:t>
            </a:r>
            <a:endParaRPr sz="1100" dirty="0">
              <a:solidFill>
                <a:schemeClr val="dk1"/>
              </a:solidFill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 b="1" dirty="0">
                <a:solidFill>
                  <a:schemeClr val="dk1"/>
                </a:solidFill>
              </a:rPr>
              <a:t>Evening Rush Hour</a:t>
            </a:r>
            <a:r>
              <a:rPr lang="en" sz="1100" dirty="0">
                <a:solidFill>
                  <a:schemeClr val="dk1"/>
                </a:solidFill>
              </a:rPr>
              <a:t>: 4 PM – 6 PM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Created categories to identify when trips occur during peak travel hours.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39" name="Google Shape;539;p56"/>
          <p:cNvSpPr txBox="1"/>
          <p:nvPr/>
        </p:nvSpPr>
        <p:spPr>
          <a:xfrm>
            <a:off x="1869743" y="1420065"/>
            <a:ext cx="3801756" cy="263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Demand Analysis</a:t>
            </a:r>
            <a:r>
              <a:rPr lang="en" sz="1100" dirty="0">
                <a:solidFill>
                  <a:schemeClr val="dk1"/>
                </a:solidFill>
              </a:rPr>
              <a:t>: Identifying </a:t>
            </a:r>
            <a:r>
              <a:rPr lang="en" sz="1100" b="1" dirty="0">
                <a:solidFill>
                  <a:schemeClr val="dk1"/>
                </a:solidFill>
              </a:rPr>
              <a:t>peak travel times</a:t>
            </a:r>
            <a:r>
              <a:rPr lang="en" sz="1100" dirty="0">
                <a:solidFill>
                  <a:schemeClr val="dk1"/>
                </a:solidFill>
              </a:rPr>
              <a:t> helps optimize </a:t>
            </a:r>
            <a:r>
              <a:rPr lang="en" sz="1100" b="1" dirty="0">
                <a:solidFill>
                  <a:schemeClr val="dk1"/>
                </a:solidFill>
              </a:rPr>
              <a:t>pricing strategies</a:t>
            </a:r>
            <a:r>
              <a:rPr lang="en" sz="1100" dirty="0">
                <a:solidFill>
                  <a:schemeClr val="dk1"/>
                </a:solidFill>
              </a:rPr>
              <a:t> (e.g., surge pricing during rush hours).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Customer Behavior Insights</a:t>
            </a:r>
            <a:r>
              <a:rPr lang="en" sz="1100" dirty="0">
                <a:solidFill>
                  <a:schemeClr val="dk1"/>
                </a:solidFill>
              </a:rPr>
              <a:t>: Helps understand </a:t>
            </a:r>
            <a:r>
              <a:rPr lang="en" sz="1100" b="1" dirty="0">
                <a:solidFill>
                  <a:schemeClr val="dk1"/>
                </a:solidFill>
              </a:rPr>
              <a:t>when passengers are most likely to travel</a:t>
            </a:r>
            <a:r>
              <a:rPr lang="en" sz="1100" dirty="0">
                <a:solidFill>
                  <a:schemeClr val="dk1"/>
                </a:solidFill>
              </a:rPr>
              <a:t>, providing actionable insights for customer-focused improvements.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Dynamic Pricing Models</a:t>
            </a:r>
            <a:r>
              <a:rPr lang="en" sz="1100" dirty="0">
                <a:solidFill>
                  <a:schemeClr val="dk1"/>
                </a:solidFill>
              </a:rPr>
              <a:t>: Can be used to </a:t>
            </a:r>
            <a:r>
              <a:rPr lang="en" sz="1100" b="1" dirty="0">
                <a:solidFill>
                  <a:schemeClr val="dk1"/>
                </a:solidFill>
              </a:rPr>
              <a:t>adjust fares</a:t>
            </a:r>
            <a:r>
              <a:rPr lang="en" sz="1100" dirty="0">
                <a:solidFill>
                  <a:schemeClr val="dk1"/>
                </a:solidFill>
              </a:rPr>
              <a:t> based on </a:t>
            </a:r>
            <a:r>
              <a:rPr lang="en" sz="1100" b="1" dirty="0">
                <a:solidFill>
                  <a:schemeClr val="dk1"/>
                </a:solidFill>
              </a:rPr>
              <a:t>demand</a:t>
            </a:r>
            <a:r>
              <a:rPr lang="en" sz="1100" dirty="0">
                <a:solidFill>
                  <a:schemeClr val="dk1"/>
                </a:solidFill>
              </a:rPr>
              <a:t>, applying higher prices during rush hours to manage capacity.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540" name="Google Shape;54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536" y="4027042"/>
            <a:ext cx="6217926" cy="100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AC49BA4-4311-667F-0097-F39EAAF1BB53}"/>
              </a:ext>
            </a:extLst>
          </p:cNvPr>
          <p:cNvGrpSpPr/>
          <p:nvPr/>
        </p:nvGrpSpPr>
        <p:grpSpPr>
          <a:xfrm>
            <a:off x="0" y="2336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69A804-B706-F0E1-5570-BE1D4C179F34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A7EE806-4FBE-A084-63F4-5D8A2139BE31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2AA8F455-F34F-2ECF-086C-3D14B469B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8172987E-B27C-58F0-4DD5-195D83D6D64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327C35D6-9DC1-ACF1-4ED5-0B3EC03A2E6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9CF3AD9E-51BF-84BE-D717-E6D609CE2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4" title="MCAR.png">
            <a:extLst>
              <a:ext uri="{FF2B5EF4-FFF2-40B4-BE49-F238E27FC236}">
                <a16:creationId xmlns:a16="http://schemas.microsoft.com/office/drawing/2014/main" id="{64E633AE-8EFE-02C4-6F5C-87FFAC9600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4">
            <a:extLst>
              <a:ext uri="{FF2B5EF4-FFF2-40B4-BE49-F238E27FC236}">
                <a16:creationId xmlns:a16="http://schemas.microsoft.com/office/drawing/2014/main" id="{147E0E16-698C-D161-2E99-0C015C00C341}"/>
              </a:ext>
            </a:extLst>
          </p:cNvPr>
          <p:cNvSpPr txBox="1"/>
          <p:nvPr/>
        </p:nvSpPr>
        <p:spPr>
          <a:xfrm>
            <a:off x="2389573" y="315532"/>
            <a:ext cx="4795796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Reverse Engineering to Obtain Original Price of Tickets Before Discounts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515" name="Google Shape;515;p54">
            <a:extLst>
              <a:ext uri="{FF2B5EF4-FFF2-40B4-BE49-F238E27FC236}">
                <a16:creationId xmlns:a16="http://schemas.microsoft.com/office/drawing/2014/main" id="{35A55572-B090-D9C6-E9A0-0DC3C979C566}"/>
              </a:ext>
            </a:extLst>
          </p:cNvPr>
          <p:cNvSpPr txBox="1"/>
          <p:nvPr/>
        </p:nvSpPr>
        <p:spPr>
          <a:xfrm>
            <a:off x="1885949" y="828724"/>
            <a:ext cx="7082851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Calculate the original ticket price before discounts were applied based on known discount structures, and add a new column for the </a:t>
            </a:r>
            <a:r>
              <a:rPr lang="en" sz="1100" b="1" dirty="0">
                <a:solidFill>
                  <a:schemeClr val="dk1"/>
                </a:solidFill>
              </a:rPr>
              <a:t>'Original Price'</a:t>
            </a:r>
            <a:r>
              <a:rPr lang="en" sz="1100" dirty="0">
                <a:solidFill>
                  <a:schemeClr val="dk1"/>
                </a:solidFill>
              </a:rPr>
              <a:t> in the DataFrame.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17" name="Google Shape;517;p54">
            <a:extLst>
              <a:ext uri="{FF2B5EF4-FFF2-40B4-BE49-F238E27FC236}">
                <a16:creationId xmlns:a16="http://schemas.microsoft.com/office/drawing/2014/main" id="{1783FDF4-277D-CFBB-520E-5E379036744F}"/>
              </a:ext>
            </a:extLst>
          </p:cNvPr>
          <p:cNvSpPr txBox="1"/>
          <p:nvPr/>
        </p:nvSpPr>
        <p:spPr>
          <a:xfrm>
            <a:off x="1952625" y="1303025"/>
            <a:ext cx="7016175" cy="20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Created a function to reverse engineer ticket prices based on various discount types: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Railcard Discounts</a:t>
            </a:r>
            <a:r>
              <a:rPr lang="en" sz="1100" dirty="0">
                <a:solidFill>
                  <a:schemeClr val="dk1"/>
                </a:solidFill>
              </a:rPr>
              <a:t>: Multiplies the ticket price by 3/2 to reverse a 1/3 discount (e.g., £60 → £90).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Advance Tickets</a:t>
            </a:r>
            <a:r>
              <a:rPr lang="en" sz="1100" dirty="0">
                <a:solidFill>
                  <a:schemeClr val="dk1"/>
                </a:solidFill>
              </a:rPr>
              <a:t>: Doubles the price to reverse a 50% discount.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 dirty="0">
                <a:solidFill>
                  <a:schemeClr val="dk1"/>
                </a:solidFill>
              </a:rPr>
              <a:t>Off-Peak Tickets</a:t>
            </a:r>
            <a:r>
              <a:rPr lang="en" sz="1100" dirty="0">
                <a:solidFill>
                  <a:schemeClr val="dk1"/>
                </a:solidFill>
              </a:rPr>
              <a:t>: Multiplies by 4/3 to reverse a 25% discount.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Applied the function to each row using 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apply(axis=1)</a:t>
            </a:r>
            <a:r>
              <a:rPr lang="en" sz="1100" dirty="0">
                <a:solidFill>
                  <a:schemeClr val="dk1"/>
                </a:solidFill>
              </a:rPr>
              <a:t> to calculate and add the </a:t>
            </a:r>
            <a:r>
              <a:rPr lang="en" sz="1100" b="1" dirty="0">
                <a:solidFill>
                  <a:schemeClr val="dk1"/>
                </a:solidFill>
              </a:rPr>
              <a:t>'Original Price'</a:t>
            </a:r>
            <a:r>
              <a:rPr lang="en" sz="1100" dirty="0">
                <a:solidFill>
                  <a:schemeClr val="dk1"/>
                </a:solidFill>
              </a:rPr>
              <a:t> column to the DataFrame.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18" name="Google Shape;518;p54">
            <a:extLst>
              <a:ext uri="{FF2B5EF4-FFF2-40B4-BE49-F238E27FC236}">
                <a16:creationId xmlns:a16="http://schemas.microsoft.com/office/drawing/2014/main" id="{5ED68813-849B-BED6-4A5F-59BC4FD2114D}"/>
              </a:ext>
            </a:extLst>
          </p:cNvPr>
          <p:cNvSpPr txBox="1"/>
          <p:nvPr/>
        </p:nvSpPr>
        <p:spPr>
          <a:xfrm>
            <a:off x="1885950" y="3253750"/>
            <a:ext cx="7235250" cy="18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✅ Why It Matters: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Data Enrichment</a:t>
            </a:r>
            <a:r>
              <a:rPr lang="en" sz="1100" dirty="0">
                <a:solidFill>
                  <a:schemeClr val="dk1"/>
                </a:solidFill>
              </a:rPr>
              <a:t>: Provides additional insight into the original prices of tickets before any discounts were applied, which is crucial for </a:t>
            </a:r>
            <a:r>
              <a:rPr lang="en" sz="1100" b="1" dirty="0">
                <a:solidFill>
                  <a:schemeClr val="dk1"/>
                </a:solidFill>
              </a:rPr>
              <a:t>pricing analysis</a:t>
            </a:r>
            <a:r>
              <a:rPr lang="en" sz="1100" dirty="0">
                <a:solidFill>
                  <a:schemeClr val="dk1"/>
                </a:solidFill>
              </a:rPr>
              <a:t> or </a:t>
            </a:r>
            <a:r>
              <a:rPr lang="en" sz="1100" b="1" dirty="0">
                <a:solidFill>
                  <a:schemeClr val="dk1"/>
                </a:solidFill>
              </a:rPr>
              <a:t>revenue calculations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Accurate Pricing Analysis</a:t>
            </a:r>
            <a:r>
              <a:rPr lang="en" sz="1100" dirty="0">
                <a:solidFill>
                  <a:schemeClr val="dk1"/>
                </a:solidFill>
              </a:rPr>
              <a:t>: Helps in understanding the </a:t>
            </a:r>
            <a:r>
              <a:rPr lang="en" sz="1100" b="1" dirty="0">
                <a:solidFill>
                  <a:schemeClr val="dk1"/>
                </a:solidFill>
              </a:rPr>
              <a:t>full pricing structure</a:t>
            </a:r>
            <a:r>
              <a:rPr lang="en" sz="1100" dirty="0">
                <a:solidFill>
                  <a:schemeClr val="dk1"/>
                </a:solidFill>
              </a:rPr>
              <a:t> of tickets, even if only the discounted price is available.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Ticket Type Classification</a:t>
            </a:r>
            <a:r>
              <a:rPr lang="en" sz="1100" dirty="0">
                <a:solidFill>
                  <a:schemeClr val="dk1"/>
                </a:solidFill>
              </a:rPr>
              <a:t>: Enables better analysis by providing clear insight into how different discount types affect ticket prices.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2D4173-D711-2F3D-3AF1-E228C5463F3D}"/>
              </a:ext>
            </a:extLst>
          </p:cNvPr>
          <p:cNvGrpSpPr/>
          <p:nvPr/>
        </p:nvGrpSpPr>
        <p:grpSpPr>
          <a:xfrm>
            <a:off x="0" y="2336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A9FDBE8-7DE1-7BF7-770D-F14835D1D2DB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6C95114-5277-5BFA-296B-79B724CE0C2A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D3024F90-C9FE-9036-E884-07A99BE17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A480D8F-7421-C2FA-372C-276FAD517BB1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677B316C-AC10-C632-46C0-53C5956AB4B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532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4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4"/>
          <p:cNvSpPr txBox="1"/>
          <p:nvPr/>
        </p:nvSpPr>
        <p:spPr>
          <a:xfrm>
            <a:off x="2099250" y="238381"/>
            <a:ext cx="5158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Reverse Engineering to Obtain Original Price of Tickets Before Discounts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515" name="Google Shape;515;p54"/>
          <p:cNvSpPr txBox="1"/>
          <p:nvPr/>
        </p:nvSpPr>
        <p:spPr>
          <a:xfrm>
            <a:off x="1924050" y="675544"/>
            <a:ext cx="708285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Calculate the original ticket price before discounts were applied based on known discount structures, and add a new column for the </a:t>
            </a:r>
            <a:r>
              <a:rPr lang="en" sz="1100" b="1" dirty="0">
                <a:solidFill>
                  <a:schemeClr val="dk1"/>
                </a:solidFill>
              </a:rPr>
              <a:t>'Original Price'</a:t>
            </a:r>
            <a:r>
              <a:rPr lang="en" sz="1100" dirty="0">
                <a:solidFill>
                  <a:schemeClr val="dk1"/>
                </a:solidFill>
              </a:rPr>
              <a:t> in the DataFrame.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516" name="Google Shape;51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0252" y="1372094"/>
            <a:ext cx="5868537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414097D-7168-E4D9-C27A-BBA15514B663}"/>
              </a:ext>
            </a:extLst>
          </p:cNvPr>
          <p:cNvGrpSpPr/>
          <p:nvPr/>
        </p:nvGrpSpPr>
        <p:grpSpPr>
          <a:xfrm>
            <a:off x="0" y="2336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251839E-EC8A-C093-DC4C-75D7DA747A2F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924DB9E-53E6-5F49-8633-653C9A9D8EE8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B7C5EC4E-7387-7121-5886-4EE433A02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97D5D81-A3B0-62D4-9DEE-D3B4509EA255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6C960579-8F73-D7C0-4E0D-F59851EBD5C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55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55"/>
          <p:cNvSpPr txBox="1"/>
          <p:nvPr/>
        </p:nvSpPr>
        <p:spPr>
          <a:xfrm>
            <a:off x="2621661" y="183432"/>
            <a:ext cx="440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300" b="1" dirty="0">
                <a:solidFill>
                  <a:schemeClr val="dk1"/>
                </a:solidFill>
              </a:rPr>
              <a:t>Calculating the Discounted Amount (Revenue Loss)</a:t>
            </a: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526" name="Google Shape;526;p55"/>
          <p:cNvSpPr txBox="1"/>
          <p:nvPr/>
        </p:nvSpPr>
        <p:spPr>
          <a:xfrm>
            <a:off x="1394811" y="626483"/>
            <a:ext cx="68580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Objective: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Calculate the exact monetary value of discounts applied to each ticket, making the savings amount explicit, and provide a precise measure of revenue loss due to discounts.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27" name="Google Shape;527;p55"/>
          <p:cNvSpPr txBox="1"/>
          <p:nvPr/>
        </p:nvSpPr>
        <p:spPr>
          <a:xfrm>
            <a:off x="1582333" y="1182551"/>
            <a:ext cx="7554434" cy="1271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🧠 What We Did: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Created a new column that shows the </a:t>
            </a:r>
            <a:r>
              <a:rPr lang="en" sz="1100" b="1" dirty="0">
                <a:solidFill>
                  <a:schemeClr val="dk1"/>
                </a:solidFill>
              </a:rPr>
              <a:t>discounted amount</a:t>
            </a:r>
            <a:r>
              <a:rPr lang="en" sz="1100" dirty="0">
                <a:solidFill>
                  <a:schemeClr val="dk1"/>
                </a:solidFill>
              </a:rPr>
              <a:t> (or </a:t>
            </a:r>
            <a:r>
              <a:rPr lang="en" sz="1100" b="1" dirty="0">
                <a:solidFill>
                  <a:schemeClr val="dk1"/>
                </a:solidFill>
              </a:rPr>
              <a:t>revenue loss</a:t>
            </a:r>
            <a:r>
              <a:rPr lang="en" sz="1100" dirty="0">
                <a:solidFill>
                  <a:schemeClr val="dk1"/>
                </a:solidFill>
              </a:rPr>
              <a:t>) for each ticket: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Subtracted the </a:t>
            </a:r>
            <a:r>
              <a:rPr lang="en" sz="1100" b="1" dirty="0">
                <a:solidFill>
                  <a:schemeClr val="dk1"/>
                </a:solidFill>
              </a:rPr>
              <a:t>paid price</a:t>
            </a:r>
            <a:r>
              <a:rPr lang="en" sz="1100" dirty="0">
                <a:solidFill>
                  <a:schemeClr val="dk1"/>
                </a:solidFill>
              </a:rPr>
              <a:t> from the </a:t>
            </a:r>
            <a:r>
              <a:rPr lang="en" sz="1100" b="1" dirty="0">
                <a:solidFill>
                  <a:schemeClr val="dk1"/>
                </a:solidFill>
              </a:rPr>
              <a:t>reconstructed original price</a:t>
            </a:r>
            <a:r>
              <a:rPr lang="en" sz="1100" dirty="0">
                <a:solidFill>
                  <a:schemeClr val="dk1"/>
                </a:solidFill>
              </a:rPr>
              <a:t> to calculate the </a:t>
            </a:r>
            <a:r>
              <a:rPr lang="en" sz="1100" b="1" dirty="0">
                <a:solidFill>
                  <a:schemeClr val="dk1"/>
                </a:solidFill>
              </a:rPr>
              <a:t>discount value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This is a simple arithmetic operation: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529" name="Google Shape;52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9252" y="2817665"/>
            <a:ext cx="6491798" cy="17545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F7D3CD1-D7F1-C246-A77B-5CE2013ADED5}"/>
              </a:ext>
            </a:extLst>
          </p:cNvPr>
          <p:cNvGrpSpPr/>
          <p:nvPr/>
        </p:nvGrpSpPr>
        <p:grpSpPr>
          <a:xfrm>
            <a:off x="0" y="2336"/>
            <a:ext cx="1673352" cy="5143500"/>
            <a:chOff x="1828799" y="0"/>
            <a:chExt cx="198858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741E3E4-B710-E912-9AB4-0561CC73AC2D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7A4B225-7DB8-295D-47F6-E0C4705DCF05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5" name="Graphic 4" descr="Tools with solid fill">
              <a:extLst>
                <a:ext uri="{FF2B5EF4-FFF2-40B4-BE49-F238E27FC236}">
                  <a16:creationId xmlns:a16="http://schemas.microsoft.com/office/drawing/2014/main" id="{553E0FFD-9FFC-9DDC-E6A4-8CB436ACB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16F1AC85-E6BB-6481-BF75-D89EB1117360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8E194C91-9D04-7C84-8DB3-9105DB17255A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C0CB0-8F4A-50F6-A19A-1FA38DDA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79715BD8-AB69-A13D-F24C-2EC350CCC0A5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A446643-3B68-82C7-8432-BDB8DCDBA7C7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58006F-1D60-EBF3-5E45-7EAA96E29795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8678BDA8-7773-256F-FE6A-4071D0126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A01FAA89-3577-4A9A-DC2D-3E3F14F6E910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FC2F9BE-9AE5-CDDF-372F-D46A490E2448}"/>
              </a:ext>
            </a:extLst>
          </p:cNvPr>
          <p:cNvGrpSpPr/>
          <p:nvPr/>
        </p:nvGrpSpPr>
        <p:grpSpPr>
          <a:xfrm>
            <a:off x="6109301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B5E948-036C-AF56-ED6E-9A8734027769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38F65D5-5250-DEC1-7CED-424AC4077034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D9214B74-99B4-533A-3325-0E6CDC4C0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BBBE3D6E-DD71-62D8-986D-375C284DF79E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5B17D8-2E68-7F5E-20FA-4CE73021C37C}"/>
              </a:ext>
            </a:extLst>
          </p:cNvPr>
          <p:cNvGrpSpPr/>
          <p:nvPr/>
        </p:nvGrpSpPr>
        <p:grpSpPr>
          <a:xfrm>
            <a:off x="4587695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8025B0-CE0B-C858-33B3-29BED4EE8F08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1B77C82-7A6A-073E-FBBD-00D09412ED15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2E21E40C-E324-AD58-3428-AA230FBFD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C9124CED-46F1-AC50-64C4-36FEDE061082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FB778A8-9308-93E0-71D3-7CDE0A982228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7B8A56-D170-A762-9E9A-26A30B8A9DB8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58ED3D-A409-BB7C-59AB-3AF9F2BB8B86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C0551203-0EFF-1FBD-2005-C05988EF8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E7AF19BA-EED1-4072-D792-ACFD6F4D7173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C03942-5302-8810-593F-1ABF26A12D85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24A07E-9F95-6F44-49B8-BC185196D096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9D91ED-7EAF-C31E-021C-A06D8F0FFC92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7973631E-6E70-8BE6-1717-DFDFDE035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9376C80F-B7C1-C7A4-2667-BF270EF7EFAC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CF08414-E22C-3FD4-1588-19FA2F51844C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A70EF05-3AAE-E4CA-E4C0-B55C453D73B8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CA33C3-FCE0-B6AA-907B-95291D058866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D39E2582-A471-A338-AA50-220E47825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9F88A4B-526F-7D13-DE6B-04AE50474DC8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70091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33559 0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8"/>
          <p:cNvSpPr txBox="1"/>
          <p:nvPr/>
        </p:nvSpPr>
        <p:spPr>
          <a:xfrm>
            <a:off x="1925791" y="1266966"/>
            <a:ext cx="3144351" cy="87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📊 Chapter 4: 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500" b="1" dirty="0">
                <a:solidFill>
                  <a:schemeClr val="dk1"/>
                </a:solidFill>
              </a:rPr>
              <a:t>Exploratory Data Analysis (EDA)</a:t>
            </a: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dk1"/>
                </a:solidFill>
              </a:rPr>
              <a:t>A</a:t>
            </a:r>
            <a:r>
              <a:rPr lang="en" sz="1500" b="1" dirty="0">
                <a:solidFill>
                  <a:schemeClr val="dk1"/>
                </a:solidFill>
              </a:rPr>
              <a:t>nd Analysis Questions</a:t>
            </a:r>
            <a:endParaRPr sz="1500" b="1" dirty="0">
              <a:solidFill>
                <a:schemeClr val="dk1"/>
              </a:solidFill>
            </a:endParaRPr>
          </a:p>
        </p:txBody>
      </p:sp>
      <p:sp>
        <p:nvSpPr>
          <p:cNvPr id="559" name="Google Shape;559;p58"/>
          <p:cNvSpPr txBox="1"/>
          <p:nvPr/>
        </p:nvSpPr>
        <p:spPr>
          <a:xfrm>
            <a:off x="1485849" y="2537980"/>
            <a:ext cx="38556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dirty="0"/>
              <a:t>Perform an in-depth exploration of the dataset to uncover patterns, relationships, and insights. EDA is an essential first step to understanding the data before moving on to further analysis or modeling.</a:t>
            </a:r>
            <a:endParaRPr sz="12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213699-173A-E6F4-46E6-DC6C7321AD94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35E63E-8460-D4CE-3595-BD445F41383F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A0F23E-ED23-13B3-461C-DEAA5187D2C3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12" name="Graphic 11" descr="Research with solid fill">
              <a:extLst>
                <a:ext uri="{FF2B5EF4-FFF2-40B4-BE49-F238E27FC236}">
                  <a16:creationId xmlns:a16="http://schemas.microsoft.com/office/drawing/2014/main" id="{277CD28B-A76A-9379-931E-A8E06B687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30A77B0E-2C88-7F69-2C37-6586E532DC5E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Exploratory Data Analysis Using Python">
            <a:extLst>
              <a:ext uri="{FF2B5EF4-FFF2-40B4-BE49-F238E27FC236}">
                <a16:creationId xmlns:a16="http://schemas.microsoft.com/office/drawing/2014/main" id="{9BBFA8C5-8143-ED93-2FA8-8E8BF41C8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399" y="928049"/>
            <a:ext cx="3855600" cy="422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oogle Shape;546;p57" title="MCAR.png">
            <a:extLst>
              <a:ext uri="{FF2B5EF4-FFF2-40B4-BE49-F238E27FC236}">
                <a16:creationId xmlns:a16="http://schemas.microsoft.com/office/drawing/2014/main" id="{282522A7-64CF-E181-6481-1D11C5060A4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996D41D5-FAC7-F376-78E0-B3924AC2046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3908F03B-1D40-278B-17A6-30B71E96A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F6864517-9A27-3E8D-4AA3-3B13E78699D5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5045E09-290C-0150-4AC2-2A3B43BD1E05}"/>
              </a:ext>
            </a:extLst>
          </p:cNvPr>
          <p:cNvGrpSpPr/>
          <p:nvPr/>
        </p:nvGrpSpPr>
        <p:grpSpPr>
          <a:xfrm>
            <a:off x="-6830158" y="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04BC5B-BC83-D3C6-0501-51F0B5489A66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113DD32-C848-D2A5-355A-50CCE4A8F1CD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2ECFAC-50FA-3BA1-7272-6B918DBFA929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3FA9C20D-1358-545F-6E26-7E71AB040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B5F3BA-CCEC-EE1D-6F33-DCEEA9B51EDB}"/>
              </a:ext>
            </a:extLst>
          </p:cNvPr>
          <p:cNvGrpSpPr/>
          <p:nvPr/>
        </p:nvGrpSpPr>
        <p:grpSpPr>
          <a:xfrm>
            <a:off x="-7209931" y="14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9549E4E-923C-DAE8-A5F7-43BAE1F72CD1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6CCC5FE-6832-B807-69D5-C7B8B75D3FF9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E2958DC-9526-EEEF-B375-4807E1AE139C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93EEB54E-436C-1885-B9A5-BD3664875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03ED28-418F-2FBD-E196-8A79618BF5B5}"/>
              </a:ext>
            </a:extLst>
          </p:cNvPr>
          <p:cNvGrpSpPr/>
          <p:nvPr/>
        </p:nvGrpSpPr>
        <p:grpSpPr>
          <a:xfrm>
            <a:off x="-7599229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7DCF7CF-8326-F98A-E0A6-8AABEDE76F82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D491B4-6A40-629B-7372-5B5A953A7A3A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6B32B89-5A04-140F-D0BF-9B4ABBCC7422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5CC0F579-280A-FD2E-FD76-81CE9DE7B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BCE1B0D-106C-27AD-2E1D-370327380D7C}"/>
              </a:ext>
            </a:extLst>
          </p:cNvPr>
          <p:cNvGrpSpPr/>
          <p:nvPr/>
        </p:nvGrpSpPr>
        <p:grpSpPr>
          <a:xfrm>
            <a:off x="-7981305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BC813F-D6BB-7468-A14A-4EDAC0D9F5A6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AD5C86A-9C49-505B-D129-D533DBCC0794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4A2B510-674E-92DA-C006-8A75FC1BC48E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D9F844C-196B-BB0B-28CD-FBD0002D8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326D68-6E77-C0E2-26B8-C61CD1480E2A}"/>
              </a:ext>
            </a:extLst>
          </p:cNvPr>
          <p:cNvGrpSpPr/>
          <p:nvPr/>
        </p:nvGrpSpPr>
        <p:grpSpPr>
          <a:xfrm>
            <a:off x="-8363536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FDA48E-B7CF-C85E-BAE2-E4DDAB581B43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B70FFA1-77DB-77E8-E5D9-158FEE9C5C50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FFDF9DC-DBBB-786A-BFF3-DF954F749D0B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9C72DE7-BA31-C729-2E28-DCB26C655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10CF286-9F12-667D-DFB4-2A31D6FEF4EA}"/>
              </a:ext>
            </a:extLst>
          </p:cNvPr>
          <p:cNvGrpSpPr/>
          <p:nvPr/>
        </p:nvGrpSpPr>
        <p:grpSpPr>
          <a:xfrm>
            <a:off x="-8744460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BB1A16-3673-096D-5C60-8AAACD63402F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88EACB-C37F-A9AC-6C28-83A8C3BD37BE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CDFEC2C-CB5F-CDB5-9EB6-8AF488F83F6D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C0166CF-041F-5914-2AAB-C79133A83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985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1BE5548C-D8AD-E46D-039A-19E3E0CD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23AF865B-A071-99DA-CEAE-293D38098C94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3DBE6FD-DE0E-EDFC-B855-B9D32AAD1DE1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3DE548-0A74-AF50-3A77-C56215CAB49D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B55154-46BE-7008-A3F2-75ECE8602650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B3352D-406B-7F2E-42BB-267868A7652F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3CBA241C-88EA-1F9E-7C5A-C63833612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2EB0E9-3F5E-C183-7751-25051C4BAA5D}"/>
              </a:ext>
            </a:extLst>
          </p:cNvPr>
          <p:cNvGrpSpPr/>
          <p:nvPr/>
        </p:nvGrpSpPr>
        <p:grpSpPr>
          <a:xfrm>
            <a:off x="-6691313" y="14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E06676F-3BE8-9D81-8BC1-243995215EE3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C3B1A56-F729-0457-65CD-7FB045C9F2F4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FD6FCBC-07C0-5255-2BD8-D0B2BC4EB307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9A43FB20-0FA2-8598-BCC5-CE7B937EF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DAC8C7-D66D-D811-EE43-0DB30B1834B3}"/>
              </a:ext>
            </a:extLst>
          </p:cNvPr>
          <p:cNvGrpSpPr/>
          <p:nvPr/>
        </p:nvGrpSpPr>
        <p:grpSpPr>
          <a:xfrm>
            <a:off x="-7080611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CE890E8-9FF9-F505-2A15-5553BF0167B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F4CADD-B46F-E34E-9319-AF51F13E3563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BDC36B-8BC1-F3A2-015E-D761245F336C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59EDAB89-C367-F554-33FA-0842DE2C6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E8C1A71-B574-DEE0-4DFF-6937567BF433}"/>
              </a:ext>
            </a:extLst>
          </p:cNvPr>
          <p:cNvGrpSpPr/>
          <p:nvPr/>
        </p:nvGrpSpPr>
        <p:grpSpPr>
          <a:xfrm>
            <a:off x="-7462687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AD248D7-11DC-D365-7D52-E00BB8EAEF9F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9B3208D-E3E9-1F02-D855-B466655417E8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CA85C45-6A05-1900-5D67-E5732DBEF19C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3CA8CFD-6340-3135-26D1-65691C8C6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47322D-25E1-968A-2112-2AFEA6818F43}"/>
              </a:ext>
            </a:extLst>
          </p:cNvPr>
          <p:cNvGrpSpPr/>
          <p:nvPr/>
        </p:nvGrpSpPr>
        <p:grpSpPr>
          <a:xfrm>
            <a:off x="-7844918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3CE1579-E795-87E5-3978-4A136A533A9E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3A88760-6E06-8314-E26C-18F266E599B6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49B932-66D4-993F-CF5E-273101D2539E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F351920-7E2A-F62C-7264-1F5775B26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8E7BA8A-B5CE-A56E-38DE-540B2CC3F093}"/>
              </a:ext>
            </a:extLst>
          </p:cNvPr>
          <p:cNvGrpSpPr/>
          <p:nvPr/>
        </p:nvGrpSpPr>
        <p:grpSpPr>
          <a:xfrm>
            <a:off x="-8225842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A9418F5-0469-1985-DD6C-11A39EF0F782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292C3A-B218-812D-C133-2A768812C41C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17A459D-BC20-6151-C1A5-8EF34E278F91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A3DF5D8-F6F5-AD0C-D489-5FB490112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1FE9AB9-01B8-05C6-4998-3F494FF5E323}"/>
              </a:ext>
            </a:extLst>
          </p:cNvPr>
          <p:cNvSpPr txBox="1"/>
          <p:nvPr/>
        </p:nvSpPr>
        <p:spPr>
          <a:xfrm>
            <a:off x="3254188" y="906931"/>
            <a:ext cx="4823012" cy="366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is the overall punctuality rate of journeys?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Calculate the percentage of journeys that were "On Time" versus "Delayed."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Which routes or stations experience the most delays?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 patterns in delays by analyzing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Departure Station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Arrival Destination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are the most common reasons for delays?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Analyze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Reason for Delay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column to determine recurring issues.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 does delay impact customer satisfaction?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Investigate whether delayed journeys correlate with higher refund requests (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Refund Request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20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6AFD6BE6-80E9-8BD9-79A4-6B60CBF1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8836A25D-AE3E-938C-63C5-83D2D7C75D8E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84802E-5D51-5DE7-95BB-E54B8C2E5376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950512-B167-B3FC-321D-53232CC9B345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C75B51-2129-0FAA-A1E1-6C320B996720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5183F5-0D65-4387-0553-E2E38B8735EE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9E069F06-C01C-3CEF-D70F-754EC51C9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29DB1D-E244-80F3-FBEA-9CBDDA21C2FA}"/>
              </a:ext>
            </a:extLst>
          </p:cNvPr>
          <p:cNvGrpSpPr/>
          <p:nvPr/>
        </p:nvGrpSpPr>
        <p:grpSpPr>
          <a:xfrm>
            <a:off x="-361873" y="-43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0EF09B-C1EB-68C2-DE3C-ED7D4A8FE0FA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333A57-DA19-81F0-298E-7CCB59FCBF83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14A3AAA-13E7-0B91-94C4-539E402A7105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B1976F8A-084E-7A5D-1FD8-8FF2EB8C3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5128E55-8B7A-EF74-7DF1-24B68C6749EF}"/>
              </a:ext>
            </a:extLst>
          </p:cNvPr>
          <p:cNvGrpSpPr/>
          <p:nvPr/>
        </p:nvGrpSpPr>
        <p:grpSpPr>
          <a:xfrm>
            <a:off x="-7080611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4CB1038-4990-532D-3DEA-1791DD80840D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63BDF16-D1A1-A7FE-43F3-A8917B40C207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2CF2DDE-B392-EC8A-079A-B29DF4EEFBAD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57FF0E7F-7C5B-B74E-7831-BA64A731F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799CD9-A91A-F676-88DE-0B104B282736}"/>
              </a:ext>
            </a:extLst>
          </p:cNvPr>
          <p:cNvGrpSpPr/>
          <p:nvPr/>
        </p:nvGrpSpPr>
        <p:grpSpPr>
          <a:xfrm>
            <a:off x="-7462687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554EDC-DBD9-787A-55E4-8D471511758B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B54E34-73FF-18EC-D413-CC96CCFCA49B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791CEE-05E7-773E-BE97-DB9A9D100DC7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8A4415-3C3C-39C2-70ED-602761896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EB61ED8-C208-EDFA-E3AD-32A99070E8FF}"/>
              </a:ext>
            </a:extLst>
          </p:cNvPr>
          <p:cNvGrpSpPr/>
          <p:nvPr/>
        </p:nvGrpSpPr>
        <p:grpSpPr>
          <a:xfrm>
            <a:off x="-7844918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B2EEFD5-F59C-8281-E57A-67897FCB0E0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E094411-C9C6-178E-6B91-4B7A9AE291F1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90BB62-AB3C-AA5E-0CC6-7BABFBAF7FB3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429C3FA3-DCFC-FECD-0205-8CE01DBAD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C4C7F51-32AA-6D7D-FFAA-FBEF7B679E88}"/>
              </a:ext>
            </a:extLst>
          </p:cNvPr>
          <p:cNvGrpSpPr/>
          <p:nvPr/>
        </p:nvGrpSpPr>
        <p:grpSpPr>
          <a:xfrm>
            <a:off x="-8225842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F44EB60-472A-B41C-CB9C-C736AD35CD1C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97F2F59-0FBD-403D-033C-ED1B583C374F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C353A1E-03E4-28A6-E3BF-7857A2A073B5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A830AFA-5F60-DE71-CD93-6D183EF6E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988BF10-51B4-BA95-3320-3ED2616BC258}"/>
              </a:ext>
            </a:extLst>
          </p:cNvPr>
          <p:cNvSpPr txBox="1"/>
          <p:nvPr/>
        </p:nvSpPr>
        <p:spPr>
          <a:xfrm>
            <a:off x="2346520" y="1129553"/>
            <a:ext cx="5465059" cy="3259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What is the most common payment method used for ticket purchases?</a:t>
            </a:r>
            <a:endParaRPr lang="en-US" sz="1200" kern="1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Compare the frequency of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Contactless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versus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Credit Card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payments.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Is there a difference in purchase behavior between online and station purchases?</a:t>
            </a:r>
            <a:endParaRPr lang="en-US" sz="1200" kern="1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Analyze the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Purchase Type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column to see if certain types of tickets (e.g.,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Advance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Standard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 are more commonly bought online versus at stations.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Are there specific days or times when ticket purchases peak?</a:t>
            </a:r>
            <a:endParaRPr lang="en-US" sz="1200" kern="1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Use the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Date of Purchase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Time of Purchase</a:t>
            </a:r>
            <a:r>
              <a:rPr lang="en-US" sz="1200" kern="1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columns to identify trends in purchasing behavior.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900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9861CE24-9ED7-1741-D4AD-AF637490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7235A68B-38DF-E074-3452-DC37A8EF0074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E67F335-C94E-57A2-E41B-12A9B1A93B71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591CA5-6604-6195-F23B-225F8C002560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871AFF-578A-3A08-DCD1-B4342754951B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359602-5231-A0FE-AB5F-FB7E359A8933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CC94CC7E-A5DB-198F-E3B2-D9F524B7F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53B3CB-44DE-94AB-6565-5F4A0B17F27D}"/>
              </a:ext>
            </a:extLst>
          </p:cNvPr>
          <p:cNvGrpSpPr/>
          <p:nvPr/>
        </p:nvGrpSpPr>
        <p:grpSpPr>
          <a:xfrm>
            <a:off x="-361873" y="-43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C1D3B07-299B-AB17-0B52-C379782CC10E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8FC9445-BE5A-DC3F-AEF2-318F487C2A22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F21AA1-34A2-80B6-823A-FB644BA17731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E25C4CB3-69EF-57FD-C0BC-56F6F41F4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75189F0-242B-64C6-7A29-2B040E9501DC}"/>
              </a:ext>
            </a:extLst>
          </p:cNvPr>
          <p:cNvGrpSpPr/>
          <p:nvPr/>
        </p:nvGrpSpPr>
        <p:grpSpPr>
          <a:xfrm>
            <a:off x="-751528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8AA9BD-80B1-D5A0-1830-9E669CBBCF5C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6ABC587-1038-AA05-1641-F1FEB3CD11DE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DE199ED-E8E0-23AB-8617-564526EB5AAD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FDD51081-EB8C-D95A-841A-87EFD0FFD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A62E86-1829-8200-5644-FDE079D3D0E9}"/>
              </a:ext>
            </a:extLst>
          </p:cNvPr>
          <p:cNvGrpSpPr/>
          <p:nvPr/>
        </p:nvGrpSpPr>
        <p:grpSpPr>
          <a:xfrm>
            <a:off x="-7462687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1B6953C-8A9B-F934-214D-4565B457B92E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AB7DE2D-3D1B-3373-0DCF-F2BBC4C9C713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801B6B9-0432-E120-3EB9-0BAAF7D14F31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B7A5C91-2CE2-390C-33E4-4AEF805D60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272F962-9190-10BA-DCD3-DFD5FA3FA9AD}"/>
              </a:ext>
            </a:extLst>
          </p:cNvPr>
          <p:cNvGrpSpPr/>
          <p:nvPr/>
        </p:nvGrpSpPr>
        <p:grpSpPr>
          <a:xfrm>
            <a:off x="-7844918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4D04FD9-7596-957B-D5F7-394337C18C5A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738E019-78E6-8FF3-B174-F8C6A6BCF3C2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2C605C-36A6-7759-3A21-6D59E91456D8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AA39BD1-BFB4-D704-F981-C14D4DFB7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2240CA-6E6E-D99B-019A-3B436374B34A}"/>
              </a:ext>
            </a:extLst>
          </p:cNvPr>
          <p:cNvGrpSpPr/>
          <p:nvPr/>
        </p:nvGrpSpPr>
        <p:grpSpPr>
          <a:xfrm>
            <a:off x="-8225842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34202E5-D4F5-4E77-6279-C382173C255F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342B4E8-8815-9A3D-AD21-15F83E86B9DF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F7DEA71-3B80-55EB-CCC6-0394DEBCD6D8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5666B7A-E661-BBAD-8873-2FA6CF667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A35481C-9B40-84D7-7E23-03AD9FCD846D}"/>
              </a:ext>
            </a:extLst>
          </p:cNvPr>
          <p:cNvSpPr txBox="1"/>
          <p:nvPr/>
        </p:nvSpPr>
        <p:spPr>
          <a:xfrm>
            <a:off x="2052315" y="1220310"/>
            <a:ext cx="5465059" cy="3039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What is the average ticket price for each route?</a:t>
            </a:r>
          </a:p>
          <a:p>
            <a:pPr marL="2857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Group by Departure Station and Arrival Destination to calculate average prices.</a:t>
            </a:r>
          </a:p>
          <a:p>
            <a:pPr marL="2857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endParaRPr lang="en-US" sz="1200" b="1" kern="100" dirty="0"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Do discounts (e.g., </a:t>
            </a:r>
            <a:r>
              <a:rPr lang="en-US" sz="1200" b="1" kern="10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) significantly affect ticket prices?</a:t>
            </a:r>
          </a:p>
          <a:p>
            <a:pPr marL="2857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Compare ticket prices for transactions with and without </a:t>
            </a:r>
            <a:r>
              <a:rPr lang="en-US" sz="1200" kern="10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</a:pPr>
            <a:endParaRPr lang="en-US" sz="1200" b="1" kern="100" dirty="0"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What is the total revenue generated for each route?</a:t>
            </a:r>
          </a:p>
          <a:p>
            <a:pPr marL="2857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Multiply the Price by the number of tickets sold for each route.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54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682AF764-5E7B-F11B-6A72-E2ADF040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BAEEB87E-B127-C23B-8DDE-D58EA525408E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76ACAC-A4F4-4279-3147-64E5FCFAD4B8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32CC948-04AF-404B-8568-7B297F54BB72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A6EBE5-9560-4AF5-B503-BF0FAB544938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06DAEBB-2F39-47EF-7478-954C04807A2E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A822C3F2-A1DA-C316-1E83-32830F0A3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86D2B81-11BB-5E8E-F3B1-9D10B5310595}"/>
              </a:ext>
            </a:extLst>
          </p:cNvPr>
          <p:cNvGrpSpPr/>
          <p:nvPr/>
        </p:nvGrpSpPr>
        <p:grpSpPr>
          <a:xfrm>
            <a:off x="-361873" y="-43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28BDADA-32E1-2591-1B84-D9A4B15B7078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41821F5-099F-1CCB-8B87-BB412A6EAED8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F40037-8DDC-612E-1EE9-F3F3A711757F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CDD049B4-A373-EEDD-D581-5E547C00D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B0DF965-3017-67B9-32F6-D018672D2F74}"/>
              </a:ext>
            </a:extLst>
          </p:cNvPr>
          <p:cNvGrpSpPr/>
          <p:nvPr/>
        </p:nvGrpSpPr>
        <p:grpSpPr>
          <a:xfrm>
            <a:off x="-751528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57B693-DD79-EE28-A18C-AA1B33403A34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2B796BE-695A-AF11-E6E0-4CF41E9D85C8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620A89-5069-A026-9D01-7CEF139E6C2F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6BE9E9F7-83F1-DDFE-485C-3B6490464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40802A-745C-6741-4194-E03DDF0D8CE3}"/>
              </a:ext>
            </a:extLst>
          </p:cNvPr>
          <p:cNvGrpSpPr/>
          <p:nvPr/>
        </p:nvGrpSpPr>
        <p:grpSpPr>
          <a:xfrm>
            <a:off x="-1133608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38A3B5F-0E69-2E41-ABC9-73101D243033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79F9B88-9977-E47C-FB15-F2F8C1718794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C492F18-E73C-3808-3670-DDCAEC99D955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99F1574-7D42-1433-2163-FDCA3CC49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60B55D-98FD-C243-E518-2D50BA49ABE3}"/>
              </a:ext>
            </a:extLst>
          </p:cNvPr>
          <p:cNvGrpSpPr/>
          <p:nvPr/>
        </p:nvGrpSpPr>
        <p:grpSpPr>
          <a:xfrm>
            <a:off x="-7844918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B2BD67-E94D-DE38-26BC-76A823DB0AD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C605733-82E2-FE7D-3529-87408A1438A1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462ACA2-97EA-BD11-2388-57A1FE80B6B3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E990A44-126C-5CC8-B0BE-8288455D0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3B4996A-B6B8-F27E-0DCD-756082CE9117}"/>
              </a:ext>
            </a:extLst>
          </p:cNvPr>
          <p:cNvGrpSpPr/>
          <p:nvPr/>
        </p:nvGrpSpPr>
        <p:grpSpPr>
          <a:xfrm>
            <a:off x="-8225842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867D565-4337-EA3B-8AB8-CABB3F1E6130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6CB07A3-8521-98CA-1B44-0421B47BDC3C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D825412-2A2A-108C-715A-156061562361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D1946AC-5D37-FC0C-3D8F-E2697E9D0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FE1DD1C-1153-35D9-859A-0B07D685033C}"/>
              </a:ext>
            </a:extLst>
          </p:cNvPr>
          <p:cNvSpPr txBox="1"/>
          <p:nvPr/>
        </p:nvSpPr>
        <p:spPr>
          <a:xfrm>
            <a:off x="1781640" y="1220310"/>
            <a:ext cx="5465059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What is the distribution of ticket classes (Ticket Class) and types (Ticket Type)?</a:t>
            </a:r>
          </a:p>
          <a:p>
            <a:pPr marL="1714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Analyze how customers choose between different ticket options.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Do certain customer groups (e.g., Adult, Disabled) prefer specific routes or payment methods?</a:t>
            </a:r>
          </a:p>
          <a:p>
            <a:pPr marL="1714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Segment the data by </a:t>
            </a:r>
            <a:r>
              <a:rPr lang="en-US" sz="1200" kern="100" dirty="0" err="1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to explore preferences.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n-US" sz="1200" b="1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Are there differences in purchasing behavior based on time of day?</a:t>
            </a:r>
          </a:p>
          <a:p>
            <a:pPr marL="1714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</a:pPr>
            <a:r>
              <a:rPr lang="en-US" sz="1200" kern="1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Analyze Time of Purchase to see if certain groups (e.g., commuters) buy tickets at specific times.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912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219B72C9-7AB1-0DD6-8AF2-271D7A24F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2FE82A09-701E-6B86-2EA9-6C5A06ABCC69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9F6AD05-3255-1CF5-6889-74A7108B45E9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598BFA-7B02-F97A-4E7D-53B58029AA1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1B6ACB-3C15-7232-4C78-5AFC81B5C447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A9AB85-C81B-6C01-CD07-11A18E08F323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A5E7E536-483E-A130-A085-88CFFA087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034A7FA-93F9-27CB-FC5E-6B69E6A335DA}"/>
              </a:ext>
            </a:extLst>
          </p:cNvPr>
          <p:cNvGrpSpPr/>
          <p:nvPr/>
        </p:nvGrpSpPr>
        <p:grpSpPr>
          <a:xfrm>
            <a:off x="-361873" y="-43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CB3206D-1320-1AEE-6568-AF76BD0E3DE5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B5C3A9B-D429-00B1-4605-757AB8BB4BB1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BE14C4-646E-EA10-15FF-D4F9FE320F1E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5C2ADF2C-9BAF-AF73-013F-DBD4C302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73ADF4E-938E-CC47-B3E5-2DDCCCA123D0}"/>
              </a:ext>
            </a:extLst>
          </p:cNvPr>
          <p:cNvGrpSpPr/>
          <p:nvPr/>
        </p:nvGrpSpPr>
        <p:grpSpPr>
          <a:xfrm>
            <a:off x="-751528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357D9E6-C935-A961-B8BB-3F27123FAF16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1ACB084-F863-1063-0DE6-6B9D6032ECC4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5E22EF-FCFC-2AEE-8ABE-E4A42B1DEDC2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9380D1FC-3139-C604-1686-6D2E38EFF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E87340-73CB-0CB1-DB3F-9103CDA38042}"/>
              </a:ext>
            </a:extLst>
          </p:cNvPr>
          <p:cNvGrpSpPr/>
          <p:nvPr/>
        </p:nvGrpSpPr>
        <p:grpSpPr>
          <a:xfrm>
            <a:off x="-1133608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00F01F8-773C-2A0B-404A-D7E0B7A6BFE8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D243737-E8D4-8A10-1FE6-BA34E6A3DA56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2272CD-3955-D71C-3B6D-D66878136E22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D56A5B4-14CB-B9EF-A39E-9EEF1EEFC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D9C7CB8-BA05-8E51-D2A8-983553EB17EF}"/>
              </a:ext>
            </a:extLst>
          </p:cNvPr>
          <p:cNvGrpSpPr/>
          <p:nvPr/>
        </p:nvGrpSpPr>
        <p:grpSpPr>
          <a:xfrm>
            <a:off x="-1506870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C95EE1-EF13-85B3-0ADD-50CA89CD23D4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665EFF2-7807-8A03-58FA-FDE2309F619A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184BE61-32B4-C197-3DD1-239C1C5C0FA5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E9C6BB06-3F2B-B204-7433-F5F363D95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8256CC-D6DC-039A-B85C-0EFFA1A720FB}"/>
              </a:ext>
            </a:extLst>
          </p:cNvPr>
          <p:cNvGrpSpPr/>
          <p:nvPr/>
        </p:nvGrpSpPr>
        <p:grpSpPr>
          <a:xfrm>
            <a:off x="-8225842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F6B6FA1-4BBC-7C88-6EC4-4C202898AEEF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277AAA-F998-C503-DE84-D59CECF4AB11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5A2A0D9-FDF1-9AA1-5958-55D91570942C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746742E-ADCA-B180-4188-7808B40CB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784EAD2-B14A-9417-90EE-9F563D8A9764}"/>
              </a:ext>
            </a:extLst>
          </p:cNvPr>
          <p:cNvSpPr txBox="1"/>
          <p:nvPr/>
        </p:nvSpPr>
        <p:spPr>
          <a:xfrm>
            <a:off x="1356886" y="1002926"/>
            <a:ext cx="5205906" cy="2506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are the busiest routes in terms of ticket sales?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Departure Station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Arrival Destination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columns to identify popular routes.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 does distance between stations correlate with ticket price?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Use the additional distance variable to analyze whether longer journeys are proportionally more expensive.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Can we visualize the flow of passengers between stations?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 a geospatial map using station coordinates to show passenger movement.</a:t>
            </a:r>
          </a:p>
        </p:txBody>
      </p:sp>
    </p:spTree>
    <p:extLst>
      <p:ext uri="{BB962C8B-B14F-4D97-AF65-F5344CB8AC3E}">
        <p14:creationId xmlns:p14="http://schemas.microsoft.com/office/powerpoint/2010/main" val="33297228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Shape 554">
          <a:extLst>
            <a:ext uri="{FF2B5EF4-FFF2-40B4-BE49-F238E27FC236}">
              <a16:creationId xmlns:a16="http://schemas.microsoft.com/office/drawing/2014/main" id="{BD741B37-8007-B691-DC87-AA463ACC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6C45AAEF-E6D6-0CE9-A75C-EEBA2CB7AE6F}"/>
              </a:ext>
            </a:extLst>
          </p:cNvPr>
          <p:cNvSpPr txBox="1"/>
          <p:nvPr/>
        </p:nvSpPr>
        <p:spPr>
          <a:xfrm>
            <a:off x="3330054" y="2170859"/>
            <a:ext cx="5172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Questions have been divided into six categories to enhance analysis and make documentation easier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61DC82-5F72-71BF-499B-DA3DFF9B515B}"/>
              </a:ext>
            </a:extLst>
          </p:cNvPr>
          <p:cNvGrpSpPr/>
          <p:nvPr/>
        </p:nvGrpSpPr>
        <p:grpSpPr>
          <a:xfrm>
            <a:off x="17930" y="-16"/>
            <a:ext cx="9129254" cy="5143500"/>
            <a:chOff x="7373" y="0"/>
            <a:chExt cx="9129254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6E7E1E-8904-8CC5-014C-B1C4EB077A2E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86D1EEB-E9A3-126F-9995-B58D2D22194C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305063-73C3-12F1-B40C-8AEF1C3FCAA7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Performance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17" name="Picture 16" descr="A black background with a black square">
              <a:extLst>
                <a:ext uri="{FF2B5EF4-FFF2-40B4-BE49-F238E27FC236}">
                  <a16:creationId xmlns:a16="http://schemas.microsoft.com/office/drawing/2014/main" id="{DBD2B0F2-DDE5-6690-EC89-C104B4DC9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16200000">
              <a:off x="8413952" y="2418735"/>
              <a:ext cx="312021" cy="312021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E38390-451E-2D21-D516-BCD50ABE61A0}"/>
              </a:ext>
            </a:extLst>
          </p:cNvPr>
          <p:cNvGrpSpPr/>
          <p:nvPr/>
        </p:nvGrpSpPr>
        <p:grpSpPr>
          <a:xfrm>
            <a:off x="-361873" y="-43"/>
            <a:ext cx="9129254" cy="5143500"/>
            <a:chOff x="7373" y="0"/>
            <a:chExt cx="9129254" cy="51435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653E4D2-2D61-2D56-19FA-C547D744C3D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3F79918-38BE-2FC1-293A-BF846665CD5A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A90944-BAA0-2132-C328-CCD36AD90B3B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Purchase 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Behavior</a:t>
              </a:r>
            </a:p>
          </p:txBody>
        </p:sp>
        <p:pic>
          <p:nvPicPr>
            <p:cNvPr id="24" name="Picture 23" descr="A black background with a black square">
              <a:extLst>
                <a:ext uri="{FF2B5EF4-FFF2-40B4-BE49-F238E27FC236}">
                  <a16:creationId xmlns:a16="http://schemas.microsoft.com/office/drawing/2014/main" id="{B60FF9F8-6567-46AC-4C21-15A7876B0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</a:blip>
            <a:stretch>
              <a:fillRect/>
            </a:stretch>
          </p:blipFill>
          <p:spPr>
            <a:xfrm rot="16200000">
              <a:off x="8426400" y="2415737"/>
              <a:ext cx="312021" cy="31202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61A0D4-5EBC-0068-9187-B2C1598852FE}"/>
              </a:ext>
            </a:extLst>
          </p:cNvPr>
          <p:cNvGrpSpPr/>
          <p:nvPr/>
        </p:nvGrpSpPr>
        <p:grpSpPr>
          <a:xfrm>
            <a:off x="-751528" y="11"/>
            <a:ext cx="9129254" cy="5143500"/>
            <a:chOff x="7373" y="0"/>
            <a:chExt cx="9129254" cy="51435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39ED064-241D-B23F-8205-0EFED9FDE2AC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26B3526-AF99-CA0F-573A-6DF8EB9366F2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866DEF-F445-501F-3BDB-944E658DCD5B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Pricing &amp;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Revenue</a:t>
              </a:r>
            </a:p>
          </p:txBody>
        </p:sp>
        <p:pic>
          <p:nvPicPr>
            <p:cNvPr id="29" name="Picture 28" descr="A black background with a black square">
              <a:extLst>
                <a:ext uri="{FF2B5EF4-FFF2-40B4-BE49-F238E27FC236}">
                  <a16:creationId xmlns:a16="http://schemas.microsoft.com/office/drawing/2014/main" id="{AA65D0F3-4D9D-BFA4-B213-9E8D98498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</a:blip>
            <a:stretch>
              <a:fillRect/>
            </a:stretch>
          </p:blipFill>
          <p:spPr>
            <a:xfrm rot="16200000">
              <a:off x="8420405" y="2421958"/>
              <a:ext cx="299579" cy="29957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C6419C2-5A55-B9AA-A86D-C838BC8C52DF}"/>
              </a:ext>
            </a:extLst>
          </p:cNvPr>
          <p:cNvGrpSpPr/>
          <p:nvPr/>
        </p:nvGrpSpPr>
        <p:grpSpPr>
          <a:xfrm>
            <a:off x="-1133608" y="8"/>
            <a:ext cx="9129254" cy="5143500"/>
            <a:chOff x="7373" y="0"/>
            <a:chExt cx="9129254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7BBB899-435B-F4C0-4B20-B8957F6AC287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42CD31E-AD2D-3298-6CBD-DA563DD49DB4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50FABB9-6515-7FB8-B500-93332939A7F6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Customer</a:t>
              </a:r>
            </a:p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Segmentation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778971C-0169-A4D1-F230-F0A2CBBBE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 rot="16200000">
              <a:off x="8399204" y="2403294"/>
              <a:ext cx="336912" cy="3369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77A88D2-6B43-D6AA-5887-AA3F7B096B1F}"/>
              </a:ext>
            </a:extLst>
          </p:cNvPr>
          <p:cNvGrpSpPr/>
          <p:nvPr/>
        </p:nvGrpSpPr>
        <p:grpSpPr>
          <a:xfrm>
            <a:off x="-1506870" y="16"/>
            <a:ext cx="9129254" cy="5143500"/>
            <a:chOff x="7373" y="0"/>
            <a:chExt cx="9129254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BD0B62-9549-D22C-01CA-7520A10D1603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B194C94-86E5-B9ED-53B2-095F41E4F7CF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25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1428AD9-7D99-AE4B-4B5F-FA382D0E71B8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Geospatial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Analysis</a:t>
              </a:r>
            </a:p>
          </p:txBody>
        </p:sp>
        <p:pic>
          <p:nvPicPr>
            <p:cNvPr id="40" name="Picture 3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F938722-9788-E6DD-B0C9-396C8649A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 rot="16200000">
              <a:off x="8439905" y="2435785"/>
              <a:ext cx="271926" cy="27192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5A638F-6929-2FD9-D92A-7DE2AEE82583}"/>
              </a:ext>
            </a:extLst>
          </p:cNvPr>
          <p:cNvGrpSpPr/>
          <p:nvPr/>
        </p:nvGrpSpPr>
        <p:grpSpPr>
          <a:xfrm>
            <a:off x="-1896758" y="0"/>
            <a:ext cx="9129254" cy="5143500"/>
            <a:chOff x="7373" y="0"/>
            <a:chExt cx="9129254" cy="51435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C0C9EEB-6B65-95F3-E814-F90A0EDBA8BD}"/>
                </a:ext>
              </a:extLst>
            </p:cNvPr>
            <p:cNvSpPr/>
            <p:nvPr/>
          </p:nvSpPr>
          <p:spPr>
            <a:xfrm>
              <a:off x="7373" y="0"/>
              <a:ext cx="9129254" cy="5143500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75000"/>
                  <a:lumOff val="25000"/>
                  <a:alpha val="3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CC6F17B-EAD6-927D-92DF-32A0B01DBBD8}"/>
                </a:ext>
              </a:extLst>
            </p:cNvPr>
            <p:cNvSpPr/>
            <p:nvPr/>
          </p:nvSpPr>
          <p:spPr>
            <a:xfrm>
              <a:off x="8377083" y="1834939"/>
              <a:ext cx="759543" cy="1473621"/>
            </a:xfrm>
            <a:custGeom>
              <a:avLst/>
              <a:gdLst>
                <a:gd name="connsiteX0" fmla="*/ 1047135 w 1047135"/>
                <a:gd name="connsiteY0" fmla="*/ 0 h 2031590"/>
                <a:gd name="connsiteX1" fmla="*/ 1047135 w 1047135"/>
                <a:gd name="connsiteY1" fmla="*/ 2031590 h 2031590"/>
                <a:gd name="connsiteX2" fmla="*/ 0 w 1047135"/>
                <a:gd name="connsiteY2" fmla="*/ 1015795 h 2031590"/>
                <a:gd name="connsiteX3" fmla="*/ 1047135 w 1047135"/>
                <a:gd name="connsiteY3" fmla="*/ 0 h 203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7135" h="2031590">
                  <a:moveTo>
                    <a:pt x="1047135" y="0"/>
                  </a:moveTo>
                  <a:lnTo>
                    <a:pt x="1047135" y="2031590"/>
                  </a:lnTo>
                  <a:cubicBezTo>
                    <a:pt x="468818" y="2031590"/>
                    <a:pt x="0" y="1576803"/>
                    <a:pt x="0" y="1015795"/>
                  </a:cubicBezTo>
                  <a:cubicBezTo>
                    <a:pt x="0" y="454787"/>
                    <a:pt x="468818" y="0"/>
                    <a:pt x="1047135" y="0"/>
                  </a:cubicBezTo>
                  <a:close/>
                </a:path>
              </a:pathLst>
            </a:cu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69BEDD2-3B34-A628-60D4-6DA49502665C}"/>
                </a:ext>
              </a:extLst>
            </p:cNvPr>
            <p:cNvSpPr txBox="1"/>
            <p:nvPr/>
          </p:nvSpPr>
          <p:spPr>
            <a:xfrm rot="16200000">
              <a:off x="8168984" y="2340916"/>
              <a:ext cx="1473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D1D1"/>
                  </a:solidFill>
                </a:rPr>
                <a:t>Temporal &amp;</a:t>
              </a:r>
              <a:br>
                <a:rPr lang="en-US" sz="1200" b="1" dirty="0">
                  <a:solidFill>
                    <a:srgbClr val="FFD1D1"/>
                  </a:solidFill>
                </a:rPr>
              </a:br>
              <a:r>
                <a:rPr lang="en-US" sz="1200" b="1" dirty="0">
                  <a:solidFill>
                    <a:srgbClr val="FFD1D1"/>
                  </a:solidFill>
                </a:rPr>
                <a:t>Delay Analysis</a:t>
              </a:r>
            </a:p>
          </p:txBody>
        </p:sp>
        <p:pic>
          <p:nvPicPr>
            <p:cNvPr id="45" name="Picture 4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F4308B1-CEB1-74AF-0A2C-51CB4F0F8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 rot="16200000">
              <a:off x="8420405" y="2410897"/>
              <a:ext cx="321701" cy="32170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88265C-68B6-FB7F-BF1D-80A1A4DAD39F}"/>
              </a:ext>
            </a:extLst>
          </p:cNvPr>
          <p:cNvSpPr txBox="1"/>
          <p:nvPr/>
        </p:nvSpPr>
        <p:spPr>
          <a:xfrm>
            <a:off x="1385180" y="464908"/>
            <a:ext cx="5063113" cy="5046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 delays lead to an increase in refund requests?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Compare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Journey Status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Refund Request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columns to identify correlations.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What is the financial impact of delays?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Estimate the cost of refunds or compensation for delayed journeys.</a:t>
            </a: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Are certain routes more prone to delays than others?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Analyze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Departure Station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Arrival Destination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for delayed journeys.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Are there seasonal patterns in ticket purchases?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Analyze the </a:t>
            </a: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Date of Purchase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column to identify trends over time.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Do delays occur more frequently during specific times of the day or year?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Investigate whether delays are more common during peak travel hours or holidays.</a:t>
            </a:r>
          </a:p>
          <a:p>
            <a:pPr marL="457200"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93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59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59"/>
          <p:cNvSpPr txBox="1"/>
          <p:nvPr/>
        </p:nvSpPr>
        <p:spPr>
          <a:xfrm>
            <a:off x="1586785" y="458827"/>
            <a:ext cx="70485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Samples of Business Question in Python and SQL: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What is the overall punctuality performance of the train journeys (percentage of trips on time, delayed, or cancelled)?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567" name="Google Shape;567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3427" y="1202227"/>
            <a:ext cx="3286468" cy="1666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68" name="Google Shape;568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7009" y="1122393"/>
            <a:ext cx="3630568" cy="1820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9" name="Google Shape;569;p59"/>
          <p:cNvSpPr txBox="1"/>
          <p:nvPr/>
        </p:nvSpPr>
        <p:spPr>
          <a:xfrm>
            <a:off x="1960591" y="2801969"/>
            <a:ext cx="7094100" cy="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📌 Key Findings &amp; Implications: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Punctuality Performance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  90.7% of journeys were </a:t>
            </a:r>
            <a:r>
              <a:rPr lang="en" sz="1100" b="1" dirty="0">
                <a:solidFill>
                  <a:schemeClr val="dk1"/>
                </a:solidFill>
              </a:rPr>
              <a:t>on time</a:t>
            </a:r>
            <a:r>
              <a:rPr lang="en" sz="1100" dirty="0">
                <a:solidFill>
                  <a:schemeClr val="dk1"/>
                </a:solidFill>
              </a:rPr>
              <a:t>.         5.3% of journeys were </a:t>
            </a:r>
            <a:r>
              <a:rPr lang="en" sz="1100" b="1" dirty="0">
                <a:solidFill>
                  <a:schemeClr val="dk1"/>
                </a:solidFill>
              </a:rPr>
              <a:t>delayed</a:t>
            </a:r>
            <a:r>
              <a:rPr lang="en" sz="1100" dirty="0">
                <a:solidFill>
                  <a:schemeClr val="dk1"/>
                </a:solidFill>
              </a:rPr>
              <a:t>.          4% of journeys were </a:t>
            </a:r>
            <a:r>
              <a:rPr lang="en" sz="1100" b="1" dirty="0">
                <a:solidFill>
                  <a:schemeClr val="dk1"/>
                </a:solidFill>
              </a:rPr>
              <a:t>cancelled</a:t>
            </a:r>
            <a:r>
              <a:rPr lang="en" sz="1100" dirty="0">
                <a:solidFill>
                  <a:schemeClr val="dk1"/>
                </a:solidFill>
              </a:rPr>
              <a:t>.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570" name="Google Shape;570;p59"/>
          <p:cNvSpPr txBox="1"/>
          <p:nvPr/>
        </p:nvSpPr>
        <p:spPr>
          <a:xfrm>
            <a:off x="1960591" y="3746787"/>
            <a:ext cx="6101350" cy="1286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Operational Insight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While </a:t>
            </a:r>
            <a:r>
              <a:rPr lang="en" sz="1100" b="1" dirty="0">
                <a:solidFill>
                  <a:schemeClr val="dk1"/>
                </a:solidFill>
              </a:rPr>
              <a:t>90.7% on-time</a:t>
            </a:r>
            <a:r>
              <a:rPr lang="en" sz="1100" dirty="0">
                <a:solidFill>
                  <a:schemeClr val="dk1"/>
                </a:solidFill>
              </a:rPr>
              <a:t> performance is strong, a combined </a:t>
            </a:r>
            <a:r>
              <a:rPr lang="en" sz="1100" b="1" dirty="0">
                <a:solidFill>
                  <a:schemeClr val="dk1"/>
                </a:solidFill>
              </a:rPr>
              <a:t>9.3% disruption</a:t>
            </a:r>
            <a:r>
              <a:rPr lang="en" sz="1100" dirty="0">
                <a:solidFill>
                  <a:schemeClr val="dk1"/>
                </a:solidFill>
              </a:rPr>
              <a:t> (delays + cancellations) still represents a notable issue, especially in terms of passenger satisfaction.</a:t>
            </a:r>
            <a:br>
              <a:rPr lang="en" sz="1100" dirty="0">
                <a:solidFill>
                  <a:schemeClr val="dk1"/>
                </a:solidFill>
              </a:rPr>
            </a:b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91D856-4122-9634-575C-0A16C667CC6D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AF1830E-5C4F-A795-CF77-A691DB4E0156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92F604-AA51-AE27-3B90-94D41C1292EB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5" name="Graphic 4" descr="Research with solid fill">
              <a:extLst>
                <a:ext uri="{FF2B5EF4-FFF2-40B4-BE49-F238E27FC236}">
                  <a16:creationId xmlns:a16="http://schemas.microsoft.com/office/drawing/2014/main" id="{AD8F8608-E838-52D2-89A1-82DA09927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44710E3F-0B1A-B98A-8786-B7C5A75C95BE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F2995740-2EE5-BD7E-9922-B5AE3E87363C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doors dir="ver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61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1"/>
          <p:cNvSpPr txBox="1"/>
          <p:nvPr/>
        </p:nvSpPr>
        <p:spPr>
          <a:xfrm>
            <a:off x="2067636" y="680736"/>
            <a:ext cx="67362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Business Question: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What are the most common reasons for train delays and cancellations, and how can these be addressed to improve operational efficiency?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587" name="Google Shape;58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7636" y="1384858"/>
            <a:ext cx="2853520" cy="14022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88" name="Google Shape;588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1606" y="1335926"/>
            <a:ext cx="3245090" cy="13854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785356F-7BD7-3003-307C-C96B95ECD699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B732FBF-090D-8C06-A062-92C328EBD3FE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6262735-9731-8055-E08E-C9FB1119E92F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5" name="Graphic 4" descr="Research with solid fill">
              <a:extLst>
                <a:ext uri="{FF2B5EF4-FFF2-40B4-BE49-F238E27FC236}">
                  <a16:creationId xmlns:a16="http://schemas.microsoft.com/office/drawing/2014/main" id="{93009C08-D7B2-D198-8239-59F3F495B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015F9E7-F56F-5363-320F-C4276EEAADAD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0A3725AB-CDE9-014B-FF5E-03F847EDAC7D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605;p63">
            <a:extLst>
              <a:ext uri="{FF2B5EF4-FFF2-40B4-BE49-F238E27FC236}">
                <a16:creationId xmlns:a16="http://schemas.microsoft.com/office/drawing/2014/main" id="{B71C59E7-6276-3C5C-BF4C-034EBDC23FD1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64662" y="2870825"/>
            <a:ext cx="4352925" cy="196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oogle Shape;606;p63">
            <a:extLst>
              <a:ext uri="{FF2B5EF4-FFF2-40B4-BE49-F238E27FC236}">
                <a16:creationId xmlns:a16="http://schemas.microsoft.com/office/drawing/2014/main" id="{77064BFF-1D87-2C28-0D0A-D9CB76A78F2D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52578" y="2826721"/>
            <a:ext cx="2853520" cy="21611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4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64"/>
          <p:cNvSpPr txBox="1"/>
          <p:nvPr/>
        </p:nvSpPr>
        <p:spPr>
          <a:xfrm>
            <a:off x="1570630" y="522464"/>
            <a:ext cx="65076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Business Question: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Which train routes have the highest frequency of delays and cancellations, and what operational improvements can be made?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614" name="Google Shape;614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4175" y="3520560"/>
            <a:ext cx="3609825" cy="1123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15" name="Google Shape;615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0462" y="1265864"/>
            <a:ext cx="3480413" cy="16872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16" name="Google Shape;616;p64"/>
          <p:cNvSpPr txBox="1"/>
          <p:nvPr/>
        </p:nvSpPr>
        <p:spPr>
          <a:xfrm>
            <a:off x="1516916" y="1189229"/>
            <a:ext cx="3963545" cy="210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📌 </a:t>
            </a:r>
            <a:r>
              <a:rPr lang="en" sz="1000" b="1" dirty="0">
                <a:solidFill>
                  <a:schemeClr val="dk1"/>
                </a:solidFill>
              </a:rPr>
              <a:t>Key Findings &amp; Operational Insights:</a:t>
            </a:r>
            <a:endParaRPr sz="10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Top 5 Disrupted Routes</a:t>
            </a:r>
            <a:r>
              <a:rPr lang="en" sz="1000" dirty="0">
                <a:solidFill>
                  <a:schemeClr val="dk1"/>
                </a:solidFill>
              </a:rPr>
              <a:t>:</a:t>
            </a:r>
            <a:endParaRPr sz="10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000" b="1" dirty="0">
                <a:solidFill>
                  <a:schemeClr val="dk1"/>
                </a:solidFill>
              </a:rPr>
              <a:t>Manchester Piccadilly to Liverpool Lime Street</a:t>
            </a:r>
            <a:r>
              <a:rPr lang="en" sz="1000" dirty="0">
                <a:solidFill>
                  <a:schemeClr val="dk1"/>
                </a:solidFill>
              </a:rPr>
              <a:t> (266 delays/cancellations)</a:t>
            </a:r>
            <a:endParaRPr sz="10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000" b="1" dirty="0">
                <a:solidFill>
                  <a:schemeClr val="dk1"/>
                </a:solidFill>
              </a:rPr>
              <a:t>Liverpool Lime Street to London Euston</a:t>
            </a:r>
            <a:r>
              <a:rPr lang="en" sz="1000" dirty="0">
                <a:solidFill>
                  <a:schemeClr val="dk1"/>
                </a:solidFill>
              </a:rPr>
              <a:t> (223)</a:t>
            </a:r>
            <a:endParaRPr sz="10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000" b="1" dirty="0">
                <a:solidFill>
                  <a:schemeClr val="dk1"/>
                </a:solidFill>
              </a:rPr>
              <a:t>Manchester Piccadilly to London Euston</a:t>
            </a:r>
            <a:r>
              <a:rPr lang="en" sz="1000" dirty="0">
                <a:solidFill>
                  <a:schemeClr val="dk1"/>
                </a:solidFill>
              </a:rPr>
              <a:t> (194)</a:t>
            </a:r>
            <a:endParaRPr sz="10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000" b="1" dirty="0">
                <a:solidFill>
                  <a:schemeClr val="dk1"/>
                </a:solidFill>
              </a:rPr>
              <a:t>London Paddington to Reading</a:t>
            </a:r>
            <a:r>
              <a:rPr lang="en" sz="1000" dirty="0">
                <a:solidFill>
                  <a:schemeClr val="dk1"/>
                </a:solidFill>
              </a:rPr>
              <a:t> (153)</a:t>
            </a:r>
            <a:endParaRPr sz="10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000" b="1" dirty="0">
                <a:solidFill>
                  <a:schemeClr val="dk1"/>
                </a:solidFill>
              </a:rPr>
              <a:t>London Euston to Birmingham New Street</a:t>
            </a:r>
            <a:r>
              <a:rPr lang="en" sz="1000" dirty="0">
                <a:solidFill>
                  <a:schemeClr val="dk1"/>
                </a:solidFill>
              </a:rPr>
              <a:t> (156)</a:t>
            </a: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1624343" y="3029798"/>
            <a:ext cx="3909832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</a:rPr>
              <a:t>Patterns Observed</a:t>
            </a:r>
            <a:r>
              <a:rPr lang="en" sz="1000" dirty="0">
                <a:solidFill>
                  <a:schemeClr val="dk1"/>
                </a:solidFill>
              </a:rPr>
              <a:t>: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Major intercity routes</a:t>
            </a:r>
            <a:r>
              <a:rPr lang="en" sz="1000" dirty="0">
                <a:solidFill>
                  <a:schemeClr val="dk1"/>
                </a:solidFill>
              </a:rPr>
              <a:t> (e.g., Manchester-London, Liverpool-London) </a:t>
            </a:r>
            <a:r>
              <a:rPr lang="en" sz="1000" b="1" dirty="0">
                <a:solidFill>
                  <a:schemeClr val="dk1"/>
                </a:solidFill>
              </a:rPr>
              <a:t>dominate the list</a:t>
            </a:r>
            <a:r>
              <a:rPr lang="en" sz="1000" dirty="0">
                <a:solidFill>
                  <a:schemeClr val="dk1"/>
                </a:solidFill>
              </a:rPr>
              <a:t>, suggesting there may be </a:t>
            </a:r>
            <a:r>
              <a:rPr lang="en" sz="1000" b="1" dirty="0">
                <a:solidFill>
                  <a:schemeClr val="dk1"/>
                </a:solidFill>
              </a:rPr>
              <a:t>systemic issues</a:t>
            </a:r>
            <a:r>
              <a:rPr lang="en" sz="1000" dirty="0">
                <a:solidFill>
                  <a:schemeClr val="dk1"/>
                </a:solidFill>
              </a:rPr>
              <a:t> that require further investigation.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 b="1" dirty="0">
                <a:solidFill>
                  <a:schemeClr val="dk1"/>
                </a:solidFill>
              </a:rPr>
              <a:t>London hubs</a:t>
            </a:r>
            <a:r>
              <a:rPr lang="en" sz="1000" dirty="0">
                <a:solidFill>
                  <a:schemeClr val="dk1"/>
                </a:solidFill>
              </a:rPr>
              <a:t> (Euston, Paddington, Kings Cross) appear frequently, indicating </a:t>
            </a:r>
            <a:r>
              <a:rPr lang="en" sz="1000" b="1" dirty="0">
                <a:solidFill>
                  <a:schemeClr val="dk1"/>
                </a:solidFill>
              </a:rPr>
              <a:t>potential congestion hotspots</a:t>
            </a:r>
            <a:r>
              <a:rPr lang="en" sz="1000" dirty="0">
                <a:solidFill>
                  <a:schemeClr val="dk1"/>
                </a:solidFill>
              </a:rPr>
              <a:t> that may need operational improvements, such as better scheduling or infrastructure upgrades.</a:t>
            </a:r>
            <a:endParaRPr sz="10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6D01D1-AE1B-DA67-2533-3C5A5DF0E501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EE942A-4998-0E35-F819-0D37C864DAF0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640E8C-84DE-980D-252F-206F2109ADA2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5" name="Graphic 4" descr="Research with solid fill">
              <a:extLst>
                <a:ext uri="{FF2B5EF4-FFF2-40B4-BE49-F238E27FC236}">
                  <a16:creationId xmlns:a16="http://schemas.microsoft.com/office/drawing/2014/main" id="{1A1A6236-B475-7CCA-7AD3-7176A3C30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0A415F74-416B-8613-F1C0-4AB39B41F231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BC4DF5F7-C03B-A511-3F42-1B50B0C17B69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3" name="Google Shape;623;p65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567" y="1120149"/>
            <a:ext cx="5989892" cy="40233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Google Shape;613;p64">
            <a:extLst>
              <a:ext uri="{FF2B5EF4-FFF2-40B4-BE49-F238E27FC236}">
                <a16:creationId xmlns:a16="http://schemas.microsoft.com/office/drawing/2014/main" id="{A5289895-9920-E19E-71EA-BCA19045A6AF}"/>
              </a:ext>
            </a:extLst>
          </p:cNvPr>
          <p:cNvSpPr txBox="1"/>
          <p:nvPr/>
        </p:nvSpPr>
        <p:spPr>
          <a:xfrm>
            <a:off x="1754874" y="508816"/>
            <a:ext cx="65076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🎯 Business Question:</a:t>
            </a:r>
            <a:br>
              <a:rPr lang="en" sz="1100" b="1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What many minutes in average is noted in each departure station? </a:t>
            </a:r>
            <a:r>
              <a:rPr lang="en-US" sz="1100" dirty="0">
                <a:solidFill>
                  <a:schemeClr val="dk1"/>
                </a:solidFill>
              </a:rPr>
              <a:t>I</a:t>
            </a:r>
            <a:r>
              <a:rPr lang="en" sz="1100" dirty="0">
                <a:solidFill>
                  <a:schemeClr val="dk1"/>
                </a:solidFill>
              </a:rPr>
              <a:t>s there a specific station that exceeds other?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2648D8-CFB6-0BEF-F2FF-34A2FA707888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D8CBDB-D2CB-BA2F-5827-CCC7C404480C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94D41A-E93C-205A-9F04-60BB8E423908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6" name="Graphic 5" descr="Research with solid fill">
              <a:extLst>
                <a:ext uri="{FF2B5EF4-FFF2-40B4-BE49-F238E27FC236}">
                  <a16:creationId xmlns:a16="http://schemas.microsoft.com/office/drawing/2014/main" id="{AF18286A-4CB3-27F3-9AA0-C06A07888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D4B0F848-8A22-C103-85AA-5C374F285FD6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A35690F9-F8F0-121F-B1F2-89CE5D593168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180342-9B0B-72AA-C87E-C78DC026140D}"/>
              </a:ext>
            </a:extLst>
          </p:cNvPr>
          <p:cNvSpPr/>
          <p:nvPr/>
        </p:nvSpPr>
        <p:spPr>
          <a:xfrm>
            <a:off x="4408227" y="1849272"/>
            <a:ext cx="395785" cy="2893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Google Shape;630;p66" title="M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66"/>
          <p:cNvSpPr txBox="1"/>
          <p:nvPr/>
        </p:nvSpPr>
        <p:spPr>
          <a:xfrm>
            <a:off x="1976285" y="457200"/>
            <a:ext cx="6461424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🛤 Further Analysis on Delays in Minutes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Route with the Highest Delay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The route </a:t>
            </a:r>
            <a:r>
              <a:rPr lang="en" sz="1100" b="1" dirty="0">
                <a:solidFill>
                  <a:schemeClr val="dk1"/>
                </a:solidFill>
              </a:rPr>
              <a:t>Manchester Piccadilly to Leeds</a:t>
            </a:r>
            <a:r>
              <a:rPr lang="en" sz="1100" dirty="0">
                <a:solidFill>
                  <a:schemeClr val="dk1"/>
                </a:solidFill>
              </a:rPr>
              <a:t> has a very </a:t>
            </a:r>
            <a:r>
              <a:rPr lang="en" sz="1100" b="1" dirty="0">
                <a:solidFill>
                  <a:schemeClr val="dk1"/>
                </a:solidFill>
              </a:rPr>
              <a:t>high median delay</a:t>
            </a:r>
            <a:r>
              <a:rPr lang="en" sz="1100" dirty="0">
                <a:solidFill>
                  <a:schemeClr val="dk1"/>
                </a:solidFill>
              </a:rPr>
              <a:t> as well as </a:t>
            </a:r>
            <a:r>
              <a:rPr lang="en" sz="1100" b="1" dirty="0">
                <a:solidFill>
                  <a:schemeClr val="dk1"/>
                </a:solidFill>
              </a:rPr>
              <a:t>1st and 3rd quartiles</a:t>
            </a:r>
            <a:r>
              <a:rPr lang="en" sz="1100" dirty="0">
                <a:solidFill>
                  <a:schemeClr val="dk1"/>
                </a:solidFill>
              </a:rPr>
              <a:t> of delays in minutes.</a:t>
            </a: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632" name="Google Shape;63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488" y="1501634"/>
            <a:ext cx="4852219" cy="35124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33" name="Google Shape;633;p66"/>
          <p:cNvSpPr txBox="1"/>
          <p:nvPr/>
        </p:nvSpPr>
        <p:spPr>
          <a:xfrm>
            <a:off x="1541207" y="2031492"/>
            <a:ext cx="2556008" cy="2244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Implications &amp; Suggested Actions</a:t>
            </a:r>
            <a:r>
              <a:rPr lang="en" sz="1100" dirty="0">
                <a:solidFill>
                  <a:schemeClr val="dk1"/>
                </a:solidFill>
              </a:rPr>
              <a:t>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Immediate attention</a:t>
            </a:r>
            <a:r>
              <a:rPr lang="en" sz="1100" dirty="0">
                <a:solidFill>
                  <a:schemeClr val="dk1"/>
                </a:solidFill>
              </a:rPr>
              <a:t> is required for </a:t>
            </a:r>
            <a:r>
              <a:rPr lang="en" sz="1100" b="1" dirty="0">
                <a:solidFill>
                  <a:schemeClr val="dk1"/>
                </a:solidFill>
              </a:rPr>
              <a:t>signal failure</a:t>
            </a:r>
            <a:r>
              <a:rPr lang="en" sz="1100" dirty="0">
                <a:solidFill>
                  <a:schemeClr val="dk1"/>
                </a:solidFill>
              </a:rPr>
              <a:t> on this route to prevent further delays.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dirty="0">
                <a:solidFill>
                  <a:schemeClr val="dk1"/>
                </a:solidFill>
              </a:rPr>
              <a:t>Consider using </a:t>
            </a:r>
            <a:r>
              <a:rPr lang="en" sz="1100" b="1" dirty="0">
                <a:solidFill>
                  <a:schemeClr val="dk1"/>
                </a:solidFill>
              </a:rPr>
              <a:t>predictive maintenance models</a:t>
            </a:r>
            <a:r>
              <a:rPr lang="en" sz="1100" dirty="0">
                <a:solidFill>
                  <a:schemeClr val="dk1"/>
                </a:solidFill>
              </a:rPr>
              <a:t> to prevent unexpected signal failures.</a:t>
            </a:r>
            <a:endParaRPr sz="1100" dirty="0">
              <a:solidFill>
                <a:schemeClr val="dk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3482298-BDC1-879B-BB50-FA291124E046}"/>
              </a:ext>
            </a:extLst>
          </p:cNvPr>
          <p:cNvGrpSpPr/>
          <p:nvPr/>
        </p:nvGrpSpPr>
        <p:grpSpPr>
          <a:xfrm>
            <a:off x="-6167" y="0"/>
            <a:ext cx="1673352" cy="5143500"/>
            <a:chOff x="3657600" y="0"/>
            <a:chExt cx="1993501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C964FE1-7FA7-1938-96FB-B1B0511037FB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412DEF5-8C54-3EFD-F0EC-143093B0E26F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5" name="Graphic 4" descr="Research with solid fill">
              <a:extLst>
                <a:ext uri="{FF2B5EF4-FFF2-40B4-BE49-F238E27FC236}">
                  <a16:creationId xmlns:a16="http://schemas.microsoft.com/office/drawing/2014/main" id="{F451F194-35B9-6D2F-D821-750480A36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64E1B123-5E4A-F5A8-C80E-D671FC959AEE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oogle Shape;180;p22" title="proAr.png">
            <a:extLst>
              <a:ext uri="{FF2B5EF4-FFF2-40B4-BE49-F238E27FC236}">
                <a16:creationId xmlns:a16="http://schemas.microsoft.com/office/drawing/2014/main" id="{9628650C-742E-BE34-64A6-6529266ADAA5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46AD-C44E-91C4-FD75-BE77184C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FE19DC3A-C677-6841-75AE-DF1B9C7B2548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DA3DF86-D2D3-E956-7139-B53FCC83E34F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9D7DF90-E60C-1319-94CB-3629959F780C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25A9BABE-78E9-F169-3F83-C82890342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D1F2DA84-C617-8715-1135-388AE4B62C91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56DA0C5-7944-67ED-4D09-3C6D78D9BE85}"/>
              </a:ext>
            </a:extLst>
          </p:cNvPr>
          <p:cNvGrpSpPr/>
          <p:nvPr/>
        </p:nvGrpSpPr>
        <p:grpSpPr>
          <a:xfrm>
            <a:off x="6114508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3142C7-1C61-A315-0C77-05FB9BD30583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C96499-EF9C-63EA-37BF-8FA3EEDBB7BB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23BAEE30-A4EE-486B-C432-76F8DF72D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1AC1F351-2117-234D-B730-CBD4F45F1312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B56FB8-2363-A68B-8FC5-5AFCC6F46090}"/>
              </a:ext>
            </a:extLst>
          </p:cNvPr>
          <p:cNvGrpSpPr/>
          <p:nvPr/>
        </p:nvGrpSpPr>
        <p:grpSpPr>
          <a:xfrm>
            <a:off x="4597685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6A0CFB-0AC3-C089-7B3B-474BEC641DE5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9749E6F-0334-7575-01BD-C75B1D7757D3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B6720EFF-F1A7-7360-A23C-2104C636A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4A3E9833-0888-2018-800A-8F5B9B1DDB1E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69E9CAB-545E-7ED3-E931-B8EC22F33939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CFDC0C-A371-BCF0-A73B-2DB917CE0D43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BBC8584-A448-BBEB-4F88-7257165BAD1B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62362C86-6AF2-7766-A14F-2420088D27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464F22B-DAD9-A7D1-37A8-F2C49BC5F628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2949A5D-F4BB-ACCE-263F-AC8BC785D6FF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006739-3AFF-BB19-3FA4-B5DB17725AF8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FD2A73-E460-D9AC-1BC0-EF00CB811654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77D88F9F-5A00-948A-C146-4E35858B9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1F76877-9B24-E589-D593-010646AC309C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C269DFF-0992-44E1-88DC-1741C16ABF9F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566D98-A331-51A4-7B53-B765D5A6FBF9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2C3263-E72F-9CE6-A562-E5DD6AD8F4E1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0302DE6F-0787-93C3-B5A3-E5E3F7FCD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4F5150F-32B1-B3D0-F69F-1658F84D5D25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873562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>
        <p15:prstTrans prst="drape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7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-0.50365 0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F4166DB-25B3-8617-E5EE-DBB9009678A8}"/>
              </a:ext>
            </a:extLst>
          </p:cNvPr>
          <p:cNvGrpSpPr/>
          <p:nvPr/>
        </p:nvGrpSpPr>
        <p:grpSpPr>
          <a:xfrm>
            <a:off x="-2197" y="0"/>
            <a:ext cx="1664647" cy="5143500"/>
            <a:chOff x="7315196" y="0"/>
            <a:chExt cx="199649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A7785F-B8D8-D468-E12F-C76558DDA073}"/>
                </a:ext>
              </a:extLst>
            </p:cNvPr>
            <p:cNvSpPr/>
            <p:nvPr/>
          </p:nvSpPr>
          <p:spPr>
            <a:xfrm>
              <a:off x="7315196" y="0"/>
              <a:ext cx="1828793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7C9435-78CC-8B81-0C5E-A5982F4A0AFE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6" name="Graphic 5" descr="Presentation with pie chart with solid fill">
              <a:extLst>
                <a:ext uri="{FF2B5EF4-FFF2-40B4-BE49-F238E27FC236}">
                  <a16:creationId xmlns:a16="http://schemas.microsoft.com/office/drawing/2014/main" id="{DE98724D-71E8-47A9-28E9-D26D6FE4D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ED9D7B6F-2D68-19AC-0CDD-5E04EE6EF4C7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E5D909BA-03C6-250E-6DAA-6E29535465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007697FE-3141-BD69-0BEA-6038E30695A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8A1DDB-36E5-B4E3-CB27-9311BDD6F5C4}"/>
              </a:ext>
            </a:extLst>
          </p:cNvPr>
          <p:cNvSpPr txBox="1"/>
          <p:nvPr/>
        </p:nvSpPr>
        <p:spPr>
          <a:xfrm>
            <a:off x="2083633" y="404734"/>
            <a:ext cx="541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5: Data Visualization Utilizing Tableau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F19E13-709A-A073-4288-CFF2B43DD5FA}"/>
              </a:ext>
            </a:extLst>
          </p:cNvPr>
          <p:cNvSpPr txBox="1"/>
          <p:nvPr/>
        </p:nvSpPr>
        <p:spPr>
          <a:xfrm>
            <a:off x="1925357" y="1152209"/>
            <a:ext cx="68654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fully analyze the data and to dig as deep as possible to get the reasons behind journey disruptions, 4 different Tableau dashboards were created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Dashboard 1: </a:t>
            </a:r>
            <a:r>
              <a:rPr lang="en-US" dirty="0"/>
              <a:t>Overview of Journeys and Passengers</a:t>
            </a:r>
          </a:p>
          <a:p>
            <a:endParaRPr lang="en-US" dirty="0"/>
          </a:p>
          <a:p>
            <a:r>
              <a:rPr lang="en-US" b="1" dirty="0"/>
              <a:t>Dashboard 2: </a:t>
            </a:r>
            <a:r>
              <a:rPr lang="en-US" dirty="0"/>
              <a:t>Sales and Passengers Analysis</a:t>
            </a:r>
          </a:p>
          <a:p>
            <a:endParaRPr lang="en-US" dirty="0"/>
          </a:p>
          <a:p>
            <a:r>
              <a:rPr lang="en-US" b="1" dirty="0"/>
              <a:t>Dashboard 3: </a:t>
            </a:r>
            <a:r>
              <a:rPr lang="en-US" dirty="0"/>
              <a:t>Latency and Cancellations Analysis (Disruptions)</a:t>
            </a:r>
          </a:p>
          <a:p>
            <a:endParaRPr lang="en-US" dirty="0"/>
          </a:p>
          <a:p>
            <a:r>
              <a:rPr lang="en-US" b="1" dirty="0"/>
              <a:t>Dashboard 4: </a:t>
            </a:r>
            <a:r>
              <a:rPr lang="en-US" dirty="0"/>
              <a:t>Pricing and Discount Policy Analysis</a:t>
            </a:r>
          </a:p>
        </p:txBody>
      </p:sp>
    </p:spTree>
    <p:extLst>
      <p:ext uri="{BB962C8B-B14F-4D97-AF65-F5344CB8AC3E}">
        <p14:creationId xmlns:p14="http://schemas.microsoft.com/office/powerpoint/2010/main" val="36745989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7B08-C396-1371-134E-79AAF798D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C64657-E65B-ABC6-0570-32FC30003021}"/>
              </a:ext>
            </a:extLst>
          </p:cNvPr>
          <p:cNvGrpSpPr/>
          <p:nvPr/>
        </p:nvGrpSpPr>
        <p:grpSpPr>
          <a:xfrm>
            <a:off x="-2197" y="0"/>
            <a:ext cx="1664647" cy="5143500"/>
            <a:chOff x="7315196" y="0"/>
            <a:chExt cx="199649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FC254B-961A-4DB8-A836-0087BED6775D}"/>
                </a:ext>
              </a:extLst>
            </p:cNvPr>
            <p:cNvSpPr/>
            <p:nvPr/>
          </p:nvSpPr>
          <p:spPr>
            <a:xfrm>
              <a:off x="7315196" y="0"/>
              <a:ext cx="1828793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3466A6-7472-B2B8-3A6D-7397D1EC7A8C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6" name="Graphic 5" descr="Presentation with pie chart with solid fill">
              <a:extLst>
                <a:ext uri="{FF2B5EF4-FFF2-40B4-BE49-F238E27FC236}">
                  <a16:creationId xmlns:a16="http://schemas.microsoft.com/office/drawing/2014/main" id="{0D8C2ACC-C4B0-F0FF-1B5F-B4FDFC10F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4A54516D-07B7-B3EA-7C0A-10D042D4A881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12E87C25-87BD-EF33-3DAF-E9E3D675DF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20B3E091-CD3A-7466-5CDA-43D7D343E48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ADDAB4-C736-F477-CC63-502D93E150A7}"/>
              </a:ext>
            </a:extLst>
          </p:cNvPr>
          <p:cNvSpPr txBox="1"/>
          <p:nvPr/>
        </p:nvSpPr>
        <p:spPr>
          <a:xfrm>
            <a:off x="2083633" y="404734"/>
            <a:ext cx="541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5: Data Visualization Utilizing Tableau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730C4-73E7-129A-D12E-D5697AB9965C}"/>
              </a:ext>
            </a:extLst>
          </p:cNvPr>
          <p:cNvSpPr txBox="1"/>
          <p:nvPr/>
        </p:nvSpPr>
        <p:spPr>
          <a:xfrm>
            <a:off x="1925357" y="897377"/>
            <a:ext cx="686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1: </a:t>
            </a:r>
            <a:r>
              <a:rPr lang="en-US" dirty="0"/>
              <a:t>Overview of Journeys and Passengers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0C98FF-6BC0-6F5C-1977-AE87BE1ADD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729" y="1205154"/>
            <a:ext cx="5943600" cy="35391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309E75-A8BF-C0CF-1DAE-C1F4DB1DF26C}"/>
              </a:ext>
            </a:extLst>
          </p:cNvPr>
          <p:cNvSpPr txBox="1"/>
          <p:nvPr/>
        </p:nvSpPr>
        <p:spPr>
          <a:xfrm>
            <a:off x="1817729" y="4805690"/>
            <a:ext cx="76260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hlinkClick r:id="rId7"/>
              </a:rPr>
              <a:t>Link to Dashboard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0341952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5B9B-9F19-F7B0-CD5A-0B0567BF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A313050-EC19-0090-E9EE-DFB14CF21359}"/>
              </a:ext>
            </a:extLst>
          </p:cNvPr>
          <p:cNvGrpSpPr/>
          <p:nvPr/>
        </p:nvGrpSpPr>
        <p:grpSpPr>
          <a:xfrm>
            <a:off x="-2197" y="0"/>
            <a:ext cx="1664647" cy="5143500"/>
            <a:chOff x="7315196" y="0"/>
            <a:chExt cx="199649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F3FE60-3977-19A2-7364-897546BA2CD0}"/>
                </a:ext>
              </a:extLst>
            </p:cNvPr>
            <p:cNvSpPr/>
            <p:nvPr/>
          </p:nvSpPr>
          <p:spPr>
            <a:xfrm>
              <a:off x="7315196" y="0"/>
              <a:ext cx="1828793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BE605CD-3223-6B38-9528-0F1C053B841A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6" name="Graphic 5" descr="Presentation with pie chart with solid fill">
              <a:extLst>
                <a:ext uri="{FF2B5EF4-FFF2-40B4-BE49-F238E27FC236}">
                  <a16:creationId xmlns:a16="http://schemas.microsoft.com/office/drawing/2014/main" id="{D8791EED-0B11-F99B-6121-11B488020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B5E72C1-D728-CAED-5CD1-874417DC46B5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9210FD2E-5E30-B3D4-6BEF-5ED922D9356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3F630A34-89A5-C33A-FA2B-B4F30FFAC0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8050DB-685E-566E-AF2E-D0CE66B09E5E}"/>
              </a:ext>
            </a:extLst>
          </p:cNvPr>
          <p:cNvSpPr txBox="1"/>
          <p:nvPr/>
        </p:nvSpPr>
        <p:spPr>
          <a:xfrm>
            <a:off x="2083633" y="404734"/>
            <a:ext cx="541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5: Data Visualization Utilizing Tableau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922E77-32C0-C337-9F62-A8C12A032513}"/>
              </a:ext>
            </a:extLst>
          </p:cNvPr>
          <p:cNvSpPr txBox="1"/>
          <p:nvPr/>
        </p:nvSpPr>
        <p:spPr>
          <a:xfrm>
            <a:off x="1925357" y="897377"/>
            <a:ext cx="686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2: </a:t>
            </a:r>
            <a:r>
              <a:rPr lang="en-US" dirty="0"/>
              <a:t>Sales and Passengers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F0A068-BCC1-68D0-C7EF-1A30083510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729" y="1255368"/>
            <a:ext cx="5943600" cy="35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543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D8915-0861-DC31-1032-94E1AEF7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A2062B-BFFF-17CA-D657-5D1713280063}"/>
              </a:ext>
            </a:extLst>
          </p:cNvPr>
          <p:cNvGrpSpPr/>
          <p:nvPr/>
        </p:nvGrpSpPr>
        <p:grpSpPr>
          <a:xfrm>
            <a:off x="-2197" y="0"/>
            <a:ext cx="1664647" cy="5143500"/>
            <a:chOff x="7315196" y="0"/>
            <a:chExt cx="199649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9FD66C-CF37-08A3-90D0-8F754EB3FD1A}"/>
                </a:ext>
              </a:extLst>
            </p:cNvPr>
            <p:cNvSpPr/>
            <p:nvPr/>
          </p:nvSpPr>
          <p:spPr>
            <a:xfrm>
              <a:off x="7315196" y="0"/>
              <a:ext cx="1828793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9062A5-F9A5-DA47-9AD2-FE029BEE9920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6" name="Graphic 5" descr="Presentation with pie chart with solid fill">
              <a:extLst>
                <a:ext uri="{FF2B5EF4-FFF2-40B4-BE49-F238E27FC236}">
                  <a16:creationId xmlns:a16="http://schemas.microsoft.com/office/drawing/2014/main" id="{5F1D77EA-AF88-31A0-1DB2-E33FB67D0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5787270-411C-EC39-C2AB-85F7FCDCDF94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5E3DA231-3BF1-D6B1-FD45-6B875A44D3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0B4585AC-D2E6-341D-7E77-C134FB328E0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31E92F-7452-3FA8-E5E7-22C8BB809744}"/>
              </a:ext>
            </a:extLst>
          </p:cNvPr>
          <p:cNvSpPr txBox="1"/>
          <p:nvPr/>
        </p:nvSpPr>
        <p:spPr>
          <a:xfrm>
            <a:off x="2083633" y="404734"/>
            <a:ext cx="541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5: Data Visualization Utilizing Tableau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138364-EC48-532C-CB29-EEE179AA6398}"/>
              </a:ext>
            </a:extLst>
          </p:cNvPr>
          <p:cNvSpPr txBox="1"/>
          <p:nvPr/>
        </p:nvSpPr>
        <p:spPr>
          <a:xfrm>
            <a:off x="1925357" y="897377"/>
            <a:ext cx="686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3: </a:t>
            </a:r>
            <a:r>
              <a:rPr lang="en-US" dirty="0"/>
              <a:t>Latency and Cancellations Analysis (Disruptions)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F8963F-0CAA-4C68-ECAD-ABB2CBF05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729" y="1265216"/>
            <a:ext cx="5943600" cy="35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4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09508-B90B-17E8-F500-9D6F4B69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8547F9-59AF-8545-59CE-A9F56E368F79}"/>
              </a:ext>
            </a:extLst>
          </p:cNvPr>
          <p:cNvGrpSpPr/>
          <p:nvPr/>
        </p:nvGrpSpPr>
        <p:grpSpPr>
          <a:xfrm>
            <a:off x="-2197" y="0"/>
            <a:ext cx="1664647" cy="5143500"/>
            <a:chOff x="7315196" y="0"/>
            <a:chExt cx="1996491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B39C05-F11C-48FE-783C-BA4BDC69449A}"/>
                </a:ext>
              </a:extLst>
            </p:cNvPr>
            <p:cNvSpPr/>
            <p:nvPr/>
          </p:nvSpPr>
          <p:spPr>
            <a:xfrm>
              <a:off x="7315196" y="0"/>
              <a:ext cx="1828793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F0FEA8-0271-25E0-D991-E73BEBBC4D1C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6" name="Graphic 5" descr="Presentation with pie chart with solid fill">
              <a:extLst>
                <a:ext uri="{FF2B5EF4-FFF2-40B4-BE49-F238E27FC236}">
                  <a16:creationId xmlns:a16="http://schemas.microsoft.com/office/drawing/2014/main" id="{E2A81BAD-2968-FA31-2206-CD30757BE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6CAC193E-19AE-2051-82BF-A13973D8B328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9FEBA6B1-2FE9-AF5C-DD68-9CB764A46C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7F4900AD-4CFA-6188-1F58-B436C9E80D8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6CC789-75D5-580D-BE98-2A1A329064C3}"/>
              </a:ext>
            </a:extLst>
          </p:cNvPr>
          <p:cNvSpPr txBox="1"/>
          <p:nvPr/>
        </p:nvSpPr>
        <p:spPr>
          <a:xfrm>
            <a:off x="2083633" y="404734"/>
            <a:ext cx="541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5: Data Visualization Utilizing Tableau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4B1EC5-05B7-8A5D-ADB3-FC4894614A8A}"/>
              </a:ext>
            </a:extLst>
          </p:cNvPr>
          <p:cNvSpPr txBox="1"/>
          <p:nvPr/>
        </p:nvSpPr>
        <p:spPr>
          <a:xfrm>
            <a:off x="1925357" y="897377"/>
            <a:ext cx="686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Dashboard 4: </a:t>
            </a:r>
            <a:r>
              <a:rPr lang="en-US" dirty="0"/>
              <a:t>Pricing and Discount Policy Analysis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A2EB770-92FD-5986-37C2-AAB9832D2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7729" y="1263620"/>
            <a:ext cx="5943600" cy="355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026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86FB-1D1A-EE27-66AD-D4541C30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2E0EDA3-C947-0626-E51E-B1DBAFB6D3C8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5792E73-51C1-A906-5B6A-E0B7CC1E209A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DC8DC6E-E9A6-B68C-F58E-1E1578667417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A8D9F7DF-66BD-B93C-65AF-D37A18F20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8619297D-E181-8BFC-AA1A-2D96BD9DBBFD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7310B4-5C97-1598-0262-434417661835}"/>
              </a:ext>
            </a:extLst>
          </p:cNvPr>
          <p:cNvGrpSpPr/>
          <p:nvPr/>
        </p:nvGrpSpPr>
        <p:grpSpPr>
          <a:xfrm>
            <a:off x="4602095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8B75851-4E23-48F6-4BE9-449B3CD3BF6D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F789D4-0D6C-1007-793F-E34A647389EF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055094E1-8911-DBAF-9B98-59084438F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FBFC894A-EBC8-D88C-2A92-2927DD1B19B7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851D446-E833-0628-59BC-C7ED0FCDDF8F}"/>
              </a:ext>
            </a:extLst>
          </p:cNvPr>
          <p:cNvGrpSpPr/>
          <p:nvPr/>
        </p:nvGrpSpPr>
        <p:grpSpPr>
          <a:xfrm>
            <a:off x="6109301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41CD0C-28FD-9F77-316E-B3C12CA5972B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A086DF-7403-0C04-8FF0-26EB833B2D52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D382914D-96DE-1765-6EAA-1173EFA36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CD44D67C-D634-E059-8DBC-AB7077BA696E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572D84-2A2A-0C7D-36C7-94B55F963C1B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F98158-C1B2-DCF8-B512-9C6C20A8DF7B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E62832-5E43-32FC-760E-3C1BDE21CCB7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5877A073-DB2A-DDF7-A916-A360C2E48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3507037-536E-E047-D2D0-D1963B0CF010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115C23-5D09-A353-ACD9-694068FC5F9D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D2C822-6080-7182-53DF-61E470C244A3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BF5F5C-1D6B-0189-E7D8-0D578B74DC9E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556F6133-2405-5415-68DA-CFDA3D1BE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A3060CDC-F1C9-0418-FC5D-0033E715B037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852913C-EAD9-B59B-8E9C-5869DB55B55B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2D7FD4-94DC-972C-C318-4E017DAE1DDF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5D62D-3DEB-D071-B9EF-547EF5B64C32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CDC33D67-69FB-7806-839C-633E56CDD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11326B12-B706-45C7-7A51-62A5984301C7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27454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 L -0.66823 0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2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0519A-0947-1630-46C0-696148D6EFA1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FBC86AF-3C11-DF18-2E26-609E227CA5C0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05CDE5-AE23-8666-A3CF-41C6A987228B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E3290D64-8875-C73C-15EB-76223A3C6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FDE4D7E4-CC7E-9B82-F7A7-F7E219F32402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53E08C44-325C-D22A-A8AD-3D9BB20AA6A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4835C629-DF0C-3201-8566-6F495AE01C1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258A4D-8935-5A26-0ACE-5109F6D517E0}"/>
              </a:ext>
            </a:extLst>
          </p:cNvPr>
          <p:cNvSpPr txBox="1"/>
          <p:nvPr/>
        </p:nvSpPr>
        <p:spPr>
          <a:xfrm>
            <a:off x="3604035" y="319579"/>
            <a:ext cx="2905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</a:rPr>
              <a:t>Rationale of the Prediction Analysis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E6C4F66-736D-01D6-CC3E-A24C772F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3" name="Picture 1">
            <a:extLst>
              <a:ext uri="{FF2B5EF4-FFF2-40B4-BE49-F238E27FC236}">
                <a16:creationId xmlns:a16="http://schemas.microsoft.com/office/drawing/2014/main" id="{FEC106B7-E1B8-F918-1200-44772F310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706" y="896608"/>
            <a:ext cx="5943600" cy="1485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9E1B10-42BC-EE4E-9031-3FA60569E46F}"/>
              </a:ext>
            </a:extLst>
          </p:cNvPr>
          <p:cNvSpPr txBox="1"/>
          <p:nvPr/>
        </p:nvSpPr>
        <p:spPr>
          <a:xfrm>
            <a:off x="2040706" y="546099"/>
            <a:ext cx="30160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Impact of discounts on revenue</a:t>
            </a:r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533D7B-B0F3-B406-CDA5-83072A3692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443" y="2524236"/>
            <a:ext cx="3352165" cy="2552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ED0F862-B133-87F6-E8E9-7672A7CB0BEB}"/>
              </a:ext>
            </a:extLst>
          </p:cNvPr>
          <p:cNvSpPr txBox="1"/>
          <p:nvPr/>
        </p:nvSpPr>
        <p:spPr>
          <a:xfrm>
            <a:off x="1680783" y="2699254"/>
            <a:ext cx="4111052" cy="2435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508000" indent="-6350">
              <a:lnSpc>
                <a:spcPct val="107000"/>
              </a:lnSpc>
              <a:buNone/>
            </a:pPr>
            <a:r>
              <a:rPr lang="en-US" sz="1100" i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Findings from Discount Impact Analysis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508000" lvl="0" indent="-342900" algn="just">
              <a:lnSpc>
                <a:spcPct val="107000"/>
              </a:lnSpc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Maximum Revenue Loss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occurs with Advance tickets: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 card holders account for £239,833 revenue loss (50% of potential)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users show 66.7% revenue loss due to combined discounts</a:t>
            </a:r>
          </a:p>
          <a:p>
            <a:pPr marL="342900" marR="508000" lvl="0" indent="-342900" algn="just">
              <a:lnSpc>
                <a:spcPct val="107000"/>
              </a:lnSpc>
              <a:buNone/>
              <a:tabLst>
                <a:tab pos="97155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Off-Peak Tickets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show predictable losses: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Consistent 25% loss for non-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users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50% loss when combined with 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discounts</a:t>
            </a:r>
          </a:p>
          <a:p>
            <a:pPr marL="342900" marR="508000" lvl="0" indent="-342900" algn="just">
              <a:lnSpc>
                <a:spcPct val="107000"/>
              </a:lnSpc>
              <a:buNone/>
              <a:tabLst>
                <a:tab pos="97155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Anytime Tickets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demonstrate: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33.3% loss for 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holders</a:t>
            </a:r>
          </a:p>
          <a:p>
            <a:pPr marL="285750" marR="508000" lvl="1" indent="-285750" algn="just">
              <a:lnSpc>
                <a:spcPct val="107000"/>
              </a:lnSpc>
              <a:buSzPts val="1000"/>
              <a:buFont typeface="Courier New" panose="02070309020205020404" pitchFamily="49" charset="0"/>
              <a:buChar char="o"/>
              <a:tabLst>
                <a:tab pos="914400" algn="l"/>
                <a:tab pos="97155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No loss for non-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users (as expected)</a:t>
            </a:r>
          </a:p>
          <a:p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6894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5EE8-0394-D390-F552-083B1360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285E9E4-5A20-63E4-A827-D097DF119CA1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0D58E74-063A-AA7B-BCE6-A7A7EBBE7BB5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D263A8-67EE-5B6A-F7F8-FD87C5EECC87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0ADD41AD-8D9D-F15B-0ECE-0DD131B08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012350BB-63EE-7125-E323-770B5281FF7D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6ECBC66C-8224-9684-C37E-F1868B76666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CC15FBA0-8391-4F11-B701-3954772C296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D089C8-E364-1003-9C72-0B0EBC989697}"/>
              </a:ext>
            </a:extLst>
          </p:cNvPr>
          <p:cNvSpPr txBox="1"/>
          <p:nvPr/>
        </p:nvSpPr>
        <p:spPr>
          <a:xfrm>
            <a:off x="3893574" y="641945"/>
            <a:ext cx="29054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</a:rPr>
              <a:t>Rationale of the Prediction Analysis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36ACCD0-D27E-77E5-3290-E1A11B6F2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4C6DD9-7888-0BC9-6051-238EB7A143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02"/>
          <a:stretch/>
        </p:blipFill>
        <p:spPr>
          <a:xfrm>
            <a:off x="1583297" y="999092"/>
            <a:ext cx="3412449" cy="40570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 descr="A close-up of a graph&#10;&#10;AI-generated content may be incorrect.">
            <a:extLst>
              <a:ext uri="{FF2B5EF4-FFF2-40B4-BE49-F238E27FC236}">
                <a16:creationId xmlns:a16="http://schemas.microsoft.com/office/drawing/2014/main" id="{63BDB488-9025-F9ED-4C76-EDFE7DAA1D7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251"/>
          <a:stretch/>
        </p:blipFill>
        <p:spPr>
          <a:xfrm>
            <a:off x="5545873" y="3045444"/>
            <a:ext cx="2549912" cy="20106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 descr="A close-up of a graph&#10;&#10;AI-generated content may be incorrect.">
            <a:extLst>
              <a:ext uri="{FF2B5EF4-FFF2-40B4-BE49-F238E27FC236}">
                <a16:creationId xmlns:a16="http://schemas.microsoft.com/office/drawing/2014/main" id="{1A7F1F1B-147B-9612-7EB8-D6D015B9DDB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8874"/>
          <a:stretch/>
        </p:blipFill>
        <p:spPr>
          <a:xfrm>
            <a:off x="5545873" y="1015891"/>
            <a:ext cx="2549912" cy="19172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79036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B05B-F11D-1FAB-A3EE-52011498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B2C4E5-8077-6E21-9700-8C6071CBAE0C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7FAC710-801A-BD74-DB73-1349B8C65303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D5E3F8-D5DA-B8D6-07D7-4C8786A360DC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87C50E4C-FE13-F880-93A8-7EC2DAE9A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BE3E4051-16CC-0879-B6C1-D59FF99803AA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1829EC19-BAB0-4D97-5CD1-81270195CD4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ABBFFCA9-D866-7BB5-38F9-F9BDE62A507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0E3122-0CFA-3DB4-315A-396E1FEFE7D4}"/>
              </a:ext>
            </a:extLst>
          </p:cNvPr>
          <p:cNvSpPr txBox="1"/>
          <p:nvPr/>
        </p:nvSpPr>
        <p:spPr>
          <a:xfrm>
            <a:off x="3893574" y="641945"/>
            <a:ext cx="1934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</a:rPr>
              <a:t>Price Elasticity Analysis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741759C-0CDD-AB3C-B3ED-BA0BC0DB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E929D4-58BA-E497-1097-327B335996B8}"/>
              </a:ext>
            </a:extLst>
          </p:cNvPr>
          <p:cNvSpPr txBox="1"/>
          <p:nvPr/>
        </p:nvSpPr>
        <p:spPr>
          <a:xfrm>
            <a:off x="1600889" y="1088300"/>
            <a:ext cx="74092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We tested two approaches to estimate </a:t>
            </a:r>
            <a:r>
              <a:rPr lang="en-US" sz="1100" b="1" dirty="0"/>
              <a:t>price elasticity of demand</a:t>
            </a:r>
            <a:r>
              <a:rPr lang="en-US" sz="1100" dirty="0"/>
              <a:t>: a simple OLS model using percentage changes, and a </a:t>
            </a:r>
            <a:r>
              <a:rPr lang="en-US" sz="1100" b="1" dirty="0"/>
              <a:t>GLM with a Gamma distribution and log link</a:t>
            </a:r>
            <a:r>
              <a:rPr lang="en-US" sz="1100" dirty="0"/>
              <a:t>, which is more appropriate for positive, skewed data like volume. While both models yielded </a:t>
            </a:r>
            <a:r>
              <a:rPr lang="en-US" sz="1100" b="1" dirty="0"/>
              <a:t>non-significant results</a:t>
            </a:r>
            <a:r>
              <a:rPr lang="en-US" sz="1100" dirty="0"/>
              <a:t>, the GLM is </a:t>
            </a:r>
            <a:r>
              <a:rPr lang="en-US" sz="1100" b="1" dirty="0"/>
              <a:t>statistically more robust</a:t>
            </a:r>
            <a:r>
              <a:rPr lang="en-US" sz="1100" dirty="0"/>
              <a:t> and interpretable for elasticity in this context. We estimate elasticity to be approximately </a:t>
            </a:r>
            <a:r>
              <a:rPr lang="en-US" sz="1100" b="1" dirty="0"/>
              <a:t>-0.39 (OLS)</a:t>
            </a:r>
            <a:r>
              <a:rPr lang="en-US" sz="1100" dirty="0"/>
              <a:t>, which represents the worst-case scenario rather than </a:t>
            </a:r>
            <a:r>
              <a:rPr lang="en-US" sz="1100" b="1" dirty="0"/>
              <a:t>GLM</a:t>
            </a:r>
            <a:r>
              <a:rPr lang="en-US" sz="1100" dirty="0"/>
              <a:t> which gives the best estimate (</a:t>
            </a:r>
            <a:r>
              <a:rPr lang="en-US" sz="1100" b="1" dirty="0"/>
              <a:t>-0.038).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9FA32F-8BB9-717C-C984-9E5A4BD16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3" y="1970568"/>
            <a:ext cx="5422039" cy="3114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23665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ECAE-533F-24BA-4519-895C6DDE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EAF82D9-87A6-9469-978E-C32133B498E7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49297F9-F03C-D0A3-FAE5-2E3D9843044F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B8E117-3238-CB2A-ED28-4FBD2CAF2C67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3525CF7F-7258-9531-56E2-6D2BF24D0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C37FA6C2-6FC6-CBA3-C259-999D60A0A391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FD4907F4-9293-1F59-223E-F29B70921B3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2C01BCB2-8590-F175-05C5-CF82C77263D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B431C1-5696-CB9D-2B64-37FFE970CE5B}"/>
              </a:ext>
            </a:extLst>
          </p:cNvPr>
          <p:cNvSpPr txBox="1"/>
          <p:nvPr/>
        </p:nvSpPr>
        <p:spPr>
          <a:xfrm>
            <a:off x="3893574" y="641945"/>
            <a:ext cx="1934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dk1"/>
                </a:solidFill>
              </a:rPr>
              <a:t>Price Elasticity Analysis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A4496B6-B29D-89CB-27EC-7CF737C3C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8BE9EE-CFE4-B6DC-5318-81FA5C73444D}"/>
              </a:ext>
            </a:extLst>
          </p:cNvPr>
          <p:cNvSpPr txBox="1"/>
          <p:nvPr/>
        </p:nvSpPr>
        <p:spPr>
          <a:xfrm>
            <a:off x="1600889" y="1088300"/>
            <a:ext cx="507497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b="1" dirty="0"/>
              <a:t>📘 What is Price Elasticity of Demand?</a:t>
            </a:r>
          </a:p>
          <a:p>
            <a:r>
              <a:rPr lang="en-US" sz="1100" dirty="0"/>
              <a:t>Price elasticity of demand measures </a:t>
            </a:r>
            <a:r>
              <a:rPr lang="en-US" sz="1100" b="1" dirty="0"/>
              <a:t>how sensitive customer demand is to changes in price</a:t>
            </a:r>
            <a:r>
              <a:rPr lang="en-US" sz="1100" dirty="0"/>
              <a:t>.</a:t>
            </a:r>
          </a:p>
          <a:p>
            <a:endParaRPr lang="en-US" sz="1100" dirty="0"/>
          </a:p>
          <a:p>
            <a:pPr>
              <a:buNone/>
            </a:pPr>
            <a:r>
              <a:rPr lang="en-US" sz="1100" b="1" dirty="0"/>
              <a:t>💡 How to Interpret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Elasticity = -0.39</a:t>
            </a:r>
            <a:r>
              <a:rPr lang="en-US" sz="1100" dirty="0"/>
              <a:t> (as in our OLS model)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 dirty="0"/>
              <a:t>For every </a:t>
            </a:r>
            <a:r>
              <a:rPr lang="en-US" sz="1100" b="1" dirty="0"/>
              <a:t>1% increase in price</a:t>
            </a:r>
            <a:r>
              <a:rPr lang="en-US" sz="1100" dirty="0"/>
              <a:t>, </a:t>
            </a:r>
            <a:r>
              <a:rPr lang="en-US" sz="1100" b="1" dirty="0"/>
              <a:t>ticket sales may drop by 0.39%</a:t>
            </a:r>
            <a:r>
              <a:rPr lang="en-US" sz="11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 dirty="0"/>
              <a:t>Elasticity = -0.038</a:t>
            </a:r>
            <a:r>
              <a:rPr lang="en-US" sz="1100" dirty="0"/>
              <a:t> (from the GLM model) suggests </a:t>
            </a:r>
            <a:r>
              <a:rPr lang="en-US" sz="1100" b="1" dirty="0"/>
              <a:t>much weaker sensitivity</a:t>
            </a:r>
            <a:r>
              <a:rPr lang="en-US" sz="1100" dirty="0"/>
              <a:t>.</a:t>
            </a:r>
          </a:p>
          <a:p>
            <a:endParaRPr lang="en-US" sz="1400" dirty="0"/>
          </a:p>
        </p:txBody>
      </p:sp>
      <p:pic>
        <p:nvPicPr>
          <p:cNvPr id="10242" name="Picture 2" descr="Price Elasticity of Demand: Meaning, Types, and Factors That Impact It">
            <a:extLst>
              <a:ext uri="{FF2B5EF4-FFF2-40B4-BE49-F238E27FC236}">
                <a16:creationId xmlns:a16="http://schemas.microsoft.com/office/drawing/2014/main" id="{3DD6F61A-2E70-3628-2A2D-473870211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81"/>
          <a:stretch/>
        </p:blipFill>
        <p:spPr bwMode="auto">
          <a:xfrm>
            <a:off x="2619925" y="2528369"/>
            <a:ext cx="4482093" cy="261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3683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C174E-9009-9389-7C63-0B72E29E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A7CD6BF-E827-77E3-E89E-1EC50EB2407D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90CB59D-059E-85BF-9AFF-AD2D4EE3C0B4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7A8E96-DFD6-BE00-057F-C3BD14AE8733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130845E2-6E52-40C1-69A8-8031B1650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C5D17975-5896-9575-C566-0B4687307E2F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E991EA52-E40C-12D8-B6E8-B098FCA30C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E68D6C42-517A-24D2-822D-6FE62C3993A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AAD7DD-2789-41A4-FD46-16CBF5DE978D}"/>
              </a:ext>
            </a:extLst>
          </p:cNvPr>
          <p:cNvSpPr txBox="1"/>
          <p:nvPr/>
        </p:nvSpPr>
        <p:spPr>
          <a:xfrm>
            <a:off x="1744792" y="334650"/>
            <a:ext cx="55406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effectLst/>
                <a:latin typeface="+mj-lt"/>
                <a:ea typeface="Arial" panose="020B0604020202020204" pitchFamily="34" charset="0"/>
              </a:rPr>
              <a:t>Predictions Based of Alteration of Discount Percentage of Advance tickets</a:t>
            </a:r>
            <a:endParaRPr lang="en-US" sz="13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002BFE6-51A7-0534-0B39-0F9A77B20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4C511C-65DB-C4DA-7D41-997CE778D7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810" y="2407261"/>
            <a:ext cx="5044190" cy="2697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A08BD0-2E1F-EF3D-9158-F5987849A885}"/>
              </a:ext>
            </a:extLst>
          </p:cNvPr>
          <p:cNvSpPr txBox="1"/>
          <p:nvPr/>
        </p:nvSpPr>
        <p:spPr>
          <a:xfrm>
            <a:off x="1600888" y="899280"/>
            <a:ext cx="7415695" cy="1562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>
              <a:lnSpc>
                <a:spcPct val="107000"/>
              </a:lnSpc>
              <a:spcAft>
                <a:spcPts val="25"/>
              </a:spcAft>
              <a:buNone/>
            </a:pP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This script forecasts the revenue impact of changing discount policies for Advance tickets using price elasticity of demand. It follows 4 key steps: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Current Baseline</a:t>
            </a:r>
            <a:endParaRPr lang="en-US" sz="10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-285750" algn="just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Calculates existing Advance ticket revenue (£309,274)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Scenario Setup</a:t>
            </a:r>
            <a:endParaRPr lang="en-US" sz="10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04813" marR="508000" lvl="1" indent="-285750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Proposes reducing discounts from 50% → 40% (equivalent to 20% price increase)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Demand Response</a:t>
            </a:r>
            <a:endParaRPr lang="en-US" sz="10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04813" marR="0" lvl="1" indent="-285750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Applies elasticity (-0.39) to estimate volume change:</a:t>
            </a:r>
            <a:b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7.8% drop = 20% price increase × -0.39 elasticity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96D67E-A77D-803B-F797-0BD437841518}"/>
              </a:ext>
            </a:extLst>
          </p:cNvPr>
          <p:cNvSpPr txBox="1"/>
          <p:nvPr/>
        </p:nvSpPr>
        <p:spPr>
          <a:xfrm>
            <a:off x="1605898" y="2436840"/>
            <a:ext cx="2620911" cy="903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 startAt="4"/>
              <a:tabLst>
                <a:tab pos="457200" algn="l"/>
              </a:tabLst>
            </a:pPr>
            <a:r>
              <a:rPr lang="en-US" sz="1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Revenue Projection</a:t>
            </a:r>
            <a:endParaRPr lang="en-US" sz="10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04813" marR="0" lvl="1" indent="-285750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New revenue = Price effect × Volume effect</a:t>
            </a:r>
            <a:b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£342,181 = £309,274 × 1.20 (price) × 0.922 (volume)</a:t>
            </a:r>
          </a:p>
        </p:txBody>
      </p:sp>
    </p:spTree>
    <p:extLst>
      <p:ext uri="{BB962C8B-B14F-4D97-AF65-F5344CB8AC3E}">
        <p14:creationId xmlns:p14="http://schemas.microsoft.com/office/powerpoint/2010/main" val="34293460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818C8-4D97-AF01-A16C-AF29D7B3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08D6729-929B-3A0C-D06F-3254B696B6E0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5486400" y="0"/>
            <a:chExt cx="2000867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0912D2-B7A4-F52E-859A-53D402E3547C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FAF756-3409-FE82-9DDF-8B087E7628FD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6" name="Graphic 5" descr="Downward trend graph with solid fill">
              <a:extLst>
                <a:ext uri="{FF2B5EF4-FFF2-40B4-BE49-F238E27FC236}">
                  <a16:creationId xmlns:a16="http://schemas.microsoft.com/office/drawing/2014/main" id="{BA7C90FD-AB5D-A78E-6DF2-21C3FFFA9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A651CB4C-7BA2-AF99-4370-96DC098A978E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Google Shape;180;p22" title="proAr.png">
            <a:extLst>
              <a:ext uri="{FF2B5EF4-FFF2-40B4-BE49-F238E27FC236}">
                <a16:creationId xmlns:a16="http://schemas.microsoft.com/office/drawing/2014/main" id="{E194990A-E943-3494-C382-4CA12633C5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30;p66" title="MCAR.png">
            <a:extLst>
              <a:ext uri="{FF2B5EF4-FFF2-40B4-BE49-F238E27FC236}">
                <a16:creationId xmlns:a16="http://schemas.microsoft.com/office/drawing/2014/main" id="{F8B82D50-8C0D-FEDA-0478-D29BC935CDA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376486-B9C7-04E1-3BA2-1C6285F90192}"/>
              </a:ext>
            </a:extLst>
          </p:cNvPr>
          <p:cNvSpPr txBox="1"/>
          <p:nvPr/>
        </p:nvSpPr>
        <p:spPr>
          <a:xfrm>
            <a:off x="1744792" y="334650"/>
            <a:ext cx="554067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rgbClr val="000000"/>
                </a:solidFill>
                <a:effectLst/>
                <a:latin typeface="+mj-lt"/>
                <a:ea typeface="Arial" panose="020B0604020202020204" pitchFamily="34" charset="0"/>
              </a:rPr>
              <a:t>Predictions Based of Alteration of Discount Percentage of Advance tickets</a:t>
            </a:r>
            <a:endParaRPr lang="en-US" sz="1300" b="1"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2A1B24C-DCEE-A82F-B229-90ED538BD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5CEBAA-BE79-BCED-C4EB-A4E41DDA7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0" y="2247213"/>
            <a:ext cx="5044190" cy="2697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838548-0513-98AC-7571-EA32AB71BA8B}"/>
              </a:ext>
            </a:extLst>
          </p:cNvPr>
          <p:cNvSpPr txBox="1"/>
          <p:nvPr/>
        </p:nvSpPr>
        <p:spPr>
          <a:xfrm>
            <a:off x="1600888" y="899280"/>
            <a:ext cx="7415695" cy="1347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>
              <a:lnSpc>
                <a:spcPct val="107000"/>
              </a:lnSpc>
              <a:spcAft>
                <a:spcPts val="25"/>
              </a:spcAft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Key Outcomes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Revenue Increase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+£32,907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 (10.6% uplift) despite lower volume</a:t>
            </a:r>
          </a:p>
          <a:p>
            <a:pPr marL="742950" marR="0" lvl="1" indent="-285750" algn="just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Confirms Advance tickets are price inelastic (|ε| &lt; 1)</a:t>
            </a:r>
          </a:p>
          <a:p>
            <a:pPr marL="342900" marR="0" lvl="0" indent="-342900" algn="just">
              <a:lnSpc>
                <a:spcPct val="107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Tradeoffs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Gains come at the cost of </a:t>
            </a: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7.8% fewer customers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07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Potential long-term customer retention risks</a:t>
            </a:r>
          </a:p>
        </p:txBody>
      </p:sp>
    </p:spTree>
    <p:extLst>
      <p:ext uri="{BB962C8B-B14F-4D97-AF65-F5344CB8AC3E}">
        <p14:creationId xmlns:p14="http://schemas.microsoft.com/office/powerpoint/2010/main" val="12487683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EA87E-4A55-27A0-9A41-B169C14E6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C6B63C2E-0018-032A-36AF-2CAAAB195EA5}"/>
              </a:ext>
            </a:extLst>
          </p:cNvPr>
          <p:cNvGrpSpPr/>
          <p:nvPr/>
        </p:nvGrpSpPr>
        <p:grpSpPr>
          <a:xfrm>
            <a:off x="7641364" y="0"/>
            <a:ext cx="1673352" cy="5143500"/>
            <a:chOff x="9150140" y="0"/>
            <a:chExt cx="1986256" cy="51435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9CA80BC-85B9-C089-ACB1-96707862AB3F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8E845A6-83A2-4607-1C08-9678FE667746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41" name="Graphic 40" descr="Puzzle pieces with solid fill">
              <a:extLst>
                <a:ext uri="{FF2B5EF4-FFF2-40B4-BE49-F238E27FC236}">
                  <a16:creationId xmlns:a16="http://schemas.microsoft.com/office/drawing/2014/main" id="{49E60B61-169D-64FB-6DD9-337DE3ACD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3F1C4A94-9482-3586-DC8F-66795D12309F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CC6CD85-5B4D-ADEF-804E-D2E0821E1BB8}"/>
              </a:ext>
            </a:extLst>
          </p:cNvPr>
          <p:cNvGrpSpPr/>
          <p:nvPr/>
        </p:nvGrpSpPr>
        <p:grpSpPr>
          <a:xfrm>
            <a:off x="6121294" y="0"/>
            <a:ext cx="1673352" cy="5143500"/>
            <a:chOff x="5486400" y="0"/>
            <a:chExt cx="2000867" cy="51435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79FCDD0-5C86-548F-8D24-E90C3FF87AB3}"/>
                </a:ext>
              </a:extLst>
            </p:cNvPr>
            <p:cNvSpPr/>
            <p:nvPr/>
          </p:nvSpPr>
          <p:spPr>
            <a:xfrm>
              <a:off x="5486400" y="0"/>
              <a:ext cx="1828800" cy="51435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Predictions of Customer Retention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2B2A76C-4ABC-F1FC-5788-B9FE29C22F5B}"/>
                </a:ext>
              </a:extLst>
            </p:cNvPr>
            <p:cNvSpPr txBox="1"/>
            <p:nvPr/>
          </p:nvSpPr>
          <p:spPr>
            <a:xfrm>
              <a:off x="5890751" y="452292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</a:p>
          </p:txBody>
        </p:sp>
        <p:pic>
          <p:nvPicPr>
            <p:cNvPr id="32" name="Graphic 31" descr="Downward trend graph with solid fill">
              <a:extLst>
                <a:ext uri="{FF2B5EF4-FFF2-40B4-BE49-F238E27FC236}">
                  <a16:creationId xmlns:a16="http://schemas.microsoft.com/office/drawing/2014/main" id="{32143084-D12D-1054-B15D-A260CC6FB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43600" y="3237257"/>
              <a:ext cx="914400" cy="914400"/>
            </a:xfrm>
            <a:prstGeom prst="rect">
              <a:avLst/>
            </a:prstGeom>
          </p:spPr>
        </p:pic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95E585C6-9592-3387-9AA7-8F86FBB61139}"/>
                </a:ext>
              </a:extLst>
            </p:cNvPr>
            <p:cNvSpPr/>
            <p:nvPr/>
          </p:nvSpPr>
          <p:spPr>
            <a:xfrm rot="5400000">
              <a:off x="7118557" y="324467"/>
              <a:ext cx="564128" cy="173293"/>
            </a:xfrm>
            <a:prstGeom prst="triangle">
              <a:avLst/>
            </a:prstGeom>
            <a:solidFill>
              <a:srgbClr val="C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56818B-B688-6B06-C73E-9C8A75C06822}"/>
              </a:ext>
            </a:extLst>
          </p:cNvPr>
          <p:cNvGrpSpPr/>
          <p:nvPr/>
        </p:nvGrpSpPr>
        <p:grpSpPr>
          <a:xfrm>
            <a:off x="4597300" y="0"/>
            <a:ext cx="1664643" cy="5143500"/>
            <a:chOff x="7315200" y="0"/>
            <a:chExt cx="1996487" cy="51435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11F4BE-9D46-D863-F57F-769FC2200DE2}"/>
                </a:ext>
              </a:extLst>
            </p:cNvPr>
            <p:cNvSpPr/>
            <p:nvPr/>
          </p:nvSpPr>
          <p:spPr>
            <a:xfrm>
              <a:off x="7315200" y="0"/>
              <a:ext cx="1828800" cy="5143500"/>
            </a:xfrm>
            <a:prstGeom prst="rect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Visualization Using Tableau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15760C-A94C-A22B-E4F6-682583B1F03C}"/>
                </a:ext>
              </a:extLst>
            </p:cNvPr>
            <p:cNvSpPr txBox="1"/>
            <p:nvPr/>
          </p:nvSpPr>
          <p:spPr>
            <a:xfrm>
              <a:off x="7798211" y="457205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</a:p>
          </p:txBody>
        </p:sp>
        <p:pic>
          <p:nvPicPr>
            <p:cNvPr id="35" name="Graphic 34" descr="Presentation with pie chart with solid fill">
              <a:extLst>
                <a:ext uri="{FF2B5EF4-FFF2-40B4-BE49-F238E27FC236}">
                  <a16:creationId xmlns:a16="http://schemas.microsoft.com/office/drawing/2014/main" id="{73DE0FDD-66C7-D22C-63AE-161AD5363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01284" y="3237257"/>
              <a:ext cx="914400" cy="914400"/>
            </a:xfrm>
            <a:prstGeom prst="rect">
              <a:avLst/>
            </a:prstGeom>
          </p:spPr>
        </p:pic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0B33DCAB-7CA2-5F0B-5868-39A275004D81}"/>
                </a:ext>
              </a:extLst>
            </p:cNvPr>
            <p:cNvSpPr/>
            <p:nvPr/>
          </p:nvSpPr>
          <p:spPr>
            <a:xfrm rot="5400000">
              <a:off x="8942977" y="349051"/>
              <a:ext cx="564128" cy="173293"/>
            </a:xfrm>
            <a:prstGeom prst="triangle">
              <a:avLst/>
            </a:prstGeom>
            <a:solidFill>
              <a:srgbClr val="F2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C2B8590-36C1-078C-9C3C-669B276D4665}"/>
              </a:ext>
            </a:extLst>
          </p:cNvPr>
          <p:cNvGrpSpPr/>
          <p:nvPr/>
        </p:nvGrpSpPr>
        <p:grpSpPr>
          <a:xfrm>
            <a:off x="3064587" y="0"/>
            <a:ext cx="1673352" cy="5143500"/>
            <a:chOff x="3657600" y="0"/>
            <a:chExt cx="1993501" cy="51435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54725F-38E8-4582-2E27-0B7C7F8D2C03}"/>
                </a:ext>
              </a:extLst>
            </p:cNvPr>
            <p:cNvSpPr/>
            <p:nvPr/>
          </p:nvSpPr>
          <p:spPr>
            <a:xfrm>
              <a:off x="3657600" y="0"/>
              <a:ext cx="1828800" cy="5143500"/>
            </a:xfrm>
            <a:prstGeom prst="rect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Exploratory Data Analysis and Analysis Questions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CC03E9-D281-8AFA-AC3E-F54BF844712D}"/>
                </a:ext>
              </a:extLst>
            </p:cNvPr>
            <p:cNvSpPr txBox="1"/>
            <p:nvPr/>
          </p:nvSpPr>
          <p:spPr>
            <a:xfrm>
              <a:off x="4079155" y="45474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</a:p>
          </p:txBody>
        </p:sp>
        <p:pic>
          <p:nvPicPr>
            <p:cNvPr id="27" name="Graphic 26" descr="Research with solid fill">
              <a:extLst>
                <a:ext uri="{FF2B5EF4-FFF2-40B4-BE49-F238E27FC236}">
                  <a16:creationId xmlns:a16="http://schemas.microsoft.com/office/drawing/2014/main" id="{3379E6C4-50E0-0D41-B4DF-48DEA202E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14800" y="3235427"/>
              <a:ext cx="914400" cy="914400"/>
            </a:xfrm>
            <a:prstGeom prst="rect">
              <a:avLst/>
            </a:prstGeom>
          </p:spPr>
        </p:pic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A5F5DFE0-F840-1271-CD00-49196FC5637A}"/>
                </a:ext>
              </a:extLst>
            </p:cNvPr>
            <p:cNvSpPr/>
            <p:nvPr/>
          </p:nvSpPr>
          <p:spPr>
            <a:xfrm rot="5400000">
              <a:off x="5282391" y="349051"/>
              <a:ext cx="564128" cy="173293"/>
            </a:xfrm>
            <a:prstGeom prst="triangle">
              <a:avLst/>
            </a:prstGeom>
            <a:solidFill>
              <a:srgbClr val="A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7F6F2B-F5AB-E762-7F60-277262EE9661}"/>
              </a:ext>
            </a:extLst>
          </p:cNvPr>
          <p:cNvGrpSpPr/>
          <p:nvPr/>
        </p:nvGrpSpPr>
        <p:grpSpPr>
          <a:xfrm>
            <a:off x="1532701" y="0"/>
            <a:ext cx="1673352" cy="5143500"/>
            <a:chOff x="1828799" y="0"/>
            <a:chExt cx="1988581" cy="5143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8E5119-F60A-AF05-BE73-84BCFBF222D2}"/>
                </a:ext>
              </a:extLst>
            </p:cNvPr>
            <p:cNvSpPr/>
            <p:nvPr/>
          </p:nvSpPr>
          <p:spPr>
            <a:xfrm>
              <a:off x="1828799" y="0"/>
              <a:ext cx="1828800" cy="5143500"/>
            </a:xfrm>
            <a:prstGeom prst="rect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Data Cleaning, Wrangling and Normalization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344193C-1E75-DFF8-8C4C-3C7F90678F08}"/>
                </a:ext>
              </a:extLst>
            </p:cNvPr>
            <p:cNvSpPr txBox="1"/>
            <p:nvPr/>
          </p:nvSpPr>
          <p:spPr>
            <a:xfrm>
              <a:off x="2311806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</a:p>
          </p:txBody>
        </p:sp>
        <p:pic>
          <p:nvPicPr>
            <p:cNvPr id="23" name="Graphic 22" descr="Tools with solid fill">
              <a:extLst>
                <a:ext uri="{FF2B5EF4-FFF2-40B4-BE49-F238E27FC236}">
                  <a16:creationId xmlns:a16="http://schemas.microsoft.com/office/drawing/2014/main" id="{119133A8-908B-35D7-909C-2F74B895A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311806" y="3235427"/>
              <a:ext cx="914400" cy="914400"/>
            </a:xfrm>
            <a:prstGeom prst="rect">
              <a:avLst/>
            </a:prstGeom>
          </p:spPr>
        </p:pic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75FE754A-3780-6B44-7D2E-3FB0E0815A7D}"/>
                </a:ext>
              </a:extLst>
            </p:cNvPr>
            <p:cNvSpPr/>
            <p:nvPr/>
          </p:nvSpPr>
          <p:spPr>
            <a:xfrm rot="5400000">
              <a:off x="3448670" y="329385"/>
              <a:ext cx="564128" cy="173293"/>
            </a:xfrm>
            <a:prstGeom prst="triangle">
              <a:avLst/>
            </a:prstGeom>
            <a:solidFill>
              <a:srgbClr val="8A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F2B41C-D669-EF07-681D-A209BA86EBAC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0" y="0"/>
            <a:chExt cx="1991035" cy="51435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CFDA3B-4237-B26F-75B0-CC30E468AE3C}"/>
                </a:ext>
              </a:extLst>
            </p:cNvPr>
            <p:cNvSpPr/>
            <p:nvPr/>
          </p:nvSpPr>
          <p:spPr>
            <a:xfrm>
              <a:off x="0" y="0"/>
              <a:ext cx="1828800" cy="5143500"/>
            </a:xfrm>
            <a:prstGeom prst="rect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+mj-lt"/>
                </a:rPr>
                <a:t>Introduction to Dataset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9AD1FB-8BB0-2E65-DA50-10962A6E2D08}"/>
                </a:ext>
              </a:extLst>
            </p:cNvPr>
            <p:cNvSpPr txBox="1"/>
            <p:nvPr/>
          </p:nvSpPr>
          <p:spPr>
            <a:xfrm>
              <a:off x="435077" y="449826"/>
              <a:ext cx="81116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</a:p>
          </p:txBody>
        </p:sp>
        <p:pic>
          <p:nvPicPr>
            <p:cNvPr id="14" name="Graphic 13" descr="Handshake with solid fill">
              <a:extLst>
                <a:ext uri="{FF2B5EF4-FFF2-40B4-BE49-F238E27FC236}">
                  <a16:creationId xmlns:a16="http://schemas.microsoft.com/office/drawing/2014/main" id="{23AB557E-6D8E-F09D-0D01-0F8493260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49827" y="3235427"/>
              <a:ext cx="914400" cy="914400"/>
            </a:xfrm>
            <a:prstGeom prst="rect">
              <a:avLst/>
            </a:prstGeom>
          </p:spPr>
        </p:pic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4E4815-4658-495D-FC61-97594F2997CB}"/>
                </a:ext>
              </a:extLst>
            </p:cNvPr>
            <p:cNvSpPr/>
            <p:nvPr/>
          </p:nvSpPr>
          <p:spPr>
            <a:xfrm rot="5400000">
              <a:off x="1622325" y="324466"/>
              <a:ext cx="564128" cy="173293"/>
            </a:xfrm>
            <a:prstGeom prst="triangle">
              <a:avLst/>
            </a:prstGeom>
            <a:solidFill>
              <a:srgbClr val="6C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189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0.83611 0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8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B2CA3-D817-EEA9-D0AF-91E1CC6A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2F1D426-0ECD-BF0B-EC8F-5D0C8753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5707"/>
            <a:ext cx="9161845" cy="5379207"/>
          </a:xfrm>
          <a:prstGeom prst="rect">
            <a:avLst/>
          </a:prstGeom>
        </p:spPr>
      </p:pic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1CEE835B-EC07-69E3-6787-E88DD81B45E0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CF9B10CE-6EB6-4BD7-D3AA-A3E42FEB8F6E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FBB7C14F-55DD-5EA9-9277-D6F2744011F9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D7C903A1-83A1-A014-E9AE-1FAC293A30B0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FA61F237-0BAF-4EC8-C0AF-D08F0AEF3564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43" name="Rectangle: Top Corners Rounded 42">
            <a:extLst>
              <a:ext uri="{FF2B5EF4-FFF2-40B4-BE49-F238E27FC236}">
                <a16:creationId xmlns:a16="http://schemas.microsoft.com/office/drawing/2014/main" id="{32CA09A1-97A9-32E2-692F-E618CD0CDDA4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44" name="Rectangle: Top Corners Rounded 43">
            <a:extLst>
              <a:ext uri="{FF2B5EF4-FFF2-40B4-BE49-F238E27FC236}">
                <a16:creationId xmlns:a16="http://schemas.microsoft.com/office/drawing/2014/main" id="{F101FAB5-3628-8329-3AA6-34BA3FDE581C}"/>
              </a:ext>
            </a:extLst>
          </p:cNvPr>
          <p:cNvSpPr/>
          <p:nvPr/>
        </p:nvSpPr>
        <p:spPr>
          <a:xfrm rot="5400000">
            <a:off x="419630" y="3006241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45" name="Rectangle: Top Corners Rounded 44">
            <a:extLst>
              <a:ext uri="{FF2B5EF4-FFF2-40B4-BE49-F238E27FC236}">
                <a16:creationId xmlns:a16="http://schemas.microsoft.com/office/drawing/2014/main" id="{4AA9DDA4-A148-DFA6-E0B7-91F92EB7B808}"/>
              </a:ext>
            </a:extLst>
          </p:cNvPr>
          <p:cNvSpPr/>
          <p:nvPr/>
        </p:nvSpPr>
        <p:spPr>
          <a:xfrm rot="5400000">
            <a:off x="419629" y="35767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7839EA04-EAF4-BE31-E92E-7894E3E7E97C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280830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345AD-76A6-DA65-7367-A33D4D705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4C7C63A-E3CE-CBD4-3B24-9590BBED9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5055" y="-3411940"/>
            <a:ext cx="18386648" cy="1079537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4B21FCE-74DB-6BBF-1673-D613272829A7}"/>
              </a:ext>
            </a:extLst>
          </p:cNvPr>
          <p:cNvSpPr/>
          <p:nvPr/>
        </p:nvSpPr>
        <p:spPr>
          <a:xfrm>
            <a:off x="4667534" y="2649807"/>
            <a:ext cx="893929" cy="257166"/>
          </a:xfrm>
          <a:custGeom>
            <a:avLst/>
            <a:gdLst>
              <a:gd name="connsiteX0" fmla="*/ 0 w 893929"/>
              <a:gd name="connsiteY0" fmla="*/ 257166 h 257166"/>
              <a:gd name="connsiteX1" fmla="*/ 334370 w 893929"/>
              <a:gd name="connsiteY1" fmla="*/ 4683 h 257166"/>
              <a:gd name="connsiteX2" fmla="*/ 893929 w 893929"/>
              <a:gd name="connsiteY2" fmla="*/ 86569 h 257166"/>
              <a:gd name="connsiteX3" fmla="*/ 893929 w 893929"/>
              <a:gd name="connsiteY3" fmla="*/ 86569 h 25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3929" h="257166">
                <a:moveTo>
                  <a:pt x="0" y="257166"/>
                </a:moveTo>
                <a:cubicBezTo>
                  <a:pt x="92691" y="145141"/>
                  <a:pt x="185382" y="33116"/>
                  <a:pt x="334370" y="4683"/>
                </a:cubicBezTo>
                <a:cubicBezTo>
                  <a:pt x="483358" y="-23750"/>
                  <a:pt x="893929" y="86569"/>
                  <a:pt x="893929" y="86569"/>
                </a:cubicBezTo>
                <a:lnTo>
                  <a:pt x="893929" y="86569"/>
                </a:ln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C3C98-A073-821A-B1FB-A2D60B665759}"/>
              </a:ext>
            </a:extLst>
          </p:cNvPr>
          <p:cNvSpPr txBox="1"/>
          <p:nvPr/>
        </p:nvSpPr>
        <p:spPr>
          <a:xfrm>
            <a:off x="2024854" y="1329093"/>
            <a:ext cx="4640237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kern="1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Staff shortage 33% - Signal issue 27%</a:t>
            </a:r>
          </a:p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u="none" strike="noStrike" kern="100" dirty="0">
                <a:solidFill>
                  <a:schemeClr val="tx1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Install backup Signaling systems, make shifts adjustments to accommodate staff shortage</a:t>
            </a:r>
            <a:endParaRPr lang="en-US" sz="1000" u="none" strike="noStrike" kern="100" dirty="0">
              <a:solidFill>
                <a:schemeClr val="tx1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54E95326-2914-C67A-55EC-2FFA8571BA4A}"/>
              </a:ext>
            </a:extLst>
          </p:cNvPr>
          <p:cNvSpPr/>
          <p:nvPr/>
        </p:nvSpPr>
        <p:spPr>
          <a:xfrm rot="5400000">
            <a:off x="1439702" y="-1454452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8EEF0DAF-BBAC-5B9D-E5E6-4951A3779EDB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6FE1B3C7-932F-3962-244A-338470BCEEE4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B0714B05-1B24-5A23-8308-3A29F8029A0A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52E63EBB-1969-A883-6FB7-48F9223EF254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A0E322B6-BFD0-B922-54F7-95FA93559B8A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D778F839-9A04-FC33-8418-F69E8353115F}"/>
              </a:ext>
            </a:extLst>
          </p:cNvPr>
          <p:cNvSpPr/>
          <p:nvPr/>
        </p:nvSpPr>
        <p:spPr>
          <a:xfrm rot="5400000">
            <a:off x="419630" y="3006241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8FB904FF-F95C-E1FB-EFC6-B6DADDFD87E1}"/>
              </a:ext>
            </a:extLst>
          </p:cNvPr>
          <p:cNvSpPr/>
          <p:nvPr/>
        </p:nvSpPr>
        <p:spPr>
          <a:xfrm rot="5400000">
            <a:off x="419629" y="35767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46C669DC-259C-E94E-5AD6-B9B566A98085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5265848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CBDA-F9D9-820E-ED02-8DB41368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D842151-02C7-33C3-8925-DACAEE9FF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126787" y="-4229100"/>
            <a:ext cx="16409946" cy="9634795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CE9D2B4-CCC8-EE5C-F88D-E4A744A428C7}"/>
              </a:ext>
            </a:extLst>
          </p:cNvPr>
          <p:cNvSpPr/>
          <p:nvPr/>
        </p:nvSpPr>
        <p:spPr>
          <a:xfrm>
            <a:off x="2444567" y="1413836"/>
            <a:ext cx="3212327" cy="3490622"/>
          </a:xfrm>
          <a:custGeom>
            <a:avLst/>
            <a:gdLst>
              <a:gd name="connsiteX0" fmla="*/ 0 w 3212327"/>
              <a:gd name="connsiteY0" fmla="*/ 0 h 3490622"/>
              <a:gd name="connsiteX1" fmla="*/ 1948070 w 3212327"/>
              <a:gd name="connsiteY1" fmla="*/ 1137036 h 3490622"/>
              <a:gd name="connsiteX2" fmla="*/ 3212327 w 3212327"/>
              <a:gd name="connsiteY2" fmla="*/ 3490622 h 3490622"/>
              <a:gd name="connsiteX3" fmla="*/ 3212327 w 3212327"/>
              <a:gd name="connsiteY3" fmla="*/ 3490622 h 3490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2327" h="3490622">
                <a:moveTo>
                  <a:pt x="0" y="0"/>
                </a:moveTo>
                <a:cubicBezTo>
                  <a:pt x="706341" y="277633"/>
                  <a:pt x="1412682" y="555266"/>
                  <a:pt x="1948070" y="1137036"/>
                </a:cubicBezTo>
                <a:cubicBezTo>
                  <a:pt x="2483458" y="1718806"/>
                  <a:pt x="3212327" y="3490622"/>
                  <a:pt x="3212327" y="3490622"/>
                </a:cubicBezTo>
                <a:lnTo>
                  <a:pt x="3212327" y="3490622"/>
                </a:ln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B1C00-39DB-A8B8-4043-E12B42761F86}"/>
              </a:ext>
            </a:extLst>
          </p:cNvPr>
          <p:cNvSpPr txBox="1"/>
          <p:nvPr/>
        </p:nvSpPr>
        <p:spPr>
          <a:xfrm>
            <a:off x="5189474" y="1909538"/>
            <a:ext cx="4375946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112712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Weather problem 35% - Technical issue 35%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2712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Arial" panose="020B0604020202020204" pitchFamily="34" charset="0"/>
              </a:rPr>
              <a:t>Pre-assess train condition before journey to avoid technical problems, prioritize weather-proofing infrastructure.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9CC4BC0-C4AA-5044-35E3-CA72F7E6EECF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C31AA29-0CCE-49D1-4C37-A043CA526E79}"/>
              </a:ext>
            </a:extLst>
          </p:cNvPr>
          <p:cNvSpPr/>
          <p:nvPr/>
        </p:nvSpPr>
        <p:spPr>
          <a:xfrm rot="5400000">
            <a:off x="1461635" y="-896253"/>
            <a:ext cx="576072" cy="349934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5C37C033-9B35-6FDA-B9E4-5ED3971CEA21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009B2E4D-684F-24A6-E6E8-A5D8DD0FEC3D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91A8D88-79C6-62F1-1E96-5E0E51409029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00C2C36-1EEB-D07B-BE3A-ACD6E4E8838C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73BD0C5D-EDB9-DE16-EEC0-89EAC47C50A4}"/>
              </a:ext>
            </a:extLst>
          </p:cNvPr>
          <p:cNvSpPr/>
          <p:nvPr/>
        </p:nvSpPr>
        <p:spPr>
          <a:xfrm rot="5400000">
            <a:off x="419630" y="3006241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D5C2305-5C50-4547-4318-368734A1F0D6}"/>
              </a:ext>
            </a:extLst>
          </p:cNvPr>
          <p:cNvSpPr/>
          <p:nvPr/>
        </p:nvSpPr>
        <p:spPr>
          <a:xfrm rot="5400000">
            <a:off x="419629" y="35767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B58588AC-1426-82AC-917D-D3FEFAB4D0E0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10804950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A9B27-379E-A08C-C777-7495CA22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D43526-63BB-9362-8C98-E430BD247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7178" y="-4229100"/>
            <a:ext cx="16409946" cy="9634795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1704A36-1989-BA9D-777A-6051371ED501}"/>
              </a:ext>
            </a:extLst>
          </p:cNvPr>
          <p:cNvSpPr/>
          <p:nvPr/>
        </p:nvSpPr>
        <p:spPr>
          <a:xfrm>
            <a:off x="3718224" y="1272209"/>
            <a:ext cx="2369488" cy="3617843"/>
          </a:xfrm>
          <a:custGeom>
            <a:avLst/>
            <a:gdLst>
              <a:gd name="connsiteX0" fmla="*/ 0 w 3212327"/>
              <a:gd name="connsiteY0" fmla="*/ 0 h 3490622"/>
              <a:gd name="connsiteX1" fmla="*/ 1948070 w 3212327"/>
              <a:gd name="connsiteY1" fmla="*/ 1137036 h 3490622"/>
              <a:gd name="connsiteX2" fmla="*/ 3212327 w 3212327"/>
              <a:gd name="connsiteY2" fmla="*/ 3490622 h 3490622"/>
              <a:gd name="connsiteX3" fmla="*/ 3212327 w 3212327"/>
              <a:gd name="connsiteY3" fmla="*/ 3490622 h 3490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2327" h="3490622">
                <a:moveTo>
                  <a:pt x="0" y="0"/>
                </a:moveTo>
                <a:cubicBezTo>
                  <a:pt x="706341" y="277633"/>
                  <a:pt x="1412682" y="555266"/>
                  <a:pt x="1948070" y="1137036"/>
                </a:cubicBezTo>
                <a:cubicBezTo>
                  <a:pt x="2483458" y="1718806"/>
                  <a:pt x="3212327" y="3490622"/>
                  <a:pt x="3212327" y="3490622"/>
                </a:cubicBezTo>
                <a:lnTo>
                  <a:pt x="3212327" y="3490622"/>
                </a:ln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81855-A223-9E61-2FA3-D46C02AE939F}"/>
              </a:ext>
            </a:extLst>
          </p:cNvPr>
          <p:cNvSpPr txBox="1"/>
          <p:nvPr/>
        </p:nvSpPr>
        <p:spPr>
          <a:xfrm>
            <a:off x="4647991" y="1272209"/>
            <a:ext cx="4375946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Weather problem 57% - Technical issue 21%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Prioritize weather-proofing infrastructure, pre-assess train condition before journey to avoid technical problems.</a:t>
            </a:r>
            <a:endParaRPr lang="en-US" sz="1000" kern="1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4DFEBD29-87C9-EB52-5300-48215B640B8C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53BCEDB0-269A-DB46-F5C0-CA0C1DC13C71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72F328C-5A16-C3C9-DA7E-18CE90E0DD60}"/>
              </a:ext>
            </a:extLst>
          </p:cNvPr>
          <p:cNvSpPr/>
          <p:nvPr/>
        </p:nvSpPr>
        <p:spPr>
          <a:xfrm rot="5400000">
            <a:off x="1435258" y="-299369"/>
            <a:ext cx="576072" cy="3446587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2707391-DA24-24C7-A6EE-458CACC903B2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A150C73F-26E9-0F98-0535-A8F0A4962ECE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2D076D9-EEC9-5197-F70A-A83605636897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5F79DAFE-D875-B118-3A2E-C18DEBB5A95D}"/>
              </a:ext>
            </a:extLst>
          </p:cNvPr>
          <p:cNvSpPr/>
          <p:nvPr/>
        </p:nvSpPr>
        <p:spPr>
          <a:xfrm rot="5400000">
            <a:off x="419630" y="3006241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4E853C7F-4ECF-F18A-EA67-BBD0C3BB0F01}"/>
              </a:ext>
            </a:extLst>
          </p:cNvPr>
          <p:cNvSpPr/>
          <p:nvPr/>
        </p:nvSpPr>
        <p:spPr>
          <a:xfrm rot="5400000">
            <a:off x="419629" y="35767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4A0AF342-AB3F-891A-BF8B-46C360D3A594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7605413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8888-CF57-AF11-FA7F-B3AC513A7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F981098-F81C-77EF-9B48-6F216B956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25988" y="-8293769"/>
            <a:ext cx="22886305" cy="13437269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D0F5895-A0F6-53C5-EE4E-472D7EAC7E95}"/>
              </a:ext>
            </a:extLst>
          </p:cNvPr>
          <p:cNvSpPr/>
          <p:nvPr/>
        </p:nvSpPr>
        <p:spPr>
          <a:xfrm>
            <a:off x="3380014" y="4323768"/>
            <a:ext cx="1289957" cy="231903"/>
          </a:xfrm>
          <a:custGeom>
            <a:avLst/>
            <a:gdLst>
              <a:gd name="connsiteX0" fmla="*/ 1289957 w 1289957"/>
              <a:gd name="connsiteY0" fmla="*/ 117603 h 231903"/>
              <a:gd name="connsiteX1" fmla="*/ 571500 w 1289957"/>
              <a:gd name="connsiteY1" fmla="*/ 3303 h 231903"/>
              <a:gd name="connsiteX2" fmla="*/ 0 w 1289957"/>
              <a:gd name="connsiteY2" fmla="*/ 231903 h 231903"/>
              <a:gd name="connsiteX3" fmla="*/ 0 w 1289957"/>
              <a:gd name="connsiteY3" fmla="*/ 231903 h 23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89957" h="231903">
                <a:moveTo>
                  <a:pt x="1289957" y="117603"/>
                </a:moveTo>
                <a:cubicBezTo>
                  <a:pt x="1038225" y="50928"/>
                  <a:pt x="786493" y="-15747"/>
                  <a:pt x="571500" y="3303"/>
                </a:cubicBezTo>
                <a:cubicBezTo>
                  <a:pt x="356507" y="22353"/>
                  <a:pt x="0" y="231903"/>
                  <a:pt x="0" y="231903"/>
                </a:cubicBezTo>
                <a:lnTo>
                  <a:pt x="0" y="231903"/>
                </a:ln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177792-CBC2-A5D0-0A82-7807E2EB38D3}"/>
              </a:ext>
            </a:extLst>
          </p:cNvPr>
          <p:cNvSpPr txBox="1"/>
          <p:nvPr/>
        </p:nvSpPr>
        <p:spPr>
          <a:xfrm>
            <a:off x="5261036" y="3690631"/>
            <a:ext cx="4375946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Staff shortage 41% - Signal problem 20%</a:t>
            </a:r>
          </a:p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Install backup Signaling systems, make shifts adjustments to accommodate staff shortage</a:t>
            </a:r>
            <a:endParaRPr lang="en-US" sz="1000" kern="1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48B7244-7567-C756-A244-B9D667CBC328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D0F5F372-BE66-EF7F-8EF3-1072CD482968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07266AF-0A13-E53D-DF74-B457F4D8AFD5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3B0F7C7-216C-0F7F-7D53-42210AD15775}"/>
              </a:ext>
            </a:extLst>
          </p:cNvPr>
          <p:cNvSpPr/>
          <p:nvPr/>
        </p:nvSpPr>
        <p:spPr>
          <a:xfrm rot="5400000">
            <a:off x="1449324" y="256325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810E8F3-4F92-6F85-99D2-A2F3EA86061F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DA86AAA9-CAB3-7B8C-DDF6-E38F00EDB389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83BE1B8C-4535-77CA-2EC9-10DEBE906DFA}"/>
              </a:ext>
            </a:extLst>
          </p:cNvPr>
          <p:cNvSpPr/>
          <p:nvPr/>
        </p:nvSpPr>
        <p:spPr>
          <a:xfrm rot="5400000">
            <a:off x="419630" y="29974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B1FEAE1-BBCD-F7EB-AAB6-59EE653D5662}"/>
              </a:ext>
            </a:extLst>
          </p:cNvPr>
          <p:cNvSpPr/>
          <p:nvPr/>
        </p:nvSpPr>
        <p:spPr>
          <a:xfrm rot="5400000">
            <a:off x="419629" y="3567957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97CC1F6A-E505-1EA2-2C3D-9C174906991A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1984084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8E55-4BC4-B4DB-40D9-F8E12B10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025999B-C575-4B4E-BBA8-AC167E24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07901" y="-9680770"/>
            <a:ext cx="25248644" cy="14824272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A91291-D432-00AC-7600-273A57913828}"/>
              </a:ext>
            </a:extLst>
          </p:cNvPr>
          <p:cNvSpPr/>
          <p:nvPr/>
        </p:nvSpPr>
        <p:spPr>
          <a:xfrm>
            <a:off x="4026090" y="1624084"/>
            <a:ext cx="3029803" cy="2743200"/>
          </a:xfrm>
          <a:custGeom>
            <a:avLst/>
            <a:gdLst>
              <a:gd name="connsiteX0" fmla="*/ 3029803 w 3029803"/>
              <a:gd name="connsiteY0" fmla="*/ 2743200 h 2743200"/>
              <a:gd name="connsiteX1" fmla="*/ 2224585 w 3029803"/>
              <a:gd name="connsiteY1" fmla="*/ 627797 h 2743200"/>
              <a:gd name="connsiteX2" fmla="*/ 0 w 3029803"/>
              <a:gd name="connsiteY2" fmla="*/ 0 h 2743200"/>
              <a:gd name="connsiteX3" fmla="*/ 0 w 3029803"/>
              <a:gd name="connsiteY3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9803" h="2743200">
                <a:moveTo>
                  <a:pt x="3029803" y="2743200"/>
                </a:moveTo>
                <a:cubicBezTo>
                  <a:pt x="2879677" y="1914098"/>
                  <a:pt x="2729552" y="1084997"/>
                  <a:pt x="2224585" y="627797"/>
                </a:cubicBezTo>
                <a:cubicBezTo>
                  <a:pt x="1719618" y="170597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6E42D-A7E3-9131-9771-7CA9BB87986B}"/>
              </a:ext>
            </a:extLst>
          </p:cNvPr>
          <p:cNvSpPr txBox="1"/>
          <p:nvPr/>
        </p:nvSpPr>
        <p:spPr>
          <a:xfrm>
            <a:off x="3346548" y="564583"/>
            <a:ext cx="4805068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Signal issue 37% - Weather condition 24% - Staffing problem 24%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11125" marR="508000" lvl="2">
              <a:lnSpc>
                <a:spcPct val="105000"/>
              </a:lnSpc>
              <a:spcAft>
                <a:spcPts val="25"/>
              </a:spcAft>
              <a:tabLst>
                <a:tab pos="1371600" algn="l"/>
              </a:tabLst>
            </a:pPr>
            <a:r>
              <a:rPr lang="en-US" sz="1000" kern="100" dirty="0">
                <a:latin typeface="Times New Roman" panose="02020603050405020304" pitchFamily="18" charset="0"/>
                <a:ea typeface="Arial" panose="020B0604020202020204" pitchFamily="34" charset="0"/>
              </a:rPr>
              <a:t>Install backup Signaling systems, make shifts adjustments to accommodate staff shortage, prioritize weather-proofing infrastructure.</a:t>
            </a:r>
            <a:endParaRPr lang="en-US" sz="1000" kern="1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3804DB8-687B-C5CF-76F4-D979985F88D7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54E5EAFB-F56F-065A-B0F4-48FFC69F6860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B2AA751-A67F-E558-D17E-6BC6F8AC5632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8F53202-DEBD-5C21-1C52-0FDD1F64DFDB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618A7065-F156-BD0D-69FC-7D31E330C46D}"/>
              </a:ext>
            </a:extLst>
          </p:cNvPr>
          <p:cNvSpPr/>
          <p:nvPr/>
        </p:nvSpPr>
        <p:spPr>
          <a:xfrm rot="5400000">
            <a:off x="1449324" y="826740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854FE763-11CB-2535-B3C6-2BF0C0D30FA2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D51A3E0-3FCE-E295-7E6F-53A352251A6A}"/>
              </a:ext>
            </a:extLst>
          </p:cNvPr>
          <p:cNvSpPr/>
          <p:nvPr/>
        </p:nvSpPr>
        <p:spPr>
          <a:xfrm rot="5400000">
            <a:off x="419630" y="29974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0348EAB3-941E-2B84-7F85-E79B45E73D26}"/>
              </a:ext>
            </a:extLst>
          </p:cNvPr>
          <p:cNvSpPr/>
          <p:nvPr/>
        </p:nvSpPr>
        <p:spPr>
          <a:xfrm rot="5400000">
            <a:off x="419629" y="3567957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E1563EC7-5602-E24F-8A92-DB2A01BCA4DD}"/>
              </a:ext>
            </a:extLst>
          </p:cNvPr>
          <p:cNvSpPr/>
          <p:nvPr/>
        </p:nvSpPr>
        <p:spPr>
          <a:xfrm rot="5400000">
            <a:off x="419630" y="413875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1311590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73CB-F6E9-E7BA-A3CE-936AFEBE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CCCFA49-1836-E83E-2F70-42A7016A0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5055" y="-3411940"/>
            <a:ext cx="18386648" cy="10795379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6C0C4BD-806C-182E-C67A-9338DD009366}"/>
              </a:ext>
            </a:extLst>
          </p:cNvPr>
          <p:cNvSpPr/>
          <p:nvPr/>
        </p:nvSpPr>
        <p:spPr>
          <a:xfrm>
            <a:off x="4667534" y="2649807"/>
            <a:ext cx="893929" cy="257166"/>
          </a:xfrm>
          <a:custGeom>
            <a:avLst/>
            <a:gdLst>
              <a:gd name="connsiteX0" fmla="*/ 0 w 893929"/>
              <a:gd name="connsiteY0" fmla="*/ 257166 h 257166"/>
              <a:gd name="connsiteX1" fmla="*/ 334370 w 893929"/>
              <a:gd name="connsiteY1" fmla="*/ 4683 h 257166"/>
              <a:gd name="connsiteX2" fmla="*/ 893929 w 893929"/>
              <a:gd name="connsiteY2" fmla="*/ 86569 h 257166"/>
              <a:gd name="connsiteX3" fmla="*/ 893929 w 893929"/>
              <a:gd name="connsiteY3" fmla="*/ 86569 h 25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3929" h="257166">
                <a:moveTo>
                  <a:pt x="0" y="257166"/>
                </a:moveTo>
                <a:cubicBezTo>
                  <a:pt x="92691" y="145141"/>
                  <a:pt x="185382" y="33116"/>
                  <a:pt x="334370" y="4683"/>
                </a:cubicBezTo>
                <a:cubicBezTo>
                  <a:pt x="483358" y="-23750"/>
                  <a:pt x="893929" y="86569"/>
                  <a:pt x="893929" y="86569"/>
                </a:cubicBezTo>
                <a:lnTo>
                  <a:pt x="893929" y="86569"/>
                </a:ln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6C090-54FB-578A-86B1-47B1993F7D32}"/>
              </a:ext>
            </a:extLst>
          </p:cNvPr>
          <p:cNvSpPr txBox="1"/>
          <p:nvPr/>
        </p:nvSpPr>
        <p:spPr>
          <a:xfrm>
            <a:off x="3774141" y="1178018"/>
            <a:ext cx="4640237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339725" marR="508000" indent="-228600">
              <a:lnSpc>
                <a:spcPct val="105000"/>
              </a:lnSpc>
              <a:spcAft>
                <a:spcPts val="25"/>
              </a:spcAft>
              <a:buNone/>
              <a:tabLst>
                <a:tab pos="339725" algn="l"/>
                <a:tab pos="137160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Technical issue 43% - Signal problem 22%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39725" marR="508000" indent="-228600">
              <a:lnSpc>
                <a:spcPct val="105000"/>
              </a:lnSpc>
              <a:spcAft>
                <a:spcPts val="25"/>
              </a:spcAft>
              <a:buNone/>
              <a:tabLst>
                <a:tab pos="339725" algn="l"/>
                <a:tab pos="137160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Pre-assess train condition before journey to avoid technical problems, install backup Signaling systems.</a:t>
            </a:r>
            <a:endParaRPr lang="en-US" sz="1000" kern="1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E5A8FED2-8CA4-CB2B-B03C-A2E0D05EFDEC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A2F8CBB7-CF03-1AF7-B38A-93B20ECB2D63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670C1450-6B15-B7EE-1D0F-1F7C2427B5AD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A8179FD7-7F54-14EB-B744-AD9EF9E8085B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D5ABA89-895F-1383-58F4-00E756FE961E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87C9677-5CE6-7933-C7DE-8CF0C7988D52}"/>
              </a:ext>
            </a:extLst>
          </p:cNvPr>
          <p:cNvSpPr/>
          <p:nvPr/>
        </p:nvSpPr>
        <p:spPr>
          <a:xfrm rot="5400000">
            <a:off x="1449324" y="1396644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7685D311-91C2-B6F6-8A5B-11C95F9F19F8}"/>
              </a:ext>
            </a:extLst>
          </p:cNvPr>
          <p:cNvSpPr/>
          <p:nvPr/>
        </p:nvSpPr>
        <p:spPr>
          <a:xfrm rot="5400000">
            <a:off x="419630" y="29974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5A9DA57E-4461-4722-DA70-5114E471F172}"/>
              </a:ext>
            </a:extLst>
          </p:cNvPr>
          <p:cNvSpPr/>
          <p:nvPr/>
        </p:nvSpPr>
        <p:spPr>
          <a:xfrm rot="5400000">
            <a:off x="419629" y="3567957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54D80CE-D0D6-80D0-DF0A-494C5C730440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2876304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6A07-8ACD-C346-A777-E7C70974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0834E95-73FB-A5DB-1C58-4DF1E72A5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63453" y="-4109365"/>
            <a:ext cx="15759447" cy="925286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8C7B6E8-CDB2-E254-A1F0-A6F09D2BDD58}"/>
              </a:ext>
            </a:extLst>
          </p:cNvPr>
          <p:cNvSpPr/>
          <p:nvPr/>
        </p:nvSpPr>
        <p:spPr>
          <a:xfrm>
            <a:off x="4942541" y="286871"/>
            <a:ext cx="1770542" cy="4349297"/>
          </a:xfrm>
          <a:custGeom>
            <a:avLst/>
            <a:gdLst>
              <a:gd name="connsiteX0" fmla="*/ 1026694 w 1723988"/>
              <a:gd name="connsiteY0" fmla="*/ 4315326 h 4315326"/>
              <a:gd name="connsiteX1" fmla="*/ 1684421 w 1723988"/>
              <a:gd name="connsiteY1" fmla="*/ 1363579 h 4315326"/>
              <a:gd name="connsiteX2" fmla="*/ 0 w 1723988"/>
              <a:gd name="connsiteY2" fmla="*/ 0 h 431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3988" h="4315326">
                <a:moveTo>
                  <a:pt x="1026694" y="4315326"/>
                </a:moveTo>
                <a:cubicBezTo>
                  <a:pt x="1441115" y="3199063"/>
                  <a:pt x="1855537" y="2082800"/>
                  <a:pt x="1684421" y="1363579"/>
                </a:cubicBezTo>
                <a:cubicBezTo>
                  <a:pt x="1513305" y="644358"/>
                  <a:pt x="756652" y="322179"/>
                  <a:pt x="0" y="0"/>
                </a:cubicBez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0BBAD-B1F3-41DC-9D9B-A68CDD3C2F7B}"/>
              </a:ext>
            </a:extLst>
          </p:cNvPr>
          <p:cNvSpPr txBox="1"/>
          <p:nvPr/>
        </p:nvSpPr>
        <p:spPr>
          <a:xfrm>
            <a:off x="6150841" y="492464"/>
            <a:ext cx="2561979" cy="404983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Signal issue 41%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Install backup Signaling systems</a:t>
            </a:r>
            <a:endParaRPr lang="en-US" sz="1000" kern="1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AFB3C2A9-85CD-66A1-4B6B-378E8A9E40E4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79E905D6-7163-80C5-E771-2509519D7AD1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F37A9520-B795-EA11-79F2-7BEDE0C6A48A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B8948BCB-BD46-B3AB-255B-B1372FBBDDD7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0851B8E-0F32-61CC-CEC3-5A35AB0DD92A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DDF91FB6-DABD-1C84-2BD6-C380F857376A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34E28E1A-3DDE-CE71-B454-6B1AB39348F2}"/>
              </a:ext>
            </a:extLst>
          </p:cNvPr>
          <p:cNvSpPr/>
          <p:nvPr/>
        </p:nvSpPr>
        <p:spPr>
          <a:xfrm rot="5400000">
            <a:off x="1449321" y="1973424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A3565A0E-7A6F-9D71-BC87-092979C8EB6D}"/>
              </a:ext>
            </a:extLst>
          </p:cNvPr>
          <p:cNvSpPr/>
          <p:nvPr/>
        </p:nvSpPr>
        <p:spPr>
          <a:xfrm rot="5400000">
            <a:off x="419629" y="35767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DE35CB09-875A-612F-E553-0F7F84A338B8}"/>
              </a:ext>
            </a:extLst>
          </p:cNvPr>
          <p:cNvSpPr/>
          <p:nvPr/>
        </p:nvSpPr>
        <p:spPr>
          <a:xfrm rot="5400000">
            <a:off x="419630" y="414754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14615933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8C33-CC58-2254-5218-5F921762C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6685EEA-FDA0-02B6-C3F9-110B0D1E0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07901" y="-9680770"/>
            <a:ext cx="25248644" cy="14824272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482657F-2DA6-5127-A2E4-07D34711982E}"/>
              </a:ext>
            </a:extLst>
          </p:cNvPr>
          <p:cNvSpPr/>
          <p:nvPr/>
        </p:nvSpPr>
        <p:spPr>
          <a:xfrm>
            <a:off x="4026090" y="1624084"/>
            <a:ext cx="3029803" cy="2743200"/>
          </a:xfrm>
          <a:custGeom>
            <a:avLst/>
            <a:gdLst>
              <a:gd name="connsiteX0" fmla="*/ 3029803 w 3029803"/>
              <a:gd name="connsiteY0" fmla="*/ 2743200 h 2743200"/>
              <a:gd name="connsiteX1" fmla="*/ 2224585 w 3029803"/>
              <a:gd name="connsiteY1" fmla="*/ 627797 h 2743200"/>
              <a:gd name="connsiteX2" fmla="*/ 0 w 3029803"/>
              <a:gd name="connsiteY2" fmla="*/ 0 h 2743200"/>
              <a:gd name="connsiteX3" fmla="*/ 0 w 3029803"/>
              <a:gd name="connsiteY3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9803" h="2743200">
                <a:moveTo>
                  <a:pt x="3029803" y="2743200"/>
                </a:moveTo>
                <a:cubicBezTo>
                  <a:pt x="2879677" y="1914098"/>
                  <a:pt x="2729552" y="1084997"/>
                  <a:pt x="2224585" y="627797"/>
                </a:cubicBezTo>
                <a:cubicBezTo>
                  <a:pt x="1719618" y="170597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E45AD-789A-3E6B-7184-E94AC0AC0F5B}"/>
              </a:ext>
            </a:extLst>
          </p:cNvPr>
          <p:cNvSpPr txBox="1"/>
          <p:nvPr/>
        </p:nvSpPr>
        <p:spPr>
          <a:xfrm>
            <a:off x="4026090" y="564583"/>
            <a:ext cx="4805068" cy="566565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Signal issue 32% - Staff shortage 24%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Install backup Signaling systems, make shifts adjustments to accommodate staff shortage</a:t>
            </a:r>
            <a:endParaRPr lang="en-US" sz="1000" kern="1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F980AF40-D279-1A94-00E8-3273FC72DA9E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2B09B94-4FD2-5FD4-D72D-E104DDD43C72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797D6B8-E5ED-E263-2375-0FBDEA119677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598B5DC-D6F4-5C9B-515E-44E455929D5A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2C4F58C9-C34A-4BA6-E94F-CA50EEA4A122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2E3E9C1-5168-1C48-9885-F9456203BC12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6D15D28D-E5A1-1688-6D69-078B5E9E192F}"/>
              </a:ext>
            </a:extLst>
          </p:cNvPr>
          <p:cNvSpPr/>
          <p:nvPr/>
        </p:nvSpPr>
        <p:spPr>
          <a:xfrm rot="5400000">
            <a:off x="419630" y="29974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1B67F133-0D15-8D9E-1965-03E5A5511DCD}"/>
              </a:ext>
            </a:extLst>
          </p:cNvPr>
          <p:cNvSpPr/>
          <p:nvPr/>
        </p:nvSpPr>
        <p:spPr>
          <a:xfrm rot="5400000">
            <a:off x="1449324" y="2538263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7958265F-84E3-964F-6449-C18C03CB1791}"/>
              </a:ext>
            </a:extLst>
          </p:cNvPr>
          <p:cNvSpPr/>
          <p:nvPr/>
        </p:nvSpPr>
        <p:spPr>
          <a:xfrm rot="5400000">
            <a:off x="419630" y="413875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2022569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009D3-FC68-56DD-004B-4F147768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CF2D86-CCEF-69D7-1F64-525D0B5F3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60835" y="-6466114"/>
            <a:ext cx="23233721" cy="13641247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ABD13DD-2E75-8DA8-A7C7-AE284EF0AE3A}"/>
              </a:ext>
            </a:extLst>
          </p:cNvPr>
          <p:cNvSpPr/>
          <p:nvPr/>
        </p:nvSpPr>
        <p:spPr>
          <a:xfrm>
            <a:off x="5411972" y="1318437"/>
            <a:ext cx="991917" cy="2647507"/>
          </a:xfrm>
          <a:custGeom>
            <a:avLst/>
            <a:gdLst>
              <a:gd name="connsiteX0" fmla="*/ 606056 w 991917"/>
              <a:gd name="connsiteY0" fmla="*/ 2647507 h 2647507"/>
              <a:gd name="connsiteX1" fmla="*/ 967563 w 991917"/>
              <a:gd name="connsiteY1" fmla="*/ 1031358 h 2647507"/>
              <a:gd name="connsiteX2" fmla="*/ 0 w 991917"/>
              <a:gd name="connsiteY2" fmla="*/ 0 h 2647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1917" h="2647507">
                <a:moveTo>
                  <a:pt x="606056" y="2647507"/>
                </a:moveTo>
                <a:cubicBezTo>
                  <a:pt x="837314" y="2060058"/>
                  <a:pt x="1068572" y="1472609"/>
                  <a:pt x="967563" y="1031358"/>
                </a:cubicBezTo>
                <a:cubicBezTo>
                  <a:pt x="866554" y="590107"/>
                  <a:pt x="433277" y="295053"/>
                  <a:pt x="0" y="0"/>
                </a:cubicBezTo>
              </a:path>
            </a:pathLst>
          </a:custGeom>
          <a:noFill/>
          <a:ln>
            <a:solidFill>
              <a:srgbClr val="6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D68E3-093C-4B08-8376-8F6A5B2AA517}"/>
              </a:ext>
            </a:extLst>
          </p:cNvPr>
          <p:cNvSpPr txBox="1"/>
          <p:nvPr/>
        </p:nvSpPr>
        <p:spPr>
          <a:xfrm>
            <a:off x="1329495" y="3810950"/>
            <a:ext cx="4805068" cy="727443"/>
          </a:xfrm>
          <a:prstGeom prst="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b="1" kern="100" dirty="0">
                <a:latin typeface="Times New Roman" panose="02020603050405020304" pitchFamily="18" charset="0"/>
                <a:ea typeface="Arial" panose="020B0604020202020204" pitchFamily="34" charset="0"/>
              </a:rPr>
              <a:t>Technical issue 89%</a:t>
            </a: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r>
              <a:rPr lang="en-US" sz="1000" kern="1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Pre-assess train condition before journey to avoid technical problems (88.5% of disruptions).</a:t>
            </a:r>
            <a:endParaRPr lang="en-US" sz="1000" dirty="0"/>
          </a:p>
          <a:p>
            <a:pPr marL="342900" marR="508000" lvl="0" indent="-230188">
              <a:lnSpc>
                <a:spcPct val="105000"/>
              </a:lnSpc>
              <a:buNone/>
              <a:tabLst>
                <a:tab pos="1314450" algn="l"/>
              </a:tabLst>
            </a:pPr>
            <a:endParaRPr lang="en-US" sz="1000" b="1" kern="100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800FC26A-F31E-74F2-411E-44D3226050F7}"/>
              </a:ext>
            </a:extLst>
          </p:cNvPr>
          <p:cNvSpPr/>
          <p:nvPr/>
        </p:nvSpPr>
        <p:spPr>
          <a:xfrm rot="5400000">
            <a:off x="419633" y="-4247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Manchester Piccadilly ↔ Liverpool Lime Street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38DDFD09-3C41-8301-48E8-67B1D2C42CE0}"/>
              </a:ext>
            </a:extLst>
          </p:cNvPr>
          <p:cNvSpPr/>
          <p:nvPr/>
        </p:nvSpPr>
        <p:spPr>
          <a:xfrm rot="5400000">
            <a:off x="419632" y="145750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London Euston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C8843FB7-CBEE-6490-173E-E76BCC9F644F}"/>
              </a:ext>
            </a:extLst>
          </p:cNvPr>
          <p:cNvSpPr/>
          <p:nvPr/>
        </p:nvSpPr>
        <p:spPr>
          <a:xfrm rot="5400000">
            <a:off x="419630" y="716258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Manchester Piccadilly ↔ London Euston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DE809450-58AA-88A0-0703-B7D86F5A34BA}"/>
              </a:ext>
            </a:extLst>
          </p:cNvPr>
          <p:cNvSpPr/>
          <p:nvPr/>
        </p:nvSpPr>
        <p:spPr>
          <a:xfrm rot="5400000">
            <a:off x="419629" y="1286766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Paddington ↔ Reading</a:t>
            </a:r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AB231B12-1DA0-8516-08AC-A34DB4F35834}"/>
              </a:ext>
            </a:extLst>
          </p:cNvPr>
          <p:cNvSpPr/>
          <p:nvPr/>
        </p:nvSpPr>
        <p:spPr>
          <a:xfrm rot="5400000">
            <a:off x="419633" y="1857274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Euston ↔ Birmingham New Street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FB831738-1508-4DCB-FFAD-8638AB5A805B}"/>
              </a:ext>
            </a:extLst>
          </p:cNvPr>
          <p:cNvSpPr/>
          <p:nvPr/>
        </p:nvSpPr>
        <p:spPr>
          <a:xfrm rot="5400000">
            <a:off x="419632" y="2427782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Liverpool Lime Street ↔ Manchester Piccadilly</a:t>
            </a:r>
          </a:p>
        </p:txBody>
      </p:sp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10ECB27-91AC-425D-0FB5-AE5A78E83E63}"/>
              </a:ext>
            </a:extLst>
          </p:cNvPr>
          <p:cNvSpPr/>
          <p:nvPr/>
        </p:nvSpPr>
        <p:spPr>
          <a:xfrm rot="5400000">
            <a:off x="419630" y="2997449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Kings Cross ↔ York</a:t>
            </a:r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8691787B-EFF1-856E-C566-6E7981D3C673}"/>
              </a:ext>
            </a:extLst>
          </p:cNvPr>
          <p:cNvSpPr/>
          <p:nvPr/>
        </p:nvSpPr>
        <p:spPr>
          <a:xfrm rot="5400000">
            <a:off x="419629" y="3567957"/>
            <a:ext cx="576072" cy="1415333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London St Pancras ↔ Birmingham New Street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CE332BF-343A-0E08-1557-0F9B1185763E}"/>
              </a:ext>
            </a:extLst>
          </p:cNvPr>
          <p:cNvSpPr/>
          <p:nvPr/>
        </p:nvSpPr>
        <p:spPr>
          <a:xfrm rot="5400000">
            <a:off x="1449324" y="3109312"/>
            <a:ext cx="576072" cy="3474720"/>
          </a:xfrm>
          <a:prstGeom prst="round2SameRect">
            <a:avLst/>
          </a:prstGeom>
          <a:solidFill>
            <a:srgbClr val="AC0000"/>
          </a:solidFill>
          <a:ln>
            <a:noFill/>
          </a:ln>
          <a:effectLst>
            <a:outerShdw blurRad="152400" dist="50800" algn="ctr" rotWithShape="0">
              <a:srgbClr val="000000">
                <a:alpha val="44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b="1" kern="100" dirty="0">
                <a:solidFill>
                  <a:srgbClr val="FFD1D1"/>
                </a:solidFill>
                <a:effectLst/>
                <a:latin typeface="+mj-lt"/>
                <a:ea typeface="Arial" panose="020B0604020202020204" pitchFamily="34" charset="0"/>
              </a:rPr>
              <a:t>Birmingham New Street ↔ Manchester Piccadilly</a:t>
            </a:r>
          </a:p>
        </p:txBody>
      </p:sp>
    </p:spTree>
    <p:extLst>
      <p:ext uri="{BB962C8B-B14F-4D97-AF65-F5344CB8AC3E}">
        <p14:creationId xmlns:p14="http://schemas.microsoft.com/office/powerpoint/2010/main" val="10143310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26558-900C-2328-7109-3338C5A74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D640591-A334-9ECF-004E-FB3C5D43AAD8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9150140" y="0"/>
            <a:chExt cx="1986256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3A35114-65F5-5FCD-7788-F7C064276F01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BA9864-9715-569E-6D48-6E0F98962369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6" name="Graphic 5" descr="Puzzle pieces with solid fill">
              <a:extLst>
                <a:ext uri="{FF2B5EF4-FFF2-40B4-BE49-F238E27FC236}">
                  <a16:creationId xmlns:a16="http://schemas.microsoft.com/office/drawing/2014/main" id="{8C292E36-B72C-C45B-AFD0-2DE0A9513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225AB8CE-39CF-5304-E68E-88E169E21504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06D370-4937-3C8D-6BAF-F98447502686}"/>
              </a:ext>
            </a:extLst>
          </p:cNvPr>
          <p:cNvSpPr txBox="1"/>
          <p:nvPr/>
        </p:nvSpPr>
        <p:spPr>
          <a:xfrm>
            <a:off x="2278505" y="652072"/>
            <a:ext cx="5338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6: Executive Summary and Recommendations</a:t>
            </a:r>
          </a:p>
        </p:txBody>
      </p:sp>
      <p:pic>
        <p:nvPicPr>
          <p:cNvPr id="9" name="Google Shape;180;p22" title="proAr.png">
            <a:extLst>
              <a:ext uri="{FF2B5EF4-FFF2-40B4-BE49-F238E27FC236}">
                <a16:creationId xmlns:a16="http://schemas.microsoft.com/office/drawing/2014/main" id="{449AC378-9F07-D83B-E336-C5920ABAC9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30;p66" title="MCAR.png">
            <a:extLst>
              <a:ext uri="{FF2B5EF4-FFF2-40B4-BE49-F238E27FC236}">
                <a16:creationId xmlns:a16="http://schemas.microsoft.com/office/drawing/2014/main" id="{E1421A51-2315-99CC-C68D-D3C66EACAA2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6B4D09A-A744-7089-C4F6-050627DE6CA7}"/>
              </a:ext>
            </a:extLst>
          </p:cNvPr>
          <p:cNvSpPr txBox="1"/>
          <p:nvPr/>
        </p:nvSpPr>
        <p:spPr>
          <a:xfrm>
            <a:off x="1638946" y="959849"/>
            <a:ext cx="7505054" cy="292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0" indent="-6350">
              <a:lnSpc>
                <a:spcPct val="107000"/>
              </a:lnSpc>
              <a:spcAft>
                <a:spcPts val="1055"/>
              </a:spcAft>
              <a:buNone/>
            </a:pPr>
            <a:r>
              <a:rPr lang="en-US" sz="13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II. Priority Actions and Strategic Recommendations</a:t>
            </a:r>
          </a:p>
          <a:p>
            <a:pPr marL="6350" marR="508000" indent="-6350">
              <a:lnSpc>
                <a:spcPct val="105000"/>
              </a:lnSpc>
              <a:spcAft>
                <a:spcPts val="25"/>
              </a:spcAft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A. Immediate Operational Fixes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50800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Staffing Shortages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(especially 100% shortages):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Emergency crew scheduling (Edinburgh–London, York–Wakefield)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Competitive shift incentives and flexible scheduling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Conduct urgent audits (e.g., Edinburgh Waverley Station)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Merge under-staffed services with adjacent ones as a temporary solution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Major routes affected: Manchester Piccadilly ↔ Liverpool Lime Street, London Paddington ↔ Reading, London Euston ↔ Birmingham New Street.</a:t>
            </a:r>
          </a:p>
          <a:p>
            <a:pPr marL="342900" marR="50800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Signal Failures 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(especially routes with 100% disruptions):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Urgent deployment of signal teams (e.g., London Euston–York)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temporary backup signaling systems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Initiate preemptive signal maintenance on major routes affected: Manchester Piccadilly ↔ Liverpool Lime Street, London Euston ↔ Birmingham New Street and London Kings Cross ↔ York.</a:t>
            </a:r>
          </a:p>
        </p:txBody>
      </p:sp>
    </p:spTree>
    <p:extLst>
      <p:ext uri="{BB962C8B-B14F-4D97-AF65-F5344CB8AC3E}">
        <p14:creationId xmlns:p14="http://schemas.microsoft.com/office/powerpoint/2010/main" val="429239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600D0-0F01-E493-C43D-DF5A406E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49AAC88-21DE-9CBB-863C-EF68EDA54247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9150140" y="0"/>
            <a:chExt cx="1986256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BBA9D4-1E5F-5506-3F5D-BA849F5979E2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1CB1C9A-2597-4923-86BC-D7ED02573C16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6" name="Graphic 5" descr="Puzzle pieces with solid fill">
              <a:extLst>
                <a:ext uri="{FF2B5EF4-FFF2-40B4-BE49-F238E27FC236}">
                  <a16:creationId xmlns:a16="http://schemas.microsoft.com/office/drawing/2014/main" id="{5862C579-E11E-5929-F5B3-BE9822CD1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A3750A8C-EC7A-B01C-7B7E-6B42DDEF0604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8470498-9425-162D-78F1-96C692ABF4B7}"/>
              </a:ext>
            </a:extLst>
          </p:cNvPr>
          <p:cNvSpPr txBox="1"/>
          <p:nvPr/>
        </p:nvSpPr>
        <p:spPr>
          <a:xfrm>
            <a:off x="2278505" y="652072"/>
            <a:ext cx="5338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6: Executive Summary and Recommendations</a:t>
            </a:r>
          </a:p>
        </p:txBody>
      </p:sp>
      <p:pic>
        <p:nvPicPr>
          <p:cNvPr id="9" name="Google Shape;180;p22" title="proAr.png">
            <a:extLst>
              <a:ext uri="{FF2B5EF4-FFF2-40B4-BE49-F238E27FC236}">
                <a16:creationId xmlns:a16="http://schemas.microsoft.com/office/drawing/2014/main" id="{78C66217-5410-F8D6-DEC2-C30DDE4B92E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30;p66" title="MCAR.png">
            <a:extLst>
              <a:ext uri="{FF2B5EF4-FFF2-40B4-BE49-F238E27FC236}">
                <a16:creationId xmlns:a16="http://schemas.microsoft.com/office/drawing/2014/main" id="{ADEAACF9-ED2C-0D2D-06BE-ABF799C0DB6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6D9E24-7C68-2D7C-91B4-5F36D1A8B750}"/>
              </a:ext>
            </a:extLst>
          </p:cNvPr>
          <p:cNvSpPr txBox="1"/>
          <p:nvPr/>
        </p:nvSpPr>
        <p:spPr>
          <a:xfrm>
            <a:off x="1638946" y="1219049"/>
            <a:ext cx="7505054" cy="185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508000" indent="-6350">
              <a:lnSpc>
                <a:spcPct val="105000"/>
              </a:lnSpc>
              <a:spcAft>
                <a:spcPts val="25"/>
              </a:spcAft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B. Infrastructure &amp; System Investments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50800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Weather-Resilient Infrastructure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Prioritize NW corridors (Manchester/Liverpool)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Install real-time weather monitoring</a:t>
            </a:r>
          </a:p>
          <a:p>
            <a:pPr marL="342900" marR="50800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Signal System Modernization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Upgrade for reliability, especially on Liverpool-Manchester-London Euston-Birmingham corridors.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Focus on morning rush hour performance</a:t>
            </a:r>
          </a:p>
          <a:p>
            <a:pPr marL="342900" marR="50800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Proactive Maintenance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Adopt predictive maintenance schedules across all routes</a:t>
            </a:r>
          </a:p>
          <a:p>
            <a:pPr marL="742950" marR="50800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Prioritize high-failure locations like Liverpool–London Euston.</a:t>
            </a:r>
          </a:p>
        </p:txBody>
      </p:sp>
    </p:spTree>
    <p:extLst>
      <p:ext uri="{BB962C8B-B14F-4D97-AF65-F5344CB8AC3E}">
        <p14:creationId xmlns:p14="http://schemas.microsoft.com/office/powerpoint/2010/main" val="38361478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FD5B-FD9A-7685-A39B-FD7C4F93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26469E8-DB79-9AF1-8FAF-3747F5476C6D}"/>
              </a:ext>
            </a:extLst>
          </p:cNvPr>
          <p:cNvGrpSpPr/>
          <p:nvPr/>
        </p:nvGrpSpPr>
        <p:grpSpPr>
          <a:xfrm>
            <a:off x="0" y="0"/>
            <a:ext cx="1673352" cy="5143500"/>
            <a:chOff x="9150140" y="0"/>
            <a:chExt cx="1986256" cy="51435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C4AEDE-0881-35A0-9532-3C8E01FE61CE}"/>
                </a:ext>
              </a:extLst>
            </p:cNvPr>
            <p:cNvSpPr/>
            <p:nvPr/>
          </p:nvSpPr>
          <p:spPr>
            <a:xfrm>
              <a:off x="9150140" y="0"/>
              <a:ext cx="1828800" cy="5143500"/>
            </a:xfrm>
            <a:prstGeom prst="rect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Recommendations and Conclusion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6A51646-BC91-4B92-1B8F-F23D6A4C6D5D}"/>
                </a:ext>
              </a:extLst>
            </p:cNvPr>
            <p:cNvSpPr txBox="1"/>
            <p:nvPr/>
          </p:nvSpPr>
          <p:spPr>
            <a:xfrm>
              <a:off x="9559447" y="470271"/>
              <a:ext cx="987582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</a:p>
          </p:txBody>
        </p:sp>
        <p:pic>
          <p:nvPicPr>
            <p:cNvPr id="6" name="Graphic 5" descr="Puzzle pieces with solid fill">
              <a:extLst>
                <a:ext uri="{FF2B5EF4-FFF2-40B4-BE49-F238E27FC236}">
                  <a16:creationId xmlns:a16="http://schemas.microsoft.com/office/drawing/2014/main" id="{275E07A4-B07A-77C6-D46A-0B98A8063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01200" y="3235427"/>
              <a:ext cx="914400" cy="914400"/>
            </a:xfrm>
            <a:prstGeom prst="rect">
              <a:avLst/>
            </a:prstGeom>
          </p:spPr>
        </p:pic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C49FE06D-AD37-D92B-CEB1-1C360A1F4B7B}"/>
                </a:ext>
              </a:extLst>
            </p:cNvPr>
            <p:cNvSpPr/>
            <p:nvPr/>
          </p:nvSpPr>
          <p:spPr>
            <a:xfrm rot="5400000">
              <a:off x="10767686" y="383624"/>
              <a:ext cx="564128" cy="173293"/>
            </a:xfrm>
            <a:prstGeom prst="triangle">
              <a:avLst/>
            </a:prstGeom>
            <a:solidFill>
              <a:srgbClr val="FF4F4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80E00B5-8CE1-CF6C-D615-E00AB5E5B136}"/>
              </a:ext>
            </a:extLst>
          </p:cNvPr>
          <p:cNvSpPr txBox="1"/>
          <p:nvPr/>
        </p:nvSpPr>
        <p:spPr>
          <a:xfrm>
            <a:off x="2278505" y="652072"/>
            <a:ext cx="5338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Chapter 6: Executive Summary and Recommendations</a:t>
            </a:r>
          </a:p>
        </p:txBody>
      </p:sp>
      <p:pic>
        <p:nvPicPr>
          <p:cNvPr id="9" name="Google Shape;180;p22" title="proAr.png">
            <a:extLst>
              <a:ext uri="{FF2B5EF4-FFF2-40B4-BE49-F238E27FC236}">
                <a16:creationId xmlns:a16="http://schemas.microsoft.com/office/drawing/2014/main" id="{D3BC8C6A-83D4-0AB9-EEB6-B123E704F35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039" y="4344999"/>
            <a:ext cx="785675" cy="72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30;p66" title="MCAR.png">
            <a:extLst>
              <a:ext uri="{FF2B5EF4-FFF2-40B4-BE49-F238E27FC236}">
                <a16:creationId xmlns:a16="http://schemas.microsoft.com/office/drawing/2014/main" id="{C2937E6A-D5CA-0F33-7690-7B4BB064F7C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5250" y="76200"/>
            <a:ext cx="1451600" cy="69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801071-2570-E7E9-5CB2-ABB6C0D461C2}"/>
              </a:ext>
            </a:extLst>
          </p:cNvPr>
          <p:cNvSpPr txBox="1"/>
          <p:nvPr/>
        </p:nvSpPr>
        <p:spPr>
          <a:xfrm>
            <a:off x="1638946" y="959849"/>
            <a:ext cx="7505054" cy="2924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0" marR="0" indent="-6350">
              <a:lnSpc>
                <a:spcPct val="107000"/>
              </a:lnSpc>
              <a:spcAft>
                <a:spcPts val="1055"/>
              </a:spcAft>
              <a:buNone/>
            </a:pPr>
            <a:r>
              <a:rPr lang="en-US" sz="13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III. Revenue Optimization &amp; Customer Experience</a:t>
            </a:r>
          </a:p>
          <a:p>
            <a:pPr marL="6350" marR="0" indent="-6350">
              <a:lnSpc>
                <a:spcPct val="105000"/>
              </a:lnSpc>
              <a:spcAft>
                <a:spcPts val="25"/>
              </a:spcAft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A. Discount and Ticketing Strategy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Advance Ticket Discounts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Reduce blanket 50% discount to </a:t>
            </a: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dynamic model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(e.g., Early 45%, Standard 40%, Last-Minute 35%)</a:t>
            </a: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Restrict discount stacking (e.g., Advance + 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= &gt;50% losses)</a:t>
            </a: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Railcards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Re-evaluate 33% blanket discount, especially for Adult 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railcards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Implement tiered </a:t>
            </a:r>
            <a:r>
              <a:rPr lang="en-US" sz="1100" kern="1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railcard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rewards based on loyalty or volume</a:t>
            </a: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Peak Pricing</a:t>
            </a: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Introduce dynamic pricing during high-demand windows (6–8 AM, 4–6 PM)</a:t>
            </a:r>
          </a:p>
          <a:p>
            <a:pPr marL="742950" marR="0" lvl="1" indent="-285750">
              <a:lnSpc>
                <a:spcPct val="105000"/>
              </a:lnSpc>
              <a:spcAft>
                <a:spcPts val="25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Upsell “Anytime/No card” segment with zero loss potential</a:t>
            </a:r>
          </a:p>
          <a:p>
            <a:pPr marL="6350" marR="0" indent="-6350">
              <a:lnSpc>
                <a:spcPct val="105000"/>
              </a:lnSpc>
              <a:spcAft>
                <a:spcPts val="25"/>
              </a:spcAft>
              <a:buNone/>
            </a:pPr>
            <a:r>
              <a:rPr lang="en-US" sz="11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B. Capacity and Revenue Management</a:t>
            </a:r>
            <a:endParaRPr lang="en-US" sz="11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Increase train capacity on high-revenue routes (e.g., London–York)</a:t>
            </a: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Investigate low-revenue anomalies (e.g., Birmingham–Wolverhampton)</a:t>
            </a:r>
          </a:p>
          <a:p>
            <a:pPr marL="342900" marR="0" lvl="0" indent="-342900">
              <a:lnSpc>
                <a:spcPct val="105000"/>
              </a:lnSpc>
              <a:spcAft>
                <a:spcPts val="2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Run promotions on moderately underperforming routes (e.g., York–Leeds, Manchester–Warrington)</a:t>
            </a:r>
          </a:p>
        </p:txBody>
      </p:sp>
    </p:spTree>
    <p:extLst>
      <p:ext uri="{BB962C8B-B14F-4D97-AF65-F5344CB8AC3E}">
        <p14:creationId xmlns:p14="http://schemas.microsoft.com/office/powerpoint/2010/main" val="259408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5246-A44D-747D-BE0F-D9BD9B72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80;p22" title="proAr.png">
            <a:extLst>
              <a:ext uri="{FF2B5EF4-FFF2-40B4-BE49-F238E27FC236}">
                <a16:creationId xmlns:a16="http://schemas.microsoft.com/office/drawing/2014/main" id="{9C5F3CCA-F006-B902-E952-08FA943E0A4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5996" y="1133448"/>
            <a:ext cx="1385155" cy="1273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30;p66" title="MCAR.png">
            <a:extLst>
              <a:ext uri="{FF2B5EF4-FFF2-40B4-BE49-F238E27FC236}">
                <a16:creationId xmlns:a16="http://schemas.microsoft.com/office/drawing/2014/main" id="{27F881C3-CAC5-49CE-DDB4-842229D647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2576" y="1159198"/>
            <a:ext cx="2668478" cy="12804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181C3F85-DA81-8141-8571-FA1E25401705}"/>
              </a:ext>
            </a:extLst>
          </p:cNvPr>
          <p:cNvSpPr txBox="1"/>
          <p:nvPr/>
        </p:nvSpPr>
        <p:spPr>
          <a:xfrm>
            <a:off x="2746370" y="2461566"/>
            <a:ext cx="38520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We would like to express our sincere gratitude to the Ministry of Communications and Information Technology “</a:t>
            </a:r>
            <a:r>
              <a:rPr lang="en" sz="1100" b="1" dirty="0">
                <a:solidFill>
                  <a:srgbClr val="FF0000"/>
                </a:solidFill>
              </a:rPr>
              <a:t>MCIT</a:t>
            </a:r>
            <a:r>
              <a:rPr lang="en" sz="1100" b="1" dirty="0">
                <a:solidFill>
                  <a:schemeClr val="dk1"/>
                </a:solidFill>
              </a:rPr>
              <a:t>” for their continuous support and efforts.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2" name="Google Shape;62;p13">
            <a:extLst>
              <a:ext uri="{FF2B5EF4-FFF2-40B4-BE49-F238E27FC236}">
                <a16:creationId xmlns:a16="http://schemas.microsoft.com/office/drawing/2014/main" id="{799BC622-F2F8-27EB-9E2C-4369C8A41043}"/>
              </a:ext>
            </a:extLst>
          </p:cNvPr>
          <p:cNvSpPr txBox="1"/>
          <p:nvPr/>
        </p:nvSpPr>
        <p:spPr>
          <a:xfrm>
            <a:off x="3332576" y="4148426"/>
            <a:ext cx="3000000" cy="68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Special Thanks to Eng. Ahmed Samir</a:t>
            </a:r>
            <a:endParaRPr sz="1100" b="1" dirty="0">
              <a:solidFill>
                <a:schemeClr val="dk1"/>
              </a:solidFill>
            </a:endParaRPr>
          </a:p>
        </p:txBody>
      </p:sp>
      <p:sp>
        <p:nvSpPr>
          <p:cNvPr id="13" name="Google Shape;62;p13">
            <a:extLst>
              <a:ext uri="{FF2B5EF4-FFF2-40B4-BE49-F238E27FC236}">
                <a16:creationId xmlns:a16="http://schemas.microsoft.com/office/drawing/2014/main" id="{6F777B77-FC75-AF3B-6C83-945993EB7B07}"/>
              </a:ext>
            </a:extLst>
          </p:cNvPr>
          <p:cNvSpPr txBox="1"/>
          <p:nvPr/>
        </p:nvSpPr>
        <p:spPr>
          <a:xfrm>
            <a:off x="3109332" y="3266676"/>
            <a:ext cx="3000000" cy="8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b="1" dirty="0">
                <a:solidFill>
                  <a:schemeClr val="dk1"/>
                </a:solidFill>
              </a:rPr>
              <a:t>And our Deepest gratitude to the </a:t>
            </a:r>
            <a:r>
              <a:rPr lang="en" sz="1100" b="1" dirty="0">
                <a:solidFill>
                  <a:srgbClr val="FF0000"/>
                </a:solidFill>
              </a:rPr>
              <a:t>ILearn </a:t>
            </a:r>
            <a:r>
              <a:rPr lang="en" sz="1100" b="1" dirty="0">
                <a:solidFill>
                  <a:schemeClr val="dk1"/>
                </a:solidFill>
              </a:rPr>
              <a:t>Training Company</a:t>
            </a:r>
            <a:endParaRPr sz="11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28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alking on a platform with a suitcase&#10;&#10;AI-generated content may be incorrect.">
            <a:extLst>
              <a:ext uri="{FF2B5EF4-FFF2-40B4-BE49-F238E27FC236}">
                <a16:creationId xmlns:a16="http://schemas.microsoft.com/office/drawing/2014/main" id="{557E8B35-7E88-FBFF-7CAC-9974C27D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pic>
        <p:nvPicPr>
          <p:cNvPr id="10" name="Picture 9" descr="A person walking on a platform with a suitcase&#10;&#10;AI-generated content may be incorrect.">
            <a:extLst>
              <a:ext uri="{FF2B5EF4-FFF2-40B4-BE49-F238E27FC236}">
                <a16:creationId xmlns:a16="http://schemas.microsoft.com/office/drawing/2014/main" id="{064509E7-D652-3724-E6CA-EFA218B29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F3D703-5A7B-ECF8-0C67-8E366F5F3F01}"/>
              </a:ext>
            </a:extLst>
          </p:cNvPr>
          <p:cNvSpPr/>
          <p:nvPr/>
        </p:nvSpPr>
        <p:spPr>
          <a:xfrm>
            <a:off x="509953" y="-158262"/>
            <a:ext cx="8124092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latin typeface="Walbaum Display Heavy" panose="02070A03090703020303" pitchFamily="18" charset="0"/>
              </a:rPr>
              <a:t>Thanks for the Attention</a:t>
            </a:r>
          </a:p>
        </p:txBody>
      </p:sp>
    </p:spTree>
    <p:extLst>
      <p:ext uri="{BB962C8B-B14F-4D97-AF65-F5344CB8AC3E}">
        <p14:creationId xmlns:p14="http://schemas.microsoft.com/office/powerpoint/2010/main" val="313320298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9488</TotalTime>
  <Words>7748</Words>
  <Application>Microsoft Office PowerPoint</Application>
  <PresentationFormat>On-screen Show (16:9)</PresentationFormat>
  <Paragraphs>1267</Paragraphs>
  <Slides>87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8" baseType="lpstr">
      <vt:lpstr>Wingdings</vt:lpstr>
      <vt:lpstr>Symbol</vt:lpstr>
      <vt:lpstr>Arial</vt:lpstr>
      <vt:lpstr>Walbaum Display Heavy</vt:lpstr>
      <vt:lpstr>Times New Roman</vt:lpstr>
      <vt:lpstr>Roboto Mono</vt:lpstr>
      <vt:lpstr>Calibri</vt:lpstr>
      <vt:lpstr>Stencil</vt:lpstr>
      <vt:lpstr>Courier New</vt:lpstr>
      <vt:lpstr>Aptos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 Elmaasarawi</cp:lastModifiedBy>
  <cp:revision>111</cp:revision>
  <dcterms:modified xsi:type="dcterms:W3CDTF">2025-04-29T13:53:54Z</dcterms:modified>
</cp:coreProperties>
</file>